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328" r:id="rId5"/>
    <p:sldId id="329" r:id="rId6"/>
    <p:sldId id="330" r:id="rId7"/>
    <p:sldId id="331" r:id="rId8"/>
    <p:sldId id="332" r:id="rId9"/>
    <p:sldId id="333" r:id="rId10"/>
    <p:sldId id="334" r:id="rId11"/>
    <p:sldId id="335" r:id="rId12"/>
    <p:sldId id="336" r:id="rId13"/>
    <p:sldId id="337" r:id="rId14"/>
    <p:sldId id="338" r:id="rId15"/>
    <p:sldId id="339" r:id="rId16"/>
    <p:sldId id="340" r:id="rId17"/>
    <p:sldId id="341" r:id="rId18"/>
    <p:sldId id="342" r:id="rId19"/>
    <p:sldId id="343" r:id="rId20"/>
    <p:sldId id="344" r:id="rId21"/>
    <p:sldId id="345" r:id="rId22"/>
    <p:sldId id="346" r:id="rId23"/>
    <p:sldId id="347" r:id="rId24"/>
    <p:sldId id="423" r:id="rId25"/>
    <p:sldId id="348" r:id="rId26"/>
    <p:sldId id="349" r:id="rId27"/>
    <p:sldId id="351" r:id="rId28"/>
    <p:sldId id="352" r:id="rId29"/>
    <p:sldId id="353" r:id="rId30"/>
    <p:sldId id="354" r:id="rId31"/>
    <p:sldId id="355" r:id="rId32"/>
    <p:sldId id="356" r:id="rId33"/>
    <p:sldId id="357" r:id="rId34"/>
    <p:sldId id="358" r:id="rId35"/>
    <p:sldId id="359" r:id="rId36"/>
    <p:sldId id="360" r:id="rId37"/>
    <p:sldId id="361" r:id="rId38"/>
    <p:sldId id="362" r:id="rId39"/>
    <p:sldId id="363" r:id="rId40"/>
    <p:sldId id="364" r:id="rId41"/>
    <p:sldId id="365" r:id="rId42"/>
    <p:sldId id="366" r:id="rId43"/>
    <p:sldId id="367" r:id="rId44"/>
    <p:sldId id="368" r:id="rId45"/>
    <p:sldId id="369" r:id="rId46"/>
    <p:sldId id="370" r:id="rId47"/>
    <p:sldId id="371" r:id="rId48"/>
    <p:sldId id="372" r:id="rId49"/>
    <p:sldId id="418" r:id="rId50"/>
    <p:sldId id="373" r:id="rId51"/>
    <p:sldId id="422" r:id="rId52"/>
    <p:sldId id="375" r:id="rId53"/>
    <p:sldId id="376" r:id="rId54"/>
    <p:sldId id="377" r:id="rId55"/>
    <p:sldId id="378" r:id="rId56"/>
    <p:sldId id="420" r:id="rId57"/>
    <p:sldId id="380" r:id="rId58"/>
    <p:sldId id="379" r:id="rId59"/>
    <p:sldId id="381" r:id="rId60"/>
    <p:sldId id="382" r:id="rId61"/>
    <p:sldId id="383" r:id="rId62"/>
    <p:sldId id="384" r:id="rId63"/>
    <p:sldId id="386" r:id="rId64"/>
    <p:sldId id="387" r:id="rId65"/>
    <p:sldId id="388" r:id="rId66"/>
    <p:sldId id="389" r:id="rId67"/>
    <p:sldId id="390" r:id="rId68"/>
    <p:sldId id="398" r:id="rId69"/>
    <p:sldId id="391" r:id="rId70"/>
    <p:sldId id="399" r:id="rId71"/>
    <p:sldId id="392" r:id="rId72"/>
    <p:sldId id="400" r:id="rId73"/>
    <p:sldId id="393" r:id="rId74"/>
    <p:sldId id="401" r:id="rId75"/>
    <p:sldId id="394" r:id="rId76"/>
    <p:sldId id="402" r:id="rId77"/>
    <p:sldId id="395" r:id="rId78"/>
    <p:sldId id="397" r:id="rId79"/>
    <p:sldId id="396" r:id="rId80"/>
    <p:sldId id="403" r:id="rId81"/>
    <p:sldId id="404" r:id="rId82"/>
    <p:sldId id="405" r:id="rId83"/>
    <p:sldId id="408" r:id="rId84"/>
    <p:sldId id="409" r:id="rId85"/>
    <p:sldId id="410" r:id="rId86"/>
    <p:sldId id="411" r:id="rId87"/>
    <p:sldId id="412" r:id="rId88"/>
    <p:sldId id="413" r:id="rId8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B297F7FF-9B46-40A8-BCD0-F39AC5303104}" type="datetimeFigureOut">
              <a:rPr lang="en-IN" smtClean="0"/>
              <a:t>14-03-2024</a:t>
            </a:fld>
            <a:endParaRPr lang="en-IN"/>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IN"/>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969FD7AC-93AD-493E-8E93-ED2F092865FC}" type="slidenum">
              <a:rPr lang="en-IN" smtClean="0"/>
              <a:t>‹#›</a:t>
            </a:fld>
            <a:endParaRPr lang="en-IN"/>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91722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297F7FF-9B46-40A8-BCD0-F39AC5303104}"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2423895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B297F7FF-9B46-40A8-BCD0-F39AC5303104}" type="datetimeFigureOut">
              <a:rPr lang="en-IN" smtClean="0"/>
              <a:t>14-03-2024</a:t>
            </a:fld>
            <a:endParaRPr lang="en-IN"/>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969FD7AC-93AD-493E-8E93-ED2F092865FC}" type="slidenum">
              <a:rPr lang="en-IN" smtClean="0"/>
              <a:t>‹#›</a:t>
            </a:fld>
            <a:endParaRPr lang="en-IN"/>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51333675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297F7FF-9B46-40A8-BCD0-F39AC5303104}"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2221971413"/>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297F7FF-9B46-40A8-BCD0-F39AC5303104}" type="datetimeFigureOut">
              <a:rPr lang="en-IN" smtClean="0"/>
              <a:t>14-03-2024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3625163204"/>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297F7FF-9B46-40A8-BCD0-F39AC5303104}" type="datetimeFigureOut">
              <a:rPr lang="en-IN" smtClean="0"/>
              <a:t>14-03-2024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268589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97F7FF-9B46-40A8-BCD0-F39AC5303104}" type="datetimeFigureOut">
              <a:rPr lang="en-IN" smtClean="0"/>
              <a:t>14-03-2024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618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051" y="6375679"/>
            <a:ext cx="1233355" cy="348462"/>
          </a:xfrm>
        </p:spPr>
        <p:txBody>
          <a:bodyPr/>
          <a:lstStyle/>
          <a:p>
            <a:fld id="{B297F7FF-9B46-40A8-BCD0-F39AC5303104}" type="datetimeFigureOut">
              <a:rPr lang="en-IN" smtClean="0"/>
              <a:t>14-03-2024</a:t>
            </a:fld>
            <a:endParaRPr lang="en-IN"/>
          </a:p>
        </p:txBody>
      </p:sp>
      <p:sp>
        <p:nvSpPr>
          <p:cNvPr id="6" name="Footer Placeholder 5"/>
          <p:cNvSpPr>
            <a:spLocks noGrp="1"/>
          </p:cNvSpPr>
          <p:nvPr>
            <p:ph type="ftr" sz="quarter" idx="11"/>
          </p:nvPr>
        </p:nvSpPr>
        <p:spPr>
          <a:xfrm>
            <a:off x="2103620" y="6375679"/>
            <a:ext cx="3482179" cy="345796"/>
          </a:xfrm>
        </p:spPr>
        <p:txBody>
          <a:bodyPr/>
          <a:lstStyle/>
          <a:p>
            <a:endParaRPr lang="en-IN"/>
          </a:p>
        </p:txBody>
      </p:sp>
      <p:sp>
        <p:nvSpPr>
          <p:cNvPr id="7" name="Slide Number Placeholder 6"/>
          <p:cNvSpPr>
            <a:spLocks noGrp="1"/>
          </p:cNvSpPr>
          <p:nvPr>
            <p:ph type="sldNum" sz="quarter" idx="12"/>
          </p:nvPr>
        </p:nvSpPr>
        <p:spPr>
          <a:xfrm>
            <a:off x="5691014" y="6375679"/>
            <a:ext cx="1232456" cy="345796"/>
          </a:xfrm>
        </p:spPr>
        <p:txBody>
          <a:bodyPr/>
          <a:lstStyle/>
          <a:p>
            <a:fld id="{969FD7AC-93AD-493E-8E93-ED2F092865FC}" type="slidenum">
              <a:rPr lang="en-IN" smtClean="0"/>
              <a:t>‹#›</a:t>
            </a:fld>
            <a:endParaRPr lang="en-IN"/>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60785155"/>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950" y="6375679"/>
            <a:ext cx="1232456" cy="348462"/>
          </a:xfrm>
        </p:spPr>
        <p:txBody>
          <a:bodyPr/>
          <a:lstStyle/>
          <a:p>
            <a:fld id="{B297F7FF-9B46-40A8-BCD0-F39AC5303104}" type="datetimeFigureOut">
              <a:rPr lang="en-IN" smtClean="0"/>
              <a:t>14-03-2024</a:t>
            </a:fld>
            <a:endParaRPr lang="en-IN"/>
          </a:p>
        </p:txBody>
      </p:sp>
      <p:sp>
        <p:nvSpPr>
          <p:cNvPr id="6" name="Footer Placeholder 5"/>
          <p:cNvSpPr>
            <a:spLocks noGrp="1"/>
          </p:cNvSpPr>
          <p:nvPr>
            <p:ph type="ftr" sz="quarter" idx="11"/>
          </p:nvPr>
        </p:nvSpPr>
        <p:spPr>
          <a:xfrm>
            <a:off x="2103621" y="6375679"/>
            <a:ext cx="3482178" cy="345796"/>
          </a:xfrm>
        </p:spPr>
        <p:txBody>
          <a:bodyPr/>
          <a:lstStyle/>
          <a:p>
            <a:endParaRPr lang="en-IN"/>
          </a:p>
        </p:txBody>
      </p:sp>
      <p:sp>
        <p:nvSpPr>
          <p:cNvPr id="7" name="Slide Number Placeholder 6"/>
          <p:cNvSpPr>
            <a:spLocks noGrp="1"/>
          </p:cNvSpPr>
          <p:nvPr>
            <p:ph type="sldNum" sz="quarter" idx="12"/>
          </p:nvPr>
        </p:nvSpPr>
        <p:spPr>
          <a:xfrm>
            <a:off x="5687568" y="6375679"/>
            <a:ext cx="1234440" cy="345796"/>
          </a:xfrm>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1469872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297F7FF-9B46-40A8-BCD0-F39AC5303104}"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1120075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297F7FF-9B46-40A8-BCD0-F39AC5303104}"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9FD7AC-93AD-493E-8E93-ED2F092865FC}" type="slidenum">
              <a:rPr lang="en-IN" smtClean="0"/>
              <a:t>‹#›</a:t>
            </a:fld>
            <a:endParaRPr lang="en-IN"/>
          </a:p>
        </p:txBody>
      </p:sp>
    </p:spTree>
    <p:extLst>
      <p:ext uri="{BB962C8B-B14F-4D97-AF65-F5344CB8AC3E}">
        <p14:creationId xmlns:p14="http://schemas.microsoft.com/office/powerpoint/2010/main" val="344382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B297F7FF-9B46-40A8-BCD0-F39AC5303104}" type="datetimeFigureOut">
              <a:rPr lang="en-IN" smtClean="0"/>
              <a:t>14-03-2024</a:t>
            </a:fld>
            <a:endParaRPr lang="en-IN"/>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IN"/>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969FD7AC-93AD-493E-8E93-ED2F092865FC}" type="slidenum">
              <a:rPr lang="en-IN" smtClean="0"/>
              <a:t>‹#›</a:t>
            </a:fld>
            <a:endParaRPr lang="en-IN"/>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81103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INDIAN TRADITIONS, </a:t>
            </a:r>
            <a:r>
              <a:rPr lang="en-IN" dirty="0" err="1" smtClean="0"/>
              <a:t>CULTURe</a:t>
            </a:r>
            <a:r>
              <a:rPr lang="en-IN" dirty="0" smtClean="0"/>
              <a:t>, &amp; SOCIETY</a:t>
            </a:r>
            <a:endParaRPr lang="en-IN" dirty="0"/>
          </a:p>
        </p:txBody>
      </p:sp>
      <p:sp>
        <p:nvSpPr>
          <p:cNvPr id="3" name="Subtitle 2"/>
          <p:cNvSpPr>
            <a:spLocks noGrp="1"/>
          </p:cNvSpPr>
          <p:nvPr>
            <p:ph type="subTitle" idx="1"/>
          </p:nvPr>
        </p:nvSpPr>
        <p:spPr/>
        <p:txBody>
          <a:bodyPr/>
          <a:lstStyle/>
          <a:p>
            <a:r>
              <a:rPr lang="en-IN" dirty="0" smtClean="0"/>
              <a:t>G L B</a:t>
            </a:r>
            <a:endParaRPr lang="en-IN" dirty="0"/>
          </a:p>
        </p:txBody>
      </p:sp>
    </p:spTree>
    <p:extLst>
      <p:ext uri="{BB962C8B-B14F-4D97-AF65-F5344CB8AC3E}">
        <p14:creationId xmlns:p14="http://schemas.microsoft.com/office/powerpoint/2010/main" val="1951483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IN" dirty="0" smtClean="0"/>
              <a:t>OUTLINES</a:t>
            </a:r>
            <a:endParaRPr lang="en-IN" dirty="0"/>
          </a:p>
        </p:txBody>
      </p:sp>
      <p:sp>
        <p:nvSpPr>
          <p:cNvPr id="4" name="Content Placeholder 3"/>
          <p:cNvSpPr>
            <a:spLocks noGrp="1"/>
          </p:cNvSpPr>
          <p:nvPr>
            <p:ph idx="1"/>
          </p:nvPr>
        </p:nvSpPr>
        <p:spPr>
          <a:xfrm>
            <a:off x="1251678" y="1450258"/>
            <a:ext cx="10178322" cy="5132438"/>
          </a:xfrm>
        </p:spPr>
        <p:txBody>
          <a:bodyPr>
            <a:noAutofit/>
          </a:bodyPr>
          <a:lstStyle/>
          <a:p>
            <a:pPr algn="just"/>
            <a:r>
              <a:rPr lang="en-IN" sz="2800" b="1" dirty="0">
                <a:solidFill>
                  <a:schemeClr val="tx1"/>
                </a:solidFill>
              </a:rPr>
              <a:t>Module </a:t>
            </a:r>
            <a:r>
              <a:rPr lang="en-IN" sz="2800" b="1" dirty="0" smtClean="0">
                <a:solidFill>
                  <a:schemeClr val="tx1"/>
                </a:solidFill>
              </a:rPr>
              <a:t>1-</a:t>
            </a:r>
            <a:r>
              <a:rPr lang="en-IN" sz="2800" dirty="0">
                <a:solidFill>
                  <a:schemeClr val="tx1"/>
                </a:solidFill>
              </a:rPr>
              <a:t> </a:t>
            </a:r>
            <a:r>
              <a:rPr lang="en-IN" sz="2800" b="1" dirty="0">
                <a:solidFill>
                  <a:schemeClr val="tx1"/>
                </a:solidFill>
              </a:rPr>
              <a:t>Society State and Polity in </a:t>
            </a:r>
            <a:r>
              <a:rPr lang="en-IN" sz="2800" b="1" dirty="0" smtClean="0">
                <a:solidFill>
                  <a:schemeClr val="tx1"/>
                </a:solidFill>
              </a:rPr>
              <a:t>India.</a:t>
            </a:r>
          </a:p>
          <a:p>
            <a:pPr marL="457200" lvl="1" indent="0" algn="just">
              <a:buNone/>
            </a:pPr>
            <a:r>
              <a:rPr lang="en-IN" sz="2600" dirty="0">
                <a:solidFill>
                  <a:schemeClr val="tx1"/>
                </a:solidFill>
              </a:rPr>
              <a:t>State in Ancient India: Evolutionary Theory, Force Theory, Mystical Theory Contract Theory, Stages of State Formation in Ancient India, Kingship , Council of Ministers Administration Political Ideals in Ancient India Conditions’ of the Welfare of Societies, The Seven Limbs of the State, Society in Ancient India, </a:t>
            </a:r>
            <a:r>
              <a:rPr lang="en-IN" sz="2600" dirty="0" smtClean="0">
                <a:solidFill>
                  <a:schemeClr val="tx1"/>
                </a:solidFill>
              </a:rPr>
              <a:t> </a:t>
            </a:r>
            <a:r>
              <a:rPr lang="en-IN" sz="2600" dirty="0" err="1" smtClean="0">
                <a:solidFill>
                  <a:schemeClr val="tx1"/>
                </a:solidFill>
              </a:rPr>
              <a:t>Purusārtha</a:t>
            </a:r>
            <a:r>
              <a:rPr lang="en-IN" sz="2600" dirty="0">
                <a:solidFill>
                  <a:schemeClr val="tx1"/>
                </a:solidFill>
              </a:rPr>
              <a:t>, </a:t>
            </a:r>
            <a:r>
              <a:rPr lang="en-IN" sz="2600" dirty="0" smtClean="0">
                <a:solidFill>
                  <a:schemeClr val="tx1"/>
                </a:solidFill>
              </a:rPr>
              <a:t>  </a:t>
            </a:r>
            <a:r>
              <a:rPr lang="en-IN" sz="2600" dirty="0" err="1" smtClean="0">
                <a:solidFill>
                  <a:schemeClr val="tx1"/>
                </a:solidFill>
              </a:rPr>
              <a:t>Varnāshrama</a:t>
            </a:r>
            <a:r>
              <a:rPr lang="en-IN" sz="2600" dirty="0" smtClean="0">
                <a:solidFill>
                  <a:schemeClr val="tx1"/>
                </a:solidFill>
              </a:rPr>
              <a:t> </a:t>
            </a:r>
            <a:r>
              <a:rPr lang="en-IN" sz="2600" dirty="0">
                <a:solidFill>
                  <a:schemeClr val="tx1"/>
                </a:solidFill>
              </a:rPr>
              <a:t>System, </a:t>
            </a:r>
            <a:r>
              <a:rPr lang="en-IN" sz="2600" dirty="0" err="1">
                <a:solidFill>
                  <a:schemeClr val="tx1"/>
                </a:solidFill>
              </a:rPr>
              <a:t>Āshrama</a:t>
            </a:r>
            <a:r>
              <a:rPr lang="en-IN" sz="2600" dirty="0">
                <a:solidFill>
                  <a:schemeClr val="tx1"/>
                </a:solidFill>
              </a:rPr>
              <a:t> or the Stages of Life, Marriage, Understanding Gender as a social category, The representation of Women in Historical traditions, Challenges faced by Women. Four-class Classification, Slavery.</a:t>
            </a:r>
            <a:endParaRPr lang="en-IN" sz="2600" b="1" dirty="0">
              <a:solidFill>
                <a:schemeClr val="tx1"/>
              </a:solidFill>
            </a:endParaRPr>
          </a:p>
        </p:txBody>
      </p:sp>
    </p:spTree>
    <p:extLst>
      <p:ext uri="{BB962C8B-B14F-4D97-AF65-F5344CB8AC3E}">
        <p14:creationId xmlns:p14="http://schemas.microsoft.com/office/powerpoint/2010/main" val="33539542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58157"/>
          </a:xfrm>
        </p:spPr>
        <p:txBody>
          <a:bodyPr>
            <a:normAutofit fontScale="90000"/>
          </a:bodyPr>
          <a:lstStyle/>
          <a:p>
            <a:r>
              <a:rPr lang="en-IN" dirty="0" smtClean="0"/>
              <a:t>STATE IN ANCIENT INDIA</a:t>
            </a:r>
            <a:endParaRPr lang="en-IN" dirty="0"/>
          </a:p>
        </p:txBody>
      </p:sp>
      <p:sp>
        <p:nvSpPr>
          <p:cNvPr id="3" name="Content Placeholder 2"/>
          <p:cNvSpPr>
            <a:spLocks noGrp="1"/>
          </p:cNvSpPr>
          <p:nvPr>
            <p:ph idx="1"/>
          </p:nvPr>
        </p:nvSpPr>
        <p:spPr>
          <a:xfrm>
            <a:off x="1251678" y="1499420"/>
            <a:ext cx="10178322" cy="4960374"/>
          </a:xfrm>
        </p:spPr>
        <p:txBody>
          <a:bodyPr>
            <a:noAutofit/>
          </a:bodyPr>
          <a:lstStyle/>
          <a:p>
            <a:r>
              <a:rPr lang="en-IN" sz="2400" dirty="0">
                <a:solidFill>
                  <a:schemeClr val="tx1"/>
                </a:solidFill>
              </a:rPr>
              <a:t>State has been the key concept in political science since the period of grand thinkers like Plato and Aristotle. To look into the origin and evolution of the state has been one of the greatest issues in Political Science. In ancient India also thinkers like </a:t>
            </a:r>
            <a:r>
              <a:rPr lang="en-IN" sz="2400" b="1" i="1" dirty="0" err="1">
                <a:solidFill>
                  <a:schemeClr val="tx1"/>
                </a:solidFill>
              </a:rPr>
              <a:t>Bhisma</a:t>
            </a:r>
            <a:r>
              <a:rPr lang="en-IN" sz="2400" b="1" i="1" dirty="0">
                <a:solidFill>
                  <a:schemeClr val="tx1"/>
                </a:solidFill>
              </a:rPr>
              <a:t>, </a:t>
            </a:r>
            <a:r>
              <a:rPr lang="en-IN" sz="2400" b="1" i="1" dirty="0" err="1">
                <a:solidFill>
                  <a:schemeClr val="tx1"/>
                </a:solidFill>
              </a:rPr>
              <a:t>Narada</a:t>
            </a:r>
            <a:r>
              <a:rPr lang="en-IN" sz="2400" b="1" i="1" dirty="0">
                <a:solidFill>
                  <a:schemeClr val="tx1"/>
                </a:solidFill>
              </a:rPr>
              <a:t>, Brihaspati, </a:t>
            </a:r>
            <a:r>
              <a:rPr lang="en-IN" sz="2400" b="1" i="1" dirty="0" err="1">
                <a:solidFill>
                  <a:schemeClr val="tx1"/>
                </a:solidFill>
              </a:rPr>
              <a:t>Kautilya</a:t>
            </a:r>
            <a:r>
              <a:rPr lang="en-IN" sz="2400" b="1" i="1" dirty="0">
                <a:solidFill>
                  <a:schemeClr val="tx1"/>
                </a:solidFill>
              </a:rPr>
              <a:t>, </a:t>
            </a:r>
            <a:r>
              <a:rPr lang="en-IN" sz="2400" b="1" i="1" dirty="0" smtClean="0">
                <a:solidFill>
                  <a:schemeClr val="tx1"/>
                </a:solidFill>
              </a:rPr>
              <a:t> </a:t>
            </a:r>
            <a:r>
              <a:rPr lang="en-IN" sz="2400" b="1" i="1" dirty="0" err="1" smtClean="0">
                <a:solidFill>
                  <a:schemeClr val="tx1"/>
                </a:solidFill>
              </a:rPr>
              <a:t>Kamandaka</a:t>
            </a:r>
            <a:r>
              <a:rPr lang="en-IN" sz="2400" b="1" i="1" dirty="0" smtClean="0">
                <a:solidFill>
                  <a:schemeClr val="tx1"/>
                </a:solidFill>
              </a:rPr>
              <a:t> </a:t>
            </a:r>
            <a:r>
              <a:rPr lang="en-IN" sz="2400" dirty="0">
                <a:solidFill>
                  <a:schemeClr val="tx1"/>
                </a:solidFill>
              </a:rPr>
              <a:t>have looked at the problem. On the basis of the writings of these thinkers we can detect four important theories regarding the origin of the state in ancient India, </a:t>
            </a:r>
            <a:r>
              <a:rPr lang="en-IN" sz="2400" dirty="0" smtClean="0">
                <a:solidFill>
                  <a:schemeClr val="tx1"/>
                </a:solidFill>
              </a:rPr>
              <a:t>namely :</a:t>
            </a:r>
          </a:p>
          <a:p>
            <a:pPr lvl="1"/>
            <a:r>
              <a:rPr lang="en-IN" sz="2400" dirty="0">
                <a:solidFill>
                  <a:schemeClr val="tx1"/>
                </a:solidFill>
              </a:rPr>
              <a:t>Evolutionary </a:t>
            </a:r>
            <a:r>
              <a:rPr lang="en-IN" sz="2400" dirty="0" smtClean="0">
                <a:solidFill>
                  <a:schemeClr val="tx1"/>
                </a:solidFill>
              </a:rPr>
              <a:t>Theory</a:t>
            </a:r>
          </a:p>
          <a:p>
            <a:pPr lvl="1"/>
            <a:r>
              <a:rPr lang="en-IN" sz="2400" dirty="0" smtClean="0">
                <a:solidFill>
                  <a:schemeClr val="tx1"/>
                </a:solidFill>
              </a:rPr>
              <a:t>Force </a:t>
            </a:r>
            <a:r>
              <a:rPr lang="en-IN" sz="2400" dirty="0">
                <a:solidFill>
                  <a:schemeClr val="tx1"/>
                </a:solidFill>
              </a:rPr>
              <a:t>Theory </a:t>
            </a:r>
            <a:endParaRPr lang="en-IN" sz="2400" dirty="0" smtClean="0">
              <a:solidFill>
                <a:schemeClr val="tx1"/>
              </a:solidFill>
            </a:endParaRPr>
          </a:p>
          <a:p>
            <a:pPr lvl="1"/>
            <a:r>
              <a:rPr lang="en-IN" sz="2400" dirty="0" smtClean="0">
                <a:solidFill>
                  <a:schemeClr val="tx1"/>
                </a:solidFill>
              </a:rPr>
              <a:t>Mystical Theory</a:t>
            </a:r>
          </a:p>
          <a:p>
            <a:pPr lvl="1"/>
            <a:r>
              <a:rPr lang="en-IN" sz="2400" dirty="0" smtClean="0">
                <a:solidFill>
                  <a:schemeClr val="tx1"/>
                </a:solidFill>
              </a:rPr>
              <a:t>Contract </a:t>
            </a:r>
            <a:r>
              <a:rPr lang="en-IN" sz="2400" dirty="0">
                <a:solidFill>
                  <a:schemeClr val="tx1"/>
                </a:solidFill>
              </a:rPr>
              <a:t>Theory</a:t>
            </a:r>
            <a:endParaRPr lang="en-IN" sz="2400" dirty="0" smtClean="0">
              <a:solidFill>
                <a:schemeClr val="tx1"/>
              </a:solidFill>
            </a:endParaRPr>
          </a:p>
        </p:txBody>
      </p:sp>
    </p:spTree>
    <p:extLst>
      <p:ext uri="{BB962C8B-B14F-4D97-AF65-F5344CB8AC3E}">
        <p14:creationId xmlns:p14="http://schemas.microsoft.com/office/powerpoint/2010/main" val="40154573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164020"/>
            <a:ext cx="10178322" cy="1269434"/>
          </a:xfrm>
        </p:spPr>
        <p:txBody>
          <a:bodyPr>
            <a:normAutofit fontScale="90000"/>
          </a:bodyPr>
          <a:lstStyle/>
          <a:p>
            <a:r>
              <a:rPr lang="en-IN" dirty="0" smtClean="0"/>
              <a:t>STATE IN ANCIENT INDIA : EVOLUTIONARY THEORY</a:t>
            </a:r>
            <a:endParaRPr lang="en-IN" dirty="0"/>
          </a:p>
        </p:txBody>
      </p:sp>
      <p:sp>
        <p:nvSpPr>
          <p:cNvPr id="3" name="Content Placeholder 2"/>
          <p:cNvSpPr>
            <a:spLocks noGrp="1"/>
          </p:cNvSpPr>
          <p:nvPr>
            <p:ph idx="1"/>
          </p:nvPr>
        </p:nvSpPr>
        <p:spPr>
          <a:xfrm>
            <a:off x="1251678" y="1433454"/>
            <a:ext cx="10178322" cy="4729317"/>
          </a:xfrm>
        </p:spPr>
        <p:txBody>
          <a:bodyPr>
            <a:noAutofit/>
          </a:bodyPr>
          <a:lstStyle/>
          <a:p>
            <a:pPr algn="just"/>
            <a:r>
              <a:rPr lang="en-IN" sz="2800" dirty="0">
                <a:solidFill>
                  <a:schemeClr val="tx1"/>
                </a:solidFill>
              </a:rPr>
              <a:t>This is the oldest theory of the origin of the state in India and has been mentioned in the </a:t>
            </a:r>
            <a:r>
              <a:rPr lang="en-IN" sz="2800" b="1" i="1" dirty="0" err="1">
                <a:solidFill>
                  <a:schemeClr val="tx1"/>
                </a:solidFill>
              </a:rPr>
              <a:t>Atharva</a:t>
            </a:r>
            <a:r>
              <a:rPr lang="en-IN" sz="2800" b="1" i="1" dirty="0">
                <a:solidFill>
                  <a:schemeClr val="tx1"/>
                </a:solidFill>
              </a:rPr>
              <a:t> Veda</a:t>
            </a:r>
            <a:r>
              <a:rPr lang="en-IN" sz="2800" dirty="0">
                <a:solidFill>
                  <a:schemeClr val="tx1"/>
                </a:solidFill>
              </a:rPr>
              <a:t>. </a:t>
            </a:r>
            <a:r>
              <a:rPr lang="en-IN" sz="2800" dirty="0" smtClean="0">
                <a:solidFill>
                  <a:schemeClr val="tx1"/>
                </a:solidFill>
              </a:rPr>
              <a:t> According </a:t>
            </a:r>
            <a:r>
              <a:rPr lang="en-IN" sz="2800" dirty="0">
                <a:solidFill>
                  <a:schemeClr val="tx1"/>
                </a:solidFill>
              </a:rPr>
              <a:t>to this theory the state is the result of evolutionary progress and it didn’t originate at a fixed time. </a:t>
            </a:r>
            <a:endParaRPr lang="en-IN" sz="2800" dirty="0" smtClean="0">
              <a:solidFill>
                <a:schemeClr val="tx1"/>
              </a:solidFill>
            </a:endParaRPr>
          </a:p>
          <a:p>
            <a:pPr algn="just"/>
            <a:r>
              <a:rPr lang="en-IN" sz="2800" dirty="0">
                <a:solidFill>
                  <a:schemeClr val="tx1"/>
                </a:solidFill>
              </a:rPr>
              <a:t>The hymns of the </a:t>
            </a:r>
            <a:r>
              <a:rPr lang="en-IN" sz="2800" b="1" i="1" dirty="0" err="1">
                <a:solidFill>
                  <a:schemeClr val="tx1"/>
                </a:solidFill>
              </a:rPr>
              <a:t>Atharva</a:t>
            </a:r>
            <a:r>
              <a:rPr lang="en-IN" sz="2800" b="1" i="1" dirty="0">
                <a:solidFill>
                  <a:schemeClr val="tx1"/>
                </a:solidFill>
              </a:rPr>
              <a:t> Veda </a:t>
            </a:r>
            <a:r>
              <a:rPr lang="en-IN" sz="2800" dirty="0">
                <a:solidFill>
                  <a:schemeClr val="tx1"/>
                </a:solidFill>
              </a:rPr>
              <a:t>state that the earliest phase of human life was the stage of </a:t>
            </a:r>
            <a:r>
              <a:rPr lang="en-IN" sz="2800" b="1" i="1" dirty="0" err="1">
                <a:solidFill>
                  <a:schemeClr val="tx1"/>
                </a:solidFill>
              </a:rPr>
              <a:t>vairājya</a:t>
            </a:r>
            <a:r>
              <a:rPr lang="en-IN" sz="2800" dirty="0">
                <a:solidFill>
                  <a:schemeClr val="tx1"/>
                </a:solidFill>
              </a:rPr>
              <a:t> or stateless state. It was a state of complete </a:t>
            </a:r>
            <a:r>
              <a:rPr lang="en-IN" sz="2800" b="1" i="1" dirty="0">
                <a:solidFill>
                  <a:schemeClr val="tx1"/>
                </a:solidFill>
              </a:rPr>
              <a:t>anarchy. </a:t>
            </a:r>
            <a:endParaRPr lang="en-IN" sz="2800" b="1" i="1" dirty="0" smtClean="0">
              <a:solidFill>
                <a:schemeClr val="tx1"/>
              </a:solidFill>
            </a:endParaRPr>
          </a:p>
          <a:p>
            <a:pPr algn="just"/>
            <a:r>
              <a:rPr lang="en-IN" sz="2800" dirty="0" smtClean="0">
                <a:solidFill>
                  <a:schemeClr val="tx1"/>
                </a:solidFill>
              </a:rPr>
              <a:t>But </a:t>
            </a:r>
            <a:r>
              <a:rPr lang="en-IN" sz="2800" dirty="0">
                <a:solidFill>
                  <a:schemeClr val="tx1"/>
                </a:solidFill>
              </a:rPr>
              <a:t>subsequently, with the emergence of agriculture, stable life became possible. To fulfil the needs of agricultural society the family emerged and the head of the family became the first wielder of authority.</a:t>
            </a:r>
            <a:endParaRPr lang="en-IN" sz="2800" dirty="0" smtClean="0">
              <a:solidFill>
                <a:schemeClr val="tx1"/>
              </a:solidFill>
            </a:endParaRPr>
          </a:p>
        </p:txBody>
      </p:sp>
    </p:spTree>
    <p:extLst>
      <p:ext uri="{BB962C8B-B14F-4D97-AF65-F5344CB8AC3E}">
        <p14:creationId xmlns:p14="http://schemas.microsoft.com/office/powerpoint/2010/main" val="35821243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EVOLUTIONARY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r>
              <a:rPr lang="en-IN" sz="3200" dirty="0">
                <a:solidFill>
                  <a:schemeClr val="tx1"/>
                </a:solidFill>
              </a:rPr>
              <a:t>Further, the need of co-operation in the different realms of society led to the emergence of </a:t>
            </a:r>
            <a:r>
              <a:rPr lang="en-IN" sz="3200" b="1" i="1" dirty="0" err="1" smtClean="0">
                <a:solidFill>
                  <a:schemeClr val="tx1"/>
                </a:solidFill>
              </a:rPr>
              <a:t>sabha</a:t>
            </a:r>
            <a:r>
              <a:rPr lang="en-IN" sz="3200" dirty="0" smtClean="0">
                <a:solidFill>
                  <a:schemeClr val="tx1"/>
                </a:solidFill>
              </a:rPr>
              <a:t> </a:t>
            </a:r>
            <a:r>
              <a:rPr lang="en-IN" sz="3200" dirty="0">
                <a:solidFill>
                  <a:schemeClr val="tx1"/>
                </a:solidFill>
              </a:rPr>
              <a:t>and </a:t>
            </a:r>
            <a:r>
              <a:rPr lang="en-IN" sz="3200" b="1" i="1" dirty="0">
                <a:solidFill>
                  <a:schemeClr val="tx1"/>
                </a:solidFill>
              </a:rPr>
              <a:t>samiti</a:t>
            </a:r>
            <a:r>
              <a:rPr lang="en-IN" sz="3200" dirty="0" smtClean="0">
                <a:solidFill>
                  <a:schemeClr val="tx1"/>
                </a:solidFill>
              </a:rPr>
              <a:t>.</a:t>
            </a:r>
          </a:p>
          <a:p>
            <a:r>
              <a:rPr lang="en-IN" sz="3200" dirty="0" smtClean="0">
                <a:solidFill>
                  <a:schemeClr val="tx1"/>
                </a:solidFill>
              </a:rPr>
              <a:t> </a:t>
            </a:r>
            <a:r>
              <a:rPr lang="en-IN" sz="3200" b="1" i="1" dirty="0" err="1" smtClean="0">
                <a:solidFill>
                  <a:schemeClr val="tx1"/>
                </a:solidFill>
              </a:rPr>
              <a:t>Sabha</a:t>
            </a:r>
            <a:r>
              <a:rPr lang="en-IN" sz="3200" dirty="0" smtClean="0">
                <a:solidFill>
                  <a:schemeClr val="tx1"/>
                </a:solidFill>
              </a:rPr>
              <a:t> </a:t>
            </a:r>
            <a:r>
              <a:rPr lang="en-IN" sz="3200" dirty="0">
                <a:solidFill>
                  <a:schemeClr val="tx1"/>
                </a:solidFill>
              </a:rPr>
              <a:t>was the organisation of elderly people and </a:t>
            </a:r>
            <a:r>
              <a:rPr lang="en-IN" sz="3200" b="1" i="1" dirty="0">
                <a:solidFill>
                  <a:schemeClr val="tx1"/>
                </a:solidFill>
              </a:rPr>
              <a:t>samiti</a:t>
            </a:r>
            <a:r>
              <a:rPr lang="en-IN" sz="3200" dirty="0">
                <a:solidFill>
                  <a:schemeClr val="tx1"/>
                </a:solidFill>
              </a:rPr>
              <a:t> was the general assembly of common </a:t>
            </a:r>
            <a:r>
              <a:rPr lang="en-IN" sz="3200" dirty="0" smtClean="0">
                <a:solidFill>
                  <a:schemeClr val="tx1"/>
                </a:solidFill>
              </a:rPr>
              <a:t>people.</a:t>
            </a:r>
          </a:p>
          <a:p>
            <a:r>
              <a:rPr lang="en-IN" sz="3200" dirty="0" smtClean="0">
                <a:solidFill>
                  <a:schemeClr val="tx1"/>
                </a:solidFill>
              </a:rPr>
              <a:t>With </a:t>
            </a:r>
            <a:r>
              <a:rPr lang="en-IN" sz="3200" dirty="0">
                <a:solidFill>
                  <a:schemeClr val="tx1"/>
                </a:solidFill>
              </a:rPr>
              <a:t>the emergence of </a:t>
            </a:r>
            <a:r>
              <a:rPr lang="en-IN" sz="3200" b="1" i="1" dirty="0" err="1" smtClean="0">
                <a:solidFill>
                  <a:schemeClr val="tx1"/>
                </a:solidFill>
              </a:rPr>
              <a:t>sabha</a:t>
            </a:r>
            <a:r>
              <a:rPr lang="en-IN" sz="3200" dirty="0" smtClean="0">
                <a:solidFill>
                  <a:schemeClr val="tx1"/>
                </a:solidFill>
              </a:rPr>
              <a:t> </a:t>
            </a:r>
            <a:r>
              <a:rPr lang="en-IN" sz="3200" dirty="0">
                <a:solidFill>
                  <a:schemeClr val="tx1"/>
                </a:solidFill>
              </a:rPr>
              <a:t>and </a:t>
            </a:r>
            <a:r>
              <a:rPr lang="en-IN" sz="3200" b="1" i="1" dirty="0">
                <a:solidFill>
                  <a:schemeClr val="tx1"/>
                </a:solidFill>
              </a:rPr>
              <a:t>samiti</a:t>
            </a:r>
            <a:r>
              <a:rPr lang="en-IN" sz="3200" dirty="0">
                <a:solidFill>
                  <a:schemeClr val="tx1"/>
                </a:solidFill>
              </a:rPr>
              <a:t> organised political life began which finally culminated in the emergence of the state.</a:t>
            </a:r>
            <a:endParaRPr lang="en-IN" sz="3200" dirty="0" smtClean="0">
              <a:solidFill>
                <a:schemeClr val="tx1"/>
              </a:solidFill>
            </a:endParaRPr>
          </a:p>
        </p:txBody>
      </p:sp>
    </p:spTree>
    <p:extLst>
      <p:ext uri="{BB962C8B-B14F-4D97-AF65-F5344CB8AC3E}">
        <p14:creationId xmlns:p14="http://schemas.microsoft.com/office/powerpoint/2010/main" val="15381878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EVOLUTIONARY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r>
              <a:rPr lang="en-IN" sz="3200" b="1" dirty="0" smtClean="0">
                <a:solidFill>
                  <a:schemeClr val="tx1"/>
                </a:solidFill>
              </a:rPr>
              <a:t>Main </a:t>
            </a:r>
            <a:r>
              <a:rPr lang="en-IN" sz="3200" b="1" dirty="0">
                <a:solidFill>
                  <a:schemeClr val="tx1"/>
                </a:solidFill>
              </a:rPr>
              <a:t>duties of the king </a:t>
            </a:r>
            <a:r>
              <a:rPr lang="en-IN" sz="3200" b="1" dirty="0" smtClean="0">
                <a:solidFill>
                  <a:schemeClr val="tx1"/>
                </a:solidFill>
              </a:rPr>
              <a:t>were :</a:t>
            </a:r>
          </a:p>
          <a:p>
            <a:pPr lvl="1"/>
            <a:r>
              <a:rPr lang="en-IN" sz="3000" dirty="0" smtClean="0">
                <a:solidFill>
                  <a:schemeClr val="tx1"/>
                </a:solidFill>
              </a:rPr>
              <a:t> Protection </a:t>
            </a:r>
            <a:r>
              <a:rPr lang="en-IN" sz="3000" dirty="0">
                <a:solidFill>
                  <a:schemeClr val="tx1"/>
                </a:solidFill>
              </a:rPr>
              <a:t>of private </a:t>
            </a:r>
            <a:r>
              <a:rPr lang="en-IN" sz="3000" dirty="0" smtClean="0">
                <a:solidFill>
                  <a:schemeClr val="tx1"/>
                </a:solidFill>
              </a:rPr>
              <a:t>property.</a:t>
            </a:r>
          </a:p>
          <a:p>
            <a:pPr lvl="1"/>
            <a:r>
              <a:rPr lang="en-IN" sz="3000" dirty="0" smtClean="0">
                <a:solidFill>
                  <a:schemeClr val="tx1"/>
                </a:solidFill>
              </a:rPr>
              <a:t> Protection </a:t>
            </a:r>
            <a:r>
              <a:rPr lang="en-IN" sz="3000" dirty="0">
                <a:solidFill>
                  <a:schemeClr val="tx1"/>
                </a:solidFill>
              </a:rPr>
              <a:t>of the </a:t>
            </a:r>
            <a:r>
              <a:rPr lang="en-IN" sz="3000" dirty="0" smtClean="0">
                <a:solidFill>
                  <a:schemeClr val="tx1"/>
                </a:solidFill>
              </a:rPr>
              <a:t>family. </a:t>
            </a:r>
          </a:p>
          <a:p>
            <a:pPr lvl="1"/>
            <a:r>
              <a:rPr lang="en-IN" sz="3000" dirty="0" smtClean="0">
                <a:solidFill>
                  <a:schemeClr val="tx1"/>
                </a:solidFill>
              </a:rPr>
              <a:t> Preservation </a:t>
            </a:r>
            <a:r>
              <a:rPr lang="en-IN" sz="3000" dirty="0">
                <a:solidFill>
                  <a:schemeClr val="tx1"/>
                </a:solidFill>
              </a:rPr>
              <a:t>of the </a:t>
            </a:r>
            <a:r>
              <a:rPr lang="en-IN" sz="3000" b="1" i="1" dirty="0" err="1" smtClean="0">
                <a:solidFill>
                  <a:schemeClr val="tx1"/>
                </a:solidFill>
              </a:rPr>
              <a:t>varna</a:t>
            </a:r>
            <a:r>
              <a:rPr lang="en-IN" sz="3000" b="1" i="1" dirty="0" smtClean="0">
                <a:solidFill>
                  <a:schemeClr val="tx1"/>
                </a:solidFill>
              </a:rPr>
              <a:t> </a:t>
            </a:r>
            <a:r>
              <a:rPr lang="en-IN" sz="3000" b="1" i="1" dirty="0" err="1" smtClean="0">
                <a:solidFill>
                  <a:schemeClr val="tx1"/>
                </a:solidFill>
              </a:rPr>
              <a:t>vyavastha</a:t>
            </a:r>
            <a:r>
              <a:rPr lang="en-IN" sz="3000" dirty="0" smtClean="0">
                <a:solidFill>
                  <a:schemeClr val="tx1"/>
                </a:solidFill>
              </a:rPr>
              <a:t> </a:t>
            </a:r>
            <a:r>
              <a:rPr lang="en-IN" sz="3000" dirty="0">
                <a:solidFill>
                  <a:schemeClr val="tx1"/>
                </a:solidFill>
              </a:rPr>
              <a:t>(caste system</a:t>
            </a:r>
            <a:r>
              <a:rPr lang="en-IN" sz="3000" dirty="0" smtClean="0">
                <a:solidFill>
                  <a:schemeClr val="tx1"/>
                </a:solidFill>
              </a:rPr>
              <a:t>).</a:t>
            </a:r>
          </a:p>
          <a:p>
            <a:pPr marL="457200" lvl="1" indent="0">
              <a:buNone/>
            </a:pPr>
            <a:endParaRPr lang="en-IN" sz="3000" dirty="0" smtClean="0">
              <a:solidFill>
                <a:schemeClr val="tx1"/>
              </a:solidFill>
            </a:endParaRPr>
          </a:p>
        </p:txBody>
      </p:sp>
    </p:spTree>
    <p:extLst>
      <p:ext uri="{BB962C8B-B14F-4D97-AF65-F5344CB8AC3E}">
        <p14:creationId xmlns:p14="http://schemas.microsoft.com/office/powerpoint/2010/main" val="37598654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EVOLUTIONARY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r>
              <a:rPr lang="en-IN" sz="3200" dirty="0">
                <a:solidFill>
                  <a:schemeClr val="tx1"/>
                </a:solidFill>
              </a:rPr>
              <a:t>The dominant </a:t>
            </a:r>
            <a:r>
              <a:rPr lang="en-IN" sz="3200" dirty="0" smtClean="0">
                <a:solidFill>
                  <a:schemeClr val="tx1"/>
                </a:solidFill>
              </a:rPr>
              <a:t>ideals of the king were the  </a:t>
            </a:r>
            <a:r>
              <a:rPr lang="en-IN" sz="3200" dirty="0">
                <a:solidFill>
                  <a:schemeClr val="tx1"/>
                </a:solidFill>
              </a:rPr>
              <a:t>attainment of </a:t>
            </a:r>
            <a:r>
              <a:rPr lang="en-IN" sz="3200" b="1" i="1" dirty="0">
                <a:solidFill>
                  <a:schemeClr val="tx1"/>
                </a:solidFill>
              </a:rPr>
              <a:t>dharma, </a:t>
            </a:r>
            <a:r>
              <a:rPr lang="en-IN" sz="3200" b="1" i="1" dirty="0" err="1" smtClean="0">
                <a:solidFill>
                  <a:schemeClr val="tx1"/>
                </a:solidFill>
              </a:rPr>
              <a:t>artha</a:t>
            </a:r>
            <a:r>
              <a:rPr lang="en-IN" sz="3200" dirty="0" smtClean="0">
                <a:solidFill>
                  <a:schemeClr val="tx1"/>
                </a:solidFill>
              </a:rPr>
              <a:t>. </a:t>
            </a:r>
          </a:p>
          <a:p>
            <a:pPr lvl="1"/>
            <a:r>
              <a:rPr lang="en-IN" sz="3000" b="1" i="1" dirty="0" err="1" smtClean="0">
                <a:solidFill>
                  <a:schemeClr val="tx1"/>
                </a:solidFill>
              </a:rPr>
              <a:t>artha</a:t>
            </a:r>
            <a:r>
              <a:rPr lang="en-IN" sz="3000" dirty="0" smtClean="0">
                <a:solidFill>
                  <a:schemeClr val="tx1"/>
                </a:solidFill>
              </a:rPr>
              <a:t> </a:t>
            </a:r>
            <a:r>
              <a:rPr lang="en-IN" sz="3000" dirty="0">
                <a:solidFill>
                  <a:schemeClr val="tx1"/>
                </a:solidFill>
              </a:rPr>
              <a:t>is taken in the sense of enjoyment of </a:t>
            </a:r>
            <a:r>
              <a:rPr lang="en-IN" sz="3000" dirty="0" smtClean="0">
                <a:solidFill>
                  <a:schemeClr val="tx1"/>
                </a:solidFill>
              </a:rPr>
              <a:t>property</a:t>
            </a:r>
            <a:r>
              <a:rPr lang="en-IN" sz="3000" dirty="0">
                <a:solidFill>
                  <a:schemeClr val="tx1"/>
                </a:solidFill>
              </a:rPr>
              <a:t>.</a:t>
            </a:r>
            <a:endParaRPr lang="en-IN" sz="3000" dirty="0" smtClean="0">
              <a:solidFill>
                <a:schemeClr val="tx1"/>
              </a:solidFill>
            </a:endParaRPr>
          </a:p>
          <a:p>
            <a:pPr lvl="1"/>
            <a:r>
              <a:rPr lang="en-IN" sz="3000" b="1" i="1" dirty="0" smtClean="0">
                <a:solidFill>
                  <a:schemeClr val="tx1"/>
                </a:solidFill>
              </a:rPr>
              <a:t>dharma</a:t>
            </a:r>
            <a:r>
              <a:rPr lang="en-IN" sz="3000" dirty="0" smtClean="0">
                <a:solidFill>
                  <a:schemeClr val="tx1"/>
                </a:solidFill>
              </a:rPr>
              <a:t> </a:t>
            </a:r>
            <a:r>
              <a:rPr lang="en-IN" sz="3000" dirty="0">
                <a:solidFill>
                  <a:schemeClr val="tx1"/>
                </a:solidFill>
              </a:rPr>
              <a:t>in the sense of maintenance of the legal </a:t>
            </a:r>
            <a:r>
              <a:rPr lang="en-IN" sz="3000" dirty="0" smtClean="0">
                <a:solidFill>
                  <a:schemeClr val="tx1"/>
                </a:solidFill>
              </a:rPr>
              <a:t>system.</a:t>
            </a:r>
            <a:endParaRPr lang="en-IN" sz="2800" dirty="0" smtClean="0">
              <a:solidFill>
                <a:schemeClr val="tx1"/>
              </a:solidFill>
            </a:endParaRPr>
          </a:p>
        </p:txBody>
      </p:sp>
    </p:spTree>
    <p:extLst>
      <p:ext uri="{BB962C8B-B14F-4D97-AF65-F5344CB8AC3E}">
        <p14:creationId xmlns:p14="http://schemas.microsoft.com/office/powerpoint/2010/main" val="40716984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FORCE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r>
              <a:rPr lang="en-IN" sz="3200" b="1" dirty="0">
                <a:solidFill>
                  <a:schemeClr val="tx1"/>
                </a:solidFill>
              </a:rPr>
              <a:t>F</a:t>
            </a:r>
            <a:r>
              <a:rPr lang="en-IN" sz="3200" b="1" dirty="0" smtClean="0">
                <a:solidFill>
                  <a:schemeClr val="tx1"/>
                </a:solidFill>
              </a:rPr>
              <a:t>orce</a:t>
            </a:r>
            <a:r>
              <a:rPr lang="en-IN" sz="3200" dirty="0" smtClean="0">
                <a:solidFill>
                  <a:schemeClr val="tx1"/>
                </a:solidFill>
              </a:rPr>
              <a:t> </a:t>
            </a:r>
            <a:r>
              <a:rPr lang="en-IN" sz="3200" dirty="0">
                <a:solidFill>
                  <a:schemeClr val="tx1"/>
                </a:solidFill>
              </a:rPr>
              <a:t>was considered to be an important factor in the evolution of the state in </a:t>
            </a:r>
            <a:r>
              <a:rPr lang="en-IN" sz="3200" dirty="0" smtClean="0">
                <a:solidFill>
                  <a:schemeClr val="tx1"/>
                </a:solidFill>
              </a:rPr>
              <a:t>India.</a:t>
            </a:r>
          </a:p>
          <a:p>
            <a:r>
              <a:rPr lang="en-IN" sz="3200" dirty="0">
                <a:solidFill>
                  <a:schemeClr val="tx1"/>
                </a:solidFill>
              </a:rPr>
              <a:t>Earliest </a:t>
            </a:r>
            <a:r>
              <a:rPr lang="en-IN" sz="3200" b="1" i="1" dirty="0">
                <a:solidFill>
                  <a:schemeClr val="tx1"/>
                </a:solidFill>
              </a:rPr>
              <a:t>Aryan</a:t>
            </a:r>
            <a:r>
              <a:rPr lang="en-IN" sz="3200" dirty="0">
                <a:solidFill>
                  <a:schemeClr val="tx1"/>
                </a:solidFill>
              </a:rPr>
              <a:t> clans fought among themselves for pet animals (specially for the cow), pastureland, settlements and sources of drinking water. </a:t>
            </a:r>
            <a:endParaRPr lang="en-IN" sz="3200" dirty="0" smtClean="0">
              <a:solidFill>
                <a:schemeClr val="tx1"/>
              </a:solidFill>
            </a:endParaRPr>
          </a:p>
          <a:p>
            <a:r>
              <a:rPr lang="en-IN" sz="3200" dirty="0">
                <a:solidFill>
                  <a:schemeClr val="tx1"/>
                </a:solidFill>
              </a:rPr>
              <a:t>This tendency continued in the days of peace also and subsequently the leader became </a:t>
            </a:r>
            <a:r>
              <a:rPr lang="en-IN" sz="3200" dirty="0" smtClean="0">
                <a:solidFill>
                  <a:schemeClr val="tx1"/>
                </a:solidFill>
              </a:rPr>
              <a:t>king &amp; others started obeying the leader.</a:t>
            </a:r>
            <a:endParaRPr lang="en-IN" sz="3000" dirty="0" smtClean="0">
              <a:solidFill>
                <a:schemeClr val="tx1"/>
              </a:solidFill>
            </a:endParaRPr>
          </a:p>
        </p:txBody>
      </p:sp>
    </p:spTree>
    <p:extLst>
      <p:ext uri="{BB962C8B-B14F-4D97-AF65-F5344CB8AC3E}">
        <p14:creationId xmlns:p14="http://schemas.microsoft.com/office/powerpoint/2010/main" val="29565297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65326" y="1692763"/>
            <a:ext cx="10178322" cy="4729317"/>
          </a:xfrm>
        </p:spPr>
        <p:txBody>
          <a:bodyPr>
            <a:noAutofit/>
          </a:bodyPr>
          <a:lstStyle/>
          <a:p>
            <a:r>
              <a:rPr lang="en-IN" sz="3200" dirty="0" smtClean="0">
                <a:solidFill>
                  <a:schemeClr val="tx1"/>
                </a:solidFill>
              </a:rPr>
              <a:t> Most </a:t>
            </a:r>
            <a:r>
              <a:rPr lang="en-IN" sz="3200" dirty="0">
                <a:solidFill>
                  <a:schemeClr val="tx1"/>
                </a:solidFill>
              </a:rPr>
              <a:t>popular theory of origin of the state in ancient India. </a:t>
            </a:r>
            <a:endParaRPr lang="en-IN" sz="3200" dirty="0" smtClean="0">
              <a:solidFill>
                <a:schemeClr val="tx1"/>
              </a:solidFill>
            </a:endParaRPr>
          </a:p>
          <a:p>
            <a:r>
              <a:rPr lang="en-IN" sz="3200" dirty="0" smtClean="0">
                <a:solidFill>
                  <a:schemeClr val="tx1"/>
                </a:solidFill>
              </a:rPr>
              <a:t>Also known as </a:t>
            </a:r>
            <a:r>
              <a:rPr lang="en-IN" sz="3200" b="1" dirty="0" smtClean="0">
                <a:solidFill>
                  <a:schemeClr val="tx1"/>
                </a:solidFill>
              </a:rPr>
              <a:t>theory of divine origin</a:t>
            </a:r>
            <a:r>
              <a:rPr lang="en-IN" sz="3200" dirty="0" smtClean="0">
                <a:solidFill>
                  <a:schemeClr val="tx1"/>
                </a:solidFill>
              </a:rPr>
              <a:t>.</a:t>
            </a:r>
          </a:p>
          <a:p>
            <a:r>
              <a:rPr lang="en-IN" sz="3200" dirty="0" smtClean="0">
                <a:solidFill>
                  <a:schemeClr val="tx1"/>
                </a:solidFill>
              </a:rPr>
              <a:t>Kingship </a:t>
            </a:r>
            <a:r>
              <a:rPr lang="en-IN" sz="3200" dirty="0">
                <a:solidFill>
                  <a:schemeClr val="tx1"/>
                </a:solidFill>
              </a:rPr>
              <a:t>was given divine sanction and the king was considered not to be the representative of God but </a:t>
            </a:r>
            <a:r>
              <a:rPr lang="en-IN" sz="3200" dirty="0" smtClean="0">
                <a:solidFill>
                  <a:schemeClr val="tx1"/>
                </a:solidFill>
              </a:rPr>
              <a:t>himself.</a:t>
            </a:r>
          </a:p>
          <a:p>
            <a:r>
              <a:rPr lang="en-IN" sz="3200" dirty="0" smtClean="0">
                <a:solidFill>
                  <a:schemeClr val="tx1"/>
                </a:solidFill>
              </a:rPr>
              <a:t> </a:t>
            </a:r>
            <a:r>
              <a:rPr lang="en-IN" sz="3200" dirty="0">
                <a:solidFill>
                  <a:schemeClr val="tx1"/>
                </a:solidFill>
              </a:rPr>
              <a:t>God who contained the powers of important Gods like </a:t>
            </a:r>
            <a:r>
              <a:rPr lang="en-IN" sz="3200" b="1" i="1" dirty="0">
                <a:solidFill>
                  <a:schemeClr val="tx1"/>
                </a:solidFill>
              </a:rPr>
              <a:t>Indra, </a:t>
            </a:r>
            <a:r>
              <a:rPr lang="en-IN" sz="3200" b="1" i="1" dirty="0" smtClean="0">
                <a:solidFill>
                  <a:schemeClr val="tx1"/>
                </a:solidFill>
              </a:rPr>
              <a:t> </a:t>
            </a:r>
            <a:r>
              <a:rPr lang="en-IN" sz="3200" b="1" i="1" dirty="0" err="1" smtClean="0">
                <a:solidFill>
                  <a:schemeClr val="tx1"/>
                </a:solidFill>
              </a:rPr>
              <a:t>Varuna</a:t>
            </a:r>
            <a:r>
              <a:rPr lang="en-IN" sz="3200" b="1" i="1" dirty="0" smtClean="0">
                <a:solidFill>
                  <a:schemeClr val="tx1"/>
                </a:solidFill>
              </a:rPr>
              <a:t> </a:t>
            </a:r>
            <a:r>
              <a:rPr lang="en-IN" sz="3200" dirty="0">
                <a:solidFill>
                  <a:schemeClr val="tx1"/>
                </a:solidFill>
              </a:rPr>
              <a:t>and </a:t>
            </a:r>
            <a:r>
              <a:rPr lang="en-IN" sz="3200" b="1" i="1" dirty="0" smtClean="0">
                <a:solidFill>
                  <a:schemeClr val="tx1"/>
                </a:solidFill>
              </a:rPr>
              <a:t>Agni</a:t>
            </a:r>
            <a:r>
              <a:rPr lang="en-IN" sz="3200" dirty="0" smtClean="0">
                <a:solidFill>
                  <a:schemeClr val="tx1"/>
                </a:solidFill>
              </a:rPr>
              <a:t>.</a:t>
            </a:r>
          </a:p>
          <a:p>
            <a:pPr marL="0" indent="0">
              <a:buNone/>
            </a:pPr>
            <a:endParaRPr lang="en-IN" sz="3000" dirty="0" smtClean="0">
              <a:solidFill>
                <a:schemeClr val="tx1"/>
              </a:solidFill>
            </a:endParaRPr>
          </a:p>
        </p:txBody>
      </p:sp>
    </p:spTree>
    <p:extLst>
      <p:ext uri="{BB962C8B-B14F-4D97-AF65-F5344CB8AC3E}">
        <p14:creationId xmlns:p14="http://schemas.microsoft.com/office/powerpoint/2010/main" val="33306308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r>
              <a:rPr lang="en-IN" sz="3200" dirty="0" smtClean="0">
                <a:solidFill>
                  <a:schemeClr val="tx1"/>
                </a:solidFill>
              </a:rPr>
              <a:t> As per </a:t>
            </a:r>
            <a:r>
              <a:rPr lang="en-IN" sz="3200" b="1" i="1" dirty="0" err="1" smtClean="0">
                <a:solidFill>
                  <a:schemeClr val="tx1"/>
                </a:solidFill>
              </a:rPr>
              <a:t>Manusmriti</a:t>
            </a:r>
            <a:r>
              <a:rPr lang="en-IN" sz="3200" dirty="0" smtClean="0">
                <a:solidFill>
                  <a:schemeClr val="tx1"/>
                </a:solidFill>
              </a:rPr>
              <a:t> :</a:t>
            </a:r>
          </a:p>
          <a:p>
            <a:r>
              <a:rPr lang="en-IN" sz="3200" dirty="0">
                <a:solidFill>
                  <a:schemeClr val="tx1"/>
                </a:solidFill>
              </a:rPr>
              <a:t>“When the world was without a king </a:t>
            </a:r>
            <a:r>
              <a:rPr lang="en-IN" sz="3200" dirty="0" smtClean="0">
                <a:solidFill>
                  <a:schemeClr val="tx1"/>
                </a:solidFill>
              </a:rPr>
              <a:t>and </a:t>
            </a:r>
            <a:r>
              <a:rPr lang="en-IN" sz="3200" dirty="0">
                <a:solidFill>
                  <a:schemeClr val="tx1"/>
                </a:solidFill>
              </a:rPr>
              <a:t>dispersed in fear in all directions, The lord created a king </a:t>
            </a:r>
            <a:r>
              <a:rPr lang="en-IN" sz="3200" dirty="0" smtClean="0">
                <a:solidFill>
                  <a:schemeClr val="tx1"/>
                </a:solidFill>
              </a:rPr>
              <a:t>for </a:t>
            </a:r>
            <a:r>
              <a:rPr lang="en-IN" sz="3200" dirty="0">
                <a:solidFill>
                  <a:schemeClr val="tx1"/>
                </a:solidFill>
              </a:rPr>
              <a:t>protection of all.” </a:t>
            </a:r>
            <a:endParaRPr lang="en-IN" sz="3200" dirty="0" smtClean="0">
              <a:solidFill>
                <a:schemeClr val="tx1"/>
              </a:solidFill>
            </a:endParaRPr>
          </a:p>
          <a:p>
            <a:r>
              <a:rPr lang="en-IN" sz="3200" dirty="0" smtClean="0">
                <a:solidFill>
                  <a:schemeClr val="tx1"/>
                </a:solidFill>
              </a:rPr>
              <a:t>“</a:t>
            </a:r>
            <a:r>
              <a:rPr lang="en-IN" sz="3200" dirty="0">
                <a:solidFill>
                  <a:schemeClr val="tx1"/>
                </a:solidFill>
              </a:rPr>
              <a:t>He made him of eternal particles </a:t>
            </a:r>
            <a:r>
              <a:rPr lang="en-IN" sz="3200" dirty="0" smtClean="0">
                <a:solidFill>
                  <a:schemeClr val="tx1"/>
                </a:solidFill>
              </a:rPr>
              <a:t>of </a:t>
            </a:r>
            <a:r>
              <a:rPr lang="en-IN" sz="3200" b="1" i="1" dirty="0" smtClean="0">
                <a:solidFill>
                  <a:schemeClr val="tx1"/>
                </a:solidFill>
              </a:rPr>
              <a:t>Indra</a:t>
            </a:r>
            <a:r>
              <a:rPr lang="en-IN" sz="3200" dirty="0" smtClean="0">
                <a:solidFill>
                  <a:schemeClr val="tx1"/>
                </a:solidFill>
              </a:rPr>
              <a:t>, </a:t>
            </a:r>
            <a:r>
              <a:rPr lang="en-IN" sz="3200" b="1" i="1" dirty="0" err="1">
                <a:solidFill>
                  <a:schemeClr val="tx1"/>
                </a:solidFill>
              </a:rPr>
              <a:t>V</a:t>
            </a:r>
            <a:r>
              <a:rPr lang="en-IN" sz="3200" b="1" i="1" dirty="0" err="1" smtClean="0">
                <a:solidFill>
                  <a:schemeClr val="tx1"/>
                </a:solidFill>
              </a:rPr>
              <a:t>ayu</a:t>
            </a:r>
            <a:r>
              <a:rPr lang="en-IN" sz="3200" dirty="0" smtClean="0">
                <a:solidFill>
                  <a:schemeClr val="tx1"/>
                </a:solidFill>
              </a:rPr>
              <a:t>  </a:t>
            </a:r>
            <a:r>
              <a:rPr lang="en-IN" sz="3200" dirty="0">
                <a:solidFill>
                  <a:schemeClr val="tx1"/>
                </a:solidFill>
              </a:rPr>
              <a:t>the wind, </a:t>
            </a:r>
            <a:r>
              <a:rPr lang="en-IN" sz="3200" b="1" i="1" dirty="0" smtClean="0">
                <a:solidFill>
                  <a:schemeClr val="tx1"/>
                </a:solidFill>
              </a:rPr>
              <a:t>Yama</a:t>
            </a:r>
            <a:r>
              <a:rPr lang="en-IN" sz="3200" i="1" dirty="0" smtClean="0">
                <a:solidFill>
                  <a:schemeClr val="tx1"/>
                </a:solidFill>
              </a:rPr>
              <a:t> </a:t>
            </a:r>
            <a:r>
              <a:rPr lang="en-IN" sz="3200" dirty="0" smtClean="0">
                <a:solidFill>
                  <a:schemeClr val="tx1"/>
                </a:solidFill>
              </a:rPr>
              <a:t>the</a:t>
            </a:r>
            <a:r>
              <a:rPr lang="en-IN" sz="3200" i="1" dirty="0" smtClean="0">
                <a:solidFill>
                  <a:schemeClr val="tx1"/>
                </a:solidFill>
              </a:rPr>
              <a:t> </a:t>
            </a:r>
            <a:r>
              <a:rPr lang="en-IN" sz="3200" dirty="0" smtClean="0">
                <a:solidFill>
                  <a:schemeClr val="tx1"/>
                </a:solidFill>
              </a:rPr>
              <a:t>God of death, </a:t>
            </a:r>
            <a:r>
              <a:rPr lang="en-IN" sz="3200" b="1" i="1" dirty="0">
                <a:solidFill>
                  <a:schemeClr val="tx1"/>
                </a:solidFill>
              </a:rPr>
              <a:t>S</a:t>
            </a:r>
            <a:r>
              <a:rPr lang="en-IN" sz="3200" b="1" i="1" dirty="0" smtClean="0">
                <a:solidFill>
                  <a:schemeClr val="tx1"/>
                </a:solidFill>
              </a:rPr>
              <a:t>urya</a:t>
            </a:r>
            <a:r>
              <a:rPr lang="en-IN" sz="3200" dirty="0" smtClean="0">
                <a:solidFill>
                  <a:schemeClr val="tx1"/>
                </a:solidFill>
              </a:rPr>
              <a:t> the </a:t>
            </a:r>
            <a:r>
              <a:rPr lang="en-IN" sz="3200" dirty="0">
                <a:solidFill>
                  <a:schemeClr val="tx1"/>
                </a:solidFill>
              </a:rPr>
              <a:t>Sun </a:t>
            </a:r>
            <a:r>
              <a:rPr lang="en-IN" sz="3200" dirty="0" smtClean="0">
                <a:solidFill>
                  <a:schemeClr val="tx1"/>
                </a:solidFill>
              </a:rPr>
              <a:t>and </a:t>
            </a:r>
            <a:r>
              <a:rPr lang="en-IN" sz="3200" b="1" i="1" dirty="0">
                <a:solidFill>
                  <a:schemeClr val="tx1"/>
                </a:solidFill>
              </a:rPr>
              <a:t>A</a:t>
            </a:r>
            <a:r>
              <a:rPr lang="en-IN" sz="3200" b="1" i="1" dirty="0" smtClean="0">
                <a:solidFill>
                  <a:schemeClr val="tx1"/>
                </a:solidFill>
              </a:rPr>
              <a:t>gni</a:t>
            </a:r>
            <a:r>
              <a:rPr lang="en-IN" sz="3200" dirty="0" smtClean="0">
                <a:solidFill>
                  <a:schemeClr val="tx1"/>
                </a:solidFill>
              </a:rPr>
              <a:t> the </a:t>
            </a:r>
            <a:r>
              <a:rPr lang="en-IN" sz="3200" dirty="0">
                <a:solidFill>
                  <a:schemeClr val="tx1"/>
                </a:solidFill>
              </a:rPr>
              <a:t>fire, </a:t>
            </a:r>
            <a:r>
              <a:rPr lang="en-IN" sz="3200" dirty="0" smtClean="0">
                <a:solidFill>
                  <a:schemeClr val="tx1"/>
                </a:solidFill>
              </a:rPr>
              <a:t> </a:t>
            </a:r>
            <a:r>
              <a:rPr lang="en-IN" sz="3200" b="1" i="1" dirty="0" err="1" smtClean="0">
                <a:solidFill>
                  <a:schemeClr val="tx1"/>
                </a:solidFill>
              </a:rPr>
              <a:t>Varuna</a:t>
            </a:r>
            <a:r>
              <a:rPr lang="en-IN" sz="3200" dirty="0">
                <a:solidFill>
                  <a:schemeClr val="tx1"/>
                </a:solidFill>
              </a:rPr>
              <a:t> </a:t>
            </a:r>
            <a:r>
              <a:rPr lang="en-IN" sz="3200" dirty="0" smtClean="0">
                <a:solidFill>
                  <a:schemeClr val="tx1"/>
                </a:solidFill>
              </a:rPr>
              <a:t>the </a:t>
            </a:r>
            <a:r>
              <a:rPr lang="en-IN" sz="3200" dirty="0">
                <a:solidFill>
                  <a:schemeClr val="tx1"/>
                </a:solidFill>
              </a:rPr>
              <a:t>moon and the lord of wealth.”</a:t>
            </a:r>
            <a:endParaRPr lang="en-IN" sz="3000" dirty="0" smtClean="0">
              <a:solidFill>
                <a:schemeClr val="tx1"/>
              </a:solidFill>
            </a:endParaRPr>
          </a:p>
        </p:txBody>
      </p:sp>
    </p:spTree>
    <p:extLst>
      <p:ext uri="{BB962C8B-B14F-4D97-AF65-F5344CB8AC3E}">
        <p14:creationId xmlns:p14="http://schemas.microsoft.com/office/powerpoint/2010/main" val="24919461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r>
              <a:rPr lang="en-IN" sz="4000" dirty="0" smtClean="0">
                <a:solidFill>
                  <a:schemeClr val="tx1"/>
                </a:solidFill>
              </a:rPr>
              <a:t> </a:t>
            </a:r>
            <a:r>
              <a:rPr lang="en-IN" sz="4000" dirty="0">
                <a:solidFill>
                  <a:schemeClr val="tx1"/>
                </a:solidFill>
              </a:rPr>
              <a:t>Even before the days of Buddha, the king was exalted far above ordinary mortals, through the magical powers of the great royal sacrifices. </a:t>
            </a:r>
            <a:endParaRPr lang="en-IN" sz="4000" dirty="0" smtClean="0">
              <a:solidFill>
                <a:schemeClr val="tx1"/>
              </a:solidFill>
            </a:endParaRPr>
          </a:p>
          <a:p>
            <a:r>
              <a:rPr lang="en-IN" sz="4000" dirty="0" smtClean="0">
                <a:solidFill>
                  <a:schemeClr val="tx1"/>
                </a:solidFill>
              </a:rPr>
              <a:t>The </a:t>
            </a:r>
            <a:r>
              <a:rPr lang="en-IN" sz="4000" dirty="0">
                <a:solidFill>
                  <a:schemeClr val="tx1"/>
                </a:solidFill>
              </a:rPr>
              <a:t>royal consecration </a:t>
            </a:r>
            <a:r>
              <a:rPr lang="en-IN" sz="4000" b="1" i="1" dirty="0">
                <a:solidFill>
                  <a:schemeClr val="tx1"/>
                </a:solidFill>
              </a:rPr>
              <a:t>(</a:t>
            </a:r>
            <a:r>
              <a:rPr lang="en-IN" sz="4000" b="1" i="1" dirty="0" err="1" smtClean="0">
                <a:solidFill>
                  <a:schemeClr val="tx1"/>
                </a:solidFill>
              </a:rPr>
              <a:t>Rajasuya</a:t>
            </a:r>
            <a:r>
              <a:rPr lang="en-IN" sz="4000" b="1" i="1" dirty="0">
                <a:solidFill>
                  <a:schemeClr val="tx1"/>
                </a:solidFill>
              </a:rPr>
              <a:t>) </a:t>
            </a:r>
            <a:r>
              <a:rPr lang="en-IN" sz="4000" dirty="0">
                <a:solidFill>
                  <a:schemeClr val="tx1"/>
                </a:solidFill>
              </a:rPr>
              <a:t>which in its full form comprised a series of sacrifices lasting for over a year imbued the king with divine power.</a:t>
            </a:r>
            <a:endParaRPr lang="en-IN" sz="3600" dirty="0" smtClean="0">
              <a:solidFill>
                <a:schemeClr val="tx1"/>
              </a:solidFill>
            </a:endParaRPr>
          </a:p>
        </p:txBody>
      </p:sp>
    </p:spTree>
    <p:extLst>
      <p:ext uri="{BB962C8B-B14F-4D97-AF65-F5344CB8AC3E}">
        <p14:creationId xmlns:p14="http://schemas.microsoft.com/office/powerpoint/2010/main" val="32899524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r>
              <a:rPr lang="en-IN" sz="3200" dirty="0" smtClean="0">
                <a:solidFill>
                  <a:schemeClr val="tx1"/>
                </a:solidFill>
              </a:rPr>
              <a:t> The king was identified with the Lord </a:t>
            </a:r>
            <a:r>
              <a:rPr lang="en-IN" sz="3200" b="1" i="1" dirty="0" smtClean="0">
                <a:solidFill>
                  <a:schemeClr val="tx1"/>
                </a:solidFill>
              </a:rPr>
              <a:t>Indra </a:t>
            </a:r>
            <a:r>
              <a:rPr lang="en-IN" sz="3200" dirty="0">
                <a:solidFill>
                  <a:schemeClr val="tx1"/>
                </a:solidFill>
              </a:rPr>
              <a:t>“because he is a </a:t>
            </a:r>
            <a:r>
              <a:rPr lang="en-IN" sz="3200" b="1" i="1" dirty="0">
                <a:solidFill>
                  <a:schemeClr val="tx1"/>
                </a:solidFill>
              </a:rPr>
              <a:t>K</a:t>
            </a:r>
            <a:r>
              <a:rPr lang="en-IN" sz="3200" b="1" i="1" dirty="0" smtClean="0">
                <a:solidFill>
                  <a:schemeClr val="tx1"/>
                </a:solidFill>
              </a:rPr>
              <a:t>shatriya</a:t>
            </a:r>
            <a:r>
              <a:rPr lang="en-IN" sz="3200" dirty="0" smtClean="0">
                <a:solidFill>
                  <a:schemeClr val="tx1"/>
                </a:solidFill>
              </a:rPr>
              <a:t> </a:t>
            </a:r>
            <a:r>
              <a:rPr lang="en-IN" sz="3200" dirty="0">
                <a:solidFill>
                  <a:schemeClr val="tx1"/>
                </a:solidFill>
              </a:rPr>
              <a:t>and because he is a sacrificer</a:t>
            </a:r>
            <a:r>
              <a:rPr lang="en-IN" sz="3200" dirty="0" smtClean="0">
                <a:solidFill>
                  <a:schemeClr val="tx1"/>
                </a:solidFill>
              </a:rPr>
              <a:t>”</a:t>
            </a:r>
          </a:p>
          <a:p>
            <a:r>
              <a:rPr lang="en-IN" sz="3200" dirty="0">
                <a:solidFill>
                  <a:schemeClr val="tx1"/>
                </a:solidFill>
              </a:rPr>
              <a:t>The king was identified </a:t>
            </a:r>
            <a:r>
              <a:rPr lang="en-IN" sz="3200" dirty="0" smtClean="0">
                <a:solidFill>
                  <a:schemeClr val="tx1"/>
                </a:solidFill>
              </a:rPr>
              <a:t>with </a:t>
            </a:r>
            <a:r>
              <a:rPr lang="en-IN" sz="3200" dirty="0">
                <a:solidFill>
                  <a:schemeClr val="tx1"/>
                </a:solidFill>
              </a:rPr>
              <a:t>the high God </a:t>
            </a:r>
            <a:r>
              <a:rPr lang="en-IN" sz="3200" b="1" i="1" dirty="0" err="1" smtClean="0">
                <a:solidFill>
                  <a:schemeClr val="tx1"/>
                </a:solidFill>
              </a:rPr>
              <a:t>Prajapati</a:t>
            </a:r>
            <a:r>
              <a:rPr lang="en-IN" sz="3200" dirty="0" smtClean="0">
                <a:solidFill>
                  <a:schemeClr val="tx1"/>
                </a:solidFill>
              </a:rPr>
              <a:t>.</a:t>
            </a:r>
          </a:p>
          <a:p>
            <a:r>
              <a:rPr lang="en-IN" sz="3200" dirty="0" smtClean="0">
                <a:solidFill>
                  <a:schemeClr val="tx1"/>
                </a:solidFill>
              </a:rPr>
              <a:t>The king was magically </a:t>
            </a:r>
            <a:r>
              <a:rPr lang="en-IN" sz="3200" dirty="0">
                <a:solidFill>
                  <a:schemeClr val="tx1"/>
                </a:solidFill>
              </a:rPr>
              <a:t>identified with the God </a:t>
            </a:r>
            <a:r>
              <a:rPr lang="en-IN" sz="3200" b="1" i="1" dirty="0" smtClean="0">
                <a:solidFill>
                  <a:schemeClr val="tx1"/>
                </a:solidFill>
              </a:rPr>
              <a:t>Vishnu</a:t>
            </a:r>
            <a:r>
              <a:rPr lang="en-IN" sz="3200" dirty="0" smtClean="0">
                <a:solidFill>
                  <a:schemeClr val="tx1"/>
                </a:solidFill>
              </a:rPr>
              <a:t>.</a:t>
            </a:r>
          </a:p>
          <a:p>
            <a:r>
              <a:rPr lang="en-IN" sz="3200" dirty="0">
                <a:solidFill>
                  <a:schemeClr val="tx1"/>
                </a:solidFill>
              </a:rPr>
              <a:t>The magical power which pervaded the king at his consecration was restored and strengthened in the course of his reign by further </a:t>
            </a:r>
            <a:r>
              <a:rPr lang="en-IN" sz="3200" dirty="0" smtClean="0">
                <a:solidFill>
                  <a:schemeClr val="tx1"/>
                </a:solidFill>
              </a:rPr>
              <a:t>rites.</a:t>
            </a:r>
          </a:p>
          <a:p>
            <a:pPr marL="0" indent="0">
              <a:buNone/>
            </a:pPr>
            <a:endParaRPr lang="en-IN" sz="3000" b="1" i="1" dirty="0" smtClean="0">
              <a:solidFill>
                <a:schemeClr val="tx1"/>
              </a:solidFill>
            </a:endParaRPr>
          </a:p>
        </p:txBody>
      </p:sp>
    </p:spTree>
    <p:extLst>
      <p:ext uri="{BB962C8B-B14F-4D97-AF65-F5344CB8AC3E}">
        <p14:creationId xmlns:p14="http://schemas.microsoft.com/office/powerpoint/2010/main" val="39883614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smtClean="0">
                <a:solidFill>
                  <a:schemeClr val="tx1"/>
                </a:solidFill>
              </a:rPr>
              <a:t>The </a:t>
            </a:r>
            <a:r>
              <a:rPr lang="en-IN" sz="2800" dirty="0">
                <a:solidFill>
                  <a:schemeClr val="tx1"/>
                </a:solidFill>
              </a:rPr>
              <a:t>ceremonial rejuvenation of the </a:t>
            </a:r>
            <a:r>
              <a:rPr lang="en-IN" sz="2800" b="1" i="1" dirty="0" err="1" smtClean="0">
                <a:solidFill>
                  <a:schemeClr val="tx1"/>
                </a:solidFill>
              </a:rPr>
              <a:t>Vajapeya</a:t>
            </a:r>
            <a:r>
              <a:rPr lang="en-IN" sz="2800" dirty="0" smtClean="0">
                <a:solidFill>
                  <a:schemeClr val="tx1"/>
                </a:solidFill>
              </a:rPr>
              <a:t> </a:t>
            </a:r>
            <a:r>
              <a:rPr lang="en-IN" sz="2800" dirty="0">
                <a:solidFill>
                  <a:schemeClr val="tx1"/>
                </a:solidFill>
              </a:rPr>
              <a:t>and the horse-sacrifice (</a:t>
            </a:r>
            <a:r>
              <a:rPr lang="en-IN" sz="2800" b="1" i="1" dirty="0" err="1">
                <a:solidFill>
                  <a:schemeClr val="tx1"/>
                </a:solidFill>
              </a:rPr>
              <a:t>Asvamedha</a:t>
            </a:r>
            <a:r>
              <a:rPr lang="en-IN" sz="2800" dirty="0">
                <a:solidFill>
                  <a:schemeClr val="tx1"/>
                </a:solidFill>
              </a:rPr>
              <a:t>) which not only ministered to his ambition and arrogance but also ensured the prosperity and fertility of the </a:t>
            </a:r>
            <a:r>
              <a:rPr lang="en-IN" sz="2800" dirty="0" smtClean="0">
                <a:solidFill>
                  <a:schemeClr val="tx1"/>
                </a:solidFill>
              </a:rPr>
              <a:t>kingdom.</a:t>
            </a:r>
          </a:p>
          <a:p>
            <a:pPr algn="just"/>
            <a:r>
              <a:rPr lang="en-IN" sz="2800" dirty="0" smtClean="0">
                <a:solidFill>
                  <a:schemeClr val="tx1"/>
                </a:solidFill>
              </a:rPr>
              <a:t>In the beginning </a:t>
            </a:r>
            <a:r>
              <a:rPr lang="en-IN" sz="2800" dirty="0">
                <a:solidFill>
                  <a:schemeClr val="tx1"/>
                </a:solidFill>
              </a:rPr>
              <a:t>of </a:t>
            </a:r>
            <a:r>
              <a:rPr lang="en-IN" sz="2800" dirty="0" smtClean="0">
                <a:solidFill>
                  <a:schemeClr val="tx1"/>
                </a:solidFill>
              </a:rPr>
              <a:t>the </a:t>
            </a:r>
            <a:r>
              <a:rPr lang="en-IN" sz="2800" dirty="0">
                <a:solidFill>
                  <a:schemeClr val="tx1"/>
                </a:solidFill>
              </a:rPr>
              <a:t>period of cosmic time, when greed and wrath had disturbed human relations, men inflicted untold misery upon one another</a:t>
            </a:r>
            <a:r>
              <a:rPr lang="en-IN" sz="2800" dirty="0" smtClean="0">
                <a:solidFill>
                  <a:schemeClr val="tx1"/>
                </a:solidFill>
              </a:rPr>
              <a:t>.</a:t>
            </a:r>
          </a:p>
          <a:p>
            <a:pPr algn="just"/>
            <a:r>
              <a:rPr lang="en-IN" sz="2800" dirty="0" smtClean="0">
                <a:solidFill>
                  <a:schemeClr val="tx1"/>
                </a:solidFill>
              </a:rPr>
              <a:t>People agreed to respect each other’s life &amp; property.</a:t>
            </a:r>
          </a:p>
          <a:p>
            <a:pPr algn="just"/>
            <a:r>
              <a:rPr lang="en-IN" sz="2800" dirty="0" smtClean="0">
                <a:solidFill>
                  <a:schemeClr val="tx1"/>
                </a:solidFill>
              </a:rPr>
              <a:t>But they had least confidence in each other.</a:t>
            </a:r>
            <a:endParaRPr lang="en-IN" sz="2800" dirty="0">
              <a:solidFill>
                <a:schemeClr val="tx1"/>
              </a:solidFill>
            </a:endParaRPr>
          </a:p>
          <a:p>
            <a:pPr algn="just"/>
            <a:endParaRPr lang="en-IN" sz="3000" b="1" i="1" dirty="0" smtClean="0">
              <a:solidFill>
                <a:schemeClr val="tx1"/>
              </a:solidFill>
            </a:endParaRPr>
          </a:p>
        </p:txBody>
      </p:sp>
    </p:spTree>
    <p:extLst>
      <p:ext uri="{BB962C8B-B14F-4D97-AF65-F5344CB8AC3E}">
        <p14:creationId xmlns:p14="http://schemas.microsoft.com/office/powerpoint/2010/main" val="15664091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smtClean="0">
                <a:solidFill>
                  <a:schemeClr val="tx1"/>
                </a:solidFill>
              </a:rPr>
              <a:t> So they approached </a:t>
            </a:r>
            <a:r>
              <a:rPr lang="en-IN" sz="2800" dirty="0">
                <a:solidFill>
                  <a:schemeClr val="tx1"/>
                </a:solidFill>
              </a:rPr>
              <a:t>the high God, </a:t>
            </a:r>
            <a:r>
              <a:rPr lang="en-IN" sz="2800" b="1" i="1" dirty="0" err="1">
                <a:solidFill>
                  <a:schemeClr val="tx1"/>
                </a:solidFill>
              </a:rPr>
              <a:t>Brahmā</a:t>
            </a:r>
            <a:r>
              <a:rPr lang="en-IN" sz="2800" dirty="0">
                <a:solidFill>
                  <a:schemeClr val="tx1"/>
                </a:solidFill>
              </a:rPr>
              <a:t>, to help </a:t>
            </a:r>
            <a:r>
              <a:rPr lang="en-IN" sz="2800" dirty="0" smtClean="0">
                <a:solidFill>
                  <a:schemeClr val="tx1"/>
                </a:solidFill>
              </a:rPr>
              <a:t>them.</a:t>
            </a:r>
          </a:p>
          <a:p>
            <a:pPr algn="just"/>
            <a:r>
              <a:rPr lang="en-IN" sz="2800" dirty="0">
                <a:solidFill>
                  <a:schemeClr val="tx1"/>
                </a:solidFill>
              </a:rPr>
              <a:t>He nominated </a:t>
            </a:r>
            <a:r>
              <a:rPr lang="en-IN" sz="2800" b="1" i="1" dirty="0">
                <a:solidFill>
                  <a:schemeClr val="tx1"/>
                </a:solidFill>
              </a:rPr>
              <a:t>Manu</a:t>
            </a:r>
            <a:r>
              <a:rPr lang="en-IN" sz="2800" dirty="0">
                <a:solidFill>
                  <a:schemeClr val="tx1"/>
                </a:solidFill>
              </a:rPr>
              <a:t>, here </a:t>
            </a:r>
            <a:r>
              <a:rPr lang="en-IN" sz="2800" dirty="0" smtClean="0">
                <a:solidFill>
                  <a:schemeClr val="tx1"/>
                </a:solidFill>
              </a:rPr>
              <a:t>thought </a:t>
            </a:r>
            <a:r>
              <a:rPr lang="en-IN" sz="2800" dirty="0">
                <a:solidFill>
                  <a:schemeClr val="tx1"/>
                </a:solidFill>
              </a:rPr>
              <a:t>of not as a man, but as a God, to be their first king. </a:t>
            </a:r>
            <a:endParaRPr lang="en-IN" sz="2800" dirty="0" smtClean="0">
              <a:solidFill>
                <a:schemeClr val="tx1"/>
              </a:solidFill>
            </a:endParaRPr>
          </a:p>
          <a:p>
            <a:pPr algn="just"/>
            <a:r>
              <a:rPr lang="en-IN" sz="2800" dirty="0" smtClean="0">
                <a:solidFill>
                  <a:schemeClr val="tx1"/>
                </a:solidFill>
              </a:rPr>
              <a:t>Variants </a:t>
            </a:r>
            <a:r>
              <a:rPr lang="en-IN" sz="2800" dirty="0">
                <a:solidFill>
                  <a:schemeClr val="tx1"/>
                </a:solidFill>
              </a:rPr>
              <a:t>of this story occur claiming </a:t>
            </a:r>
            <a:r>
              <a:rPr lang="en-IN" sz="2800" dirty="0" smtClean="0">
                <a:solidFill>
                  <a:schemeClr val="tx1"/>
                </a:solidFill>
              </a:rPr>
              <a:t> </a:t>
            </a:r>
            <a:r>
              <a:rPr lang="en-IN" sz="2800" b="1" i="1" dirty="0" err="1">
                <a:solidFill>
                  <a:schemeClr val="tx1"/>
                </a:solidFill>
              </a:rPr>
              <a:t>Virājas</a:t>
            </a:r>
            <a:r>
              <a:rPr lang="en-IN" sz="2800" dirty="0">
                <a:solidFill>
                  <a:schemeClr val="tx1"/>
                </a:solidFill>
              </a:rPr>
              <a:t>, the son of the God </a:t>
            </a:r>
            <a:r>
              <a:rPr lang="en-IN" sz="2800" b="1" i="1" dirty="0" smtClean="0">
                <a:solidFill>
                  <a:schemeClr val="tx1"/>
                </a:solidFill>
              </a:rPr>
              <a:t>Vishnu</a:t>
            </a:r>
            <a:r>
              <a:rPr lang="en-IN" sz="2800" dirty="0" smtClean="0">
                <a:solidFill>
                  <a:schemeClr val="tx1"/>
                </a:solidFill>
              </a:rPr>
              <a:t>, few </a:t>
            </a:r>
            <a:r>
              <a:rPr lang="en-IN" sz="2800" b="1" i="1" dirty="0">
                <a:solidFill>
                  <a:schemeClr val="tx1"/>
                </a:solidFill>
              </a:rPr>
              <a:t>Rajput</a:t>
            </a:r>
            <a:r>
              <a:rPr lang="en-IN" sz="2800" dirty="0">
                <a:solidFill>
                  <a:schemeClr val="tx1"/>
                </a:solidFill>
              </a:rPr>
              <a:t> families who claimed descent from the fire-God </a:t>
            </a:r>
            <a:r>
              <a:rPr lang="en-IN" sz="2800" b="1" i="1" dirty="0">
                <a:solidFill>
                  <a:schemeClr val="tx1"/>
                </a:solidFill>
              </a:rPr>
              <a:t>Agni</a:t>
            </a:r>
            <a:r>
              <a:rPr lang="en-IN" sz="2800" dirty="0">
                <a:solidFill>
                  <a:schemeClr val="tx1"/>
                </a:solidFill>
              </a:rPr>
              <a:t>, nearly all medieval Indian kings traced their genealogies back to </a:t>
            </a:r>
            <a:r>
              <a:rPr lang="en-IN" sz="2800" b="1" i="1" dirty="0">
                <a:solidFill>
                  <a:schemeClr val="tx1"/>
                </a:solidFill>
              </a:rPr>
              <a:t>Manu</a:t>
            </a:r>
            <a:r>
              <a:rPr lang="en-IN" sz="2800" dirty="0">
                <a:solidFill>
                  <a:schemeClr val="tx1"/>
                </a:solidFill>
              </a:rPr>
              <a:t>, either through his son </a:t>
            </a:r>
            <a:r>
              <a:rPr lang="en-IN" sz="2800" b="1" i="1" dirty="0" err="1">
                <a:solidFill>
                  <a:schemeClr val="tx1"/>
                </a:solidFill>
              </a:rPr>
              <a:t>Iksvāku</a:t>
            </a:r>
            <a:r>
              <a:rPr lang="en-IN" sz="2800" dirty="0">
                <a:solidFill>
                  <a:schemeClr val="tx1"/>
                </a:solidFill>
              </a:rPr>
              <a:t> or his daughter </a:t>
            </a:r>
            <a:r>
              <a:rPr lang="en-IN" sz="2800" b="1" i="1" dirty="0" err="1">
                <a:solidFill>
                  <a:schemeClr val="tx1"/>
                </a:solidFill>
              </a:rPr>
              <a:t>Ilā</a:t>
            </a:r>
            <a:r>
              <a:rPr lang="en-IN" sz="2800" dirty="0">
                <a:solidFill>
                  <a:schemeClr val="tx1"/>
                </a:solidFill>
              </a:rPr>
              <a:t>. Descendants of </a:t>
            </a:r>
            <a:r>
              <a:rPr lang="en-IN" sz="2800" b="1" i="1" dirty="0" err="1">
                <a:solidFill>
                  <a:schemeClr val="tx1"/>
                </a:solidFill>
              </a:rPr>
              <a:t>Iksvāku</a:t>
            </a:r>
            <a:r>
              <a:rPr lang="en-IN" sz="2800" dirty="0">
                <a:solidFill>
                  <a:schemeClr val="tx1"/>
                </a:solidFill>
              </a:rPr>
              <a:t> are referred to as of the </a:t>
            </a:r>
            <a:r>
              <a:rPr lang="en-IN" sz="2800" dirty="0" smtClean="0">
                <a:solidFill>
                  <a:schemeClr val="tx1"/>
                </a:solidFill>
              </a:rPr>
              <a:t>solar or </a:t>
            </a:r>
            <a:r>
              <a:rPr lang="en-IN" sz="2800" b="1" i="1" dirty="0" err="1" smtClean="0">
                <a:solidFill>
                  <a:schemeClr val="tx1"/>
                </a:solidFill>
              </a:rPr>
              <a:t>suryavanshi</a:t>
            </a:r>
            <a:r>
              <a:rPr lang="en-IN" sz="2800" dirty="0" smtClean="0">
                <a:solidFill>
                  <a:schemeClr val="tx1"/>
                </a:solidFill>
              </a:rPr>
              <a:t> </a:t>
            </a:r>
            <a:r>
              <a:rPr lang="en-IN" sz="2800" dirty="0">
                <a:solidFill>
                  <a:schemeClr val="tx1"/>
                </a:solidFill>
              </a:rPr>
              <a:t>and those of </a:t>
            </a:r>
            <a:r>
              <a:rPr lang="en-IN" sz="2800" b="1" i="1" dirty="0" err="1">
                <a:solidFill>
                  <a:schemeClr val="tx1"/>
                </a:solidFill>
              </a:rPr>
              <a:t>Ilā</a:t>
            </a:r>
            <a:r>
              <a:rPr lang="en-IN" sz="2800" dirty="0">
                <a:solidFill>
                  <a:schemeClr val="tx1"/>
                </a:solidFill>
              </a:rPr>
              <a:t> as of the lunar </a:t>
            </a:r>
            <a:r>
              <a:rPr lang="en-IN" sz="2800" dirty="0" smtClean="0">
                <a:solidFill>
                  <a:schemeClr val="tx1"/>
                </a:solidFill>
              </a:rPr>
              <a:t>line or </a:t>
            </a:r>
            <a:r>
              <a:rPr lang="en-IN" sz="2800" b="1" i="1" dirty="0" err="1" smtClean="0">
                <a:solidFill>
                  <a:schemeClr val="tx1"/>
                </a:solidFill>
              </a:rPr>
              <a:t>chandravanshi</a:t>
            </a:r>
            <a:r>
              <a:rPr lang="en-IN" sz="2800" dirty="0" smtClean="0">
                <a:solidFill>
                  <a:schemeClr val="tx1"/>
                </a:solidFill>
              </a:rPr>
              <a:t>.</a:t>
            </a:r>
            <a:endParaRPr lang="en-IN" sz="2800" b="1" i="1" dirty="0" smtClean="0">
              <a:solidFill>
                <a:schemeClr val="tx1"/>
              </a:solidFill>
            </a:endParaRPr>
          </a:p>
        </p:txBody>
      </p:sp>
    </p:spTree>
    <p:extLst>
      <p:ext uri="{BB962C8B-B14F-4D97-AF65-F5344CB8AC3E}">
        <p14:creationId xmlns:p14="http://schemas.microsoft.com/office/powerpoint/2010/main" val="39731796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MYSTICAL ORIGIN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400" dirty="0" smtClean="0">
                <a:solidFill>
                  <a:schemeClr val="tx1"/>
                </a:solidFill>
              </a:rPr>
              <a:t> The </a:t>
            </a:r>
            <a:r>
              <a:rPr lang="en-IN" sz="2400" dirty="0">
                <a:solidFill>
                  <a:schemeClr val="tx1"/>
                </a:solidFill>
              </a:rPr>
              <a:t>mystical theory of kingship which carried most weight with succeeding generations. </a:t>
            </a:r>
            <a:endParaRPr lang="en-IN" sz="2400" dirty="0" smtClean="0">
              <a:solidFill>
                <a:schemeClr val="tx1"/>
              </a:solidFill>
            </a:endParaRPr>
          </a:p>
          <a:p>
            <a:pPr algn="just"/>
            <a:r>
              <a:rPr lang="en-IN" sz="2400" dirty="0" smtClean="0">
                <a:solidFill>
                  <a:schemeClr val="tx1"/>
                </a:solidFill>
              </a:rPr>
              <a:t>The </a:t>
            </a:r>
            <a:r>
              <a:rPr lang="en-IN" sz="2400" dirty="0">
                <a:solidFill>
                  <a:schemeClr val="tx1"/>
                </a:solidFill>
              </a:rPr>
              <a:t>author of the </a:t>
            </a:r>
            <a:r>
              <a:rPr lang="en-IN" sz="2400" b="1" i="1" dirty="0" err="1">
                <a:solidFill>
                  <a:schemeClr val="tx1"/>
                </a:solidFill>
              </a:rPr>
              <a:t>Arthashāstra</a:t>
            </a:r>
            <a:r>
              <a:rPr lang="en-IN" sz="2400" dirty="0">
                <a:solidFill>
                  <a:schemeClr val="tx1"/>
                </a:solidFill>
              </a:rPr>
              <a:t> had no illusions about the king’s human nature, and seems to have had little time for </a:t>
            </a:r>
            <a:r>
              <a:rPr lang="en-IN" sz="2400" dirty="0" smtClean="0">
                <a:solidFill>
                  <a:schemeClr val="tx1"/>
                </a:solidFill>
              </a:rPr>
              <a:t>mysticism.</a:t>
            </a:r>
          </a:p>
          <a:p>
            <a:pPr algn="just"/>
            <a:r>
              <a:rPr lang="en-IN" sz="2400" dirty="0" smtClean="0">
                <a:solidFill>
                  <a:schemeClr val="tx1"/>
                </a:solidFill>
              </a:rPr>
              <a:t> He </a:t>
            </a:r>
            <a:r>
              <a:rPr lang="en-IN" sz="2400" dirty="0">
                <a:solidFill>
                  <a:schemeClr val="tx1"/>
                </a:solidFill>
              </a:rPr>
              <a:t>recognised that legends about the origin of kingship had propaganda </a:t>
            </a:r>
            <a:r>
              <a:rPr lang="en-IN" sz="2400" dirty="0" smtClean="0">
                <a:solidFill>
                  <a:schemeClr val="tx1"/>
                </a:solidFill>
              </a:rPr>
              <a:t>value.</a:t>
            </a:r>
          </a:p>
          <a:p>
            <a:pPr algn="just"/>
            <a:r>
              <a:rPr lang="en-IN" sz="2400" dirty="0" smtClean="0">
                <a:solidFill>
                  <a:schemeClr val="tx1"/>
                </a:solidFill>
              </a:rPr>
              <a:t>In the </a:t>
            </a:r>
            <a:r>
              <a:rPr lang="en-IN" sz="2400" b="1" i="1" dirty="0" err="1" smtClean="0">
                <a:solidFill>
                  <a:schemeClr val="tx1"/>
                </a:solidFill>
              </a:rPr>
              <a:t>Arthshastra</a:t>
            </a:r>
            <a:r>
              <a:rPr lang="en-IN" sz="2400" b="1" i="1" dirty="0" smtClean="0">
                <a:solidFill>
                  <a:schemeClr val="tx1"/>
                </a:solidFill>
              </a:rPr>
              <a:t> </a:t>
            </a:r>
            <a:r>
              <a:rPr lang="en-IN" sz="2400" dirty="0" smtClean="0">
                <a:solidFill>
                  <a:schemeClr val="tx1"/>
                </a:solidFill>
              </a:rPr>
              <a:t>the author describes king fulfilling the functions of God </a:t>
            </a:r>
            <a:r>
              <a:rPr lang="en-IN" sz="2400" b="1" i="1" dirty="0" smtClean="0">
                <a:solidFill>
                  <a:schemeClr val="tx1"/>
                </a:solidFill>
              </a:rPr>
              <a:t>Indra </a:t>
            </a:r>
            <a:r>
              <a:rPr lang="en-IN" sz="2400" dirty="0" smtClean="0">
                <a:solidFill>
                  <a:schemeClr val="tx1"/>
                </a:solidFill>
              </a:rPr>
              <a:t>( king of Gods) &amp; </a:t>
            </a:r>
            <a:r>
              <a:rPr lang="en-IN" sz="2400" b="1" i="1" dirty="0" smtClean="0">
                <a:solidFill>
                  <a:schemeClr val="tx1"/>
                </a:solidFill>
              </a:rPr>
              <a:t>Yama </a:t>
            </a:r>
            <a:r>
              <a:rPr lang="en-IN" sz="2400" dirty="0" smtClean="0">
                <a:solidFill>
                  <a:schemeClr val="tx1"/>
                </a:solidFill>
              </a:rPr>
              <a:t>(the God of death).</a:t>
            </a:r>
          </a:p>
          <a:p>
            <a:pPr algn="just"/>
            <a:r>
              <a:rPr lang="en-IN" sz="2400" b="1" i="1" dirty="0" err="1" smtClean="0">
                <a:solidFill>
                  <a:schemeClr val="tx1"/>
                </a:solidFill>
              </a:rPr>
              <a:t>Ashoka</a:t>
            </a:r>
            <a:r>
              <a:rPr lang="en-IN" sz="2400" dirty="0" smtClean="0">
                <a:solidFill>
                  <a:schemeClr val="tx1"/>
                </a:solidFill>
              </a:rPr>
              <a:t> </a:t>
            </a:r>
            <a:r>
              <a:rPr lang="en-IN" sz="2400" dirty="0">
                <a:solidFill>
                  <a:schemeClr val="tx1"/>
                </a:solidFill>
              </a:rPr>
              <a:t>and other </a:t>
            </a:r>
            <a:r>
              <a:rPr lang="en-IN" sz="2400" dirty="0" err="1">
                <a:solidFill>
                  <a:schemeClr val="tx1"/>
                </a:solidFill>
              </a:rPr>
              <a:t>Mauryan</a:t>
            </a:r>
            <a:r>
              <a:rPr lang="en-IN" sz="2400" dirty="0">
                <a:solidFill>
                  <a:schemeClr val="tx1"/>
                </a:solidFill>
              </a:rPr>
              <a:t> kings took the title “Beloved of the Gods” (</a:t>
            </a:r>
            <a:r>
              <a:rPr lang="en-IN" sz="2400" b="1" i="1" dirty="0" err="1" smtClean="0">
                <a:solidFill>
                  <a:schemeClr val="tx1"/>
                </a:solidFill>
              </a:rPr>
              <a:t>devānāmpriya</a:t>
            </a:r>
            <a:r>
              <a:rPr lang="en-IN" sz="2400" dirty="0">
                <a:solidFill>
                  <a:schemeClr val="tx1"/>
                </a:solidFill>
              </a:rPr>
              <a:t>), and, though they seem not to have claimed wholly divine status, they were no doubt looked upon as superior semi-divine beings.</a:t>
            </a:r>
            <a:endParaRPr lang="en-IN" sz="2400" dirty="0" smtClean="0">
              <a:solidFill>
                <a:schemeClr val="tx1"/>
              </a:solidFill>
            </a:endParaRPr>
          </a:p>
        </p:txBody>
      </p:sp>
    </p:spTree>
    <p:extLst>
      <p:ext uri="{BB962C8B-B14F-4D97-AF65-F5344CB8AC3E}">
        <p14:creationId xmlns:p14="http://schemas.microsoft.com/office/powerpoint/2010/main" val="27423164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CONTRACT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2800" dirty="0" smtClean="0">
                <a:solidFill>
                  <a:schemeClr val="tx1"/>
                </a:solidFill>
              </a:rPr>
              <a:t> </a:t>
            </a:r>
            <a:r>
              <a:rPr lang="en-IN" sz="2800" dirty="0">
                <a:solidFill>
                  <a:schemeClr val="tx1"/>
                </a:solidFill>
              </a:rPr>
              <a:t>Contract theory is the most extensively discussed theory of the origin of the state in ancient India. </a:t>
            </a:r>
            <a:endParaRPr lang="en-IN" sz="2800" dirty="0" smtClean="0">
              <a:solidFill>
                <a:schemeClr val="tx1"/>
              </a:solidFill>
            </a:endParaRPr>
          </a:p>
          <a:p>
            <a:pPr algn="just"/>
            <a:r>
              <a:rPr lang="en-IN" sz="2800" dirty="0" smtClean="0">
                <a:solidFill>
                  <a:schemeClr val="tx1"/>
                </a:solidFill>
              </a:rPr>
              <a:t>The </a:t>
            </a:r>
            <a:r>
              <a:rPr lang="en-IN" sz="2800" dirty="0">
                <a:solidFill>
                  <a:schemeClr val="tx1"/>
                </a:solidFill>
              </a:rPr>
              <a:t>reference to contract theory can be seen in the Buddhist texts like </a:t>
            </a:r>
            <a:r>
              <a:rPr lang="en-IN" sz="2800" b="1" i="1" dirty="0" err="1" smtClean="0">
                <a:solidFill>
                  <a:schemeClr val="tx1"/>
                </a:solidFill>
              </a:rPr>
              <a:t>Digha</a:t>
            </a:r>
            <a:r>
              <a:rPr lang="en-IN" sz="2800" b="1" i="1" dirty="0" smtClean="0">
                <a:solidFill>
                  <a:schemeClr val="tx1"/>
                </a:solidFill>
              </a:rPr>
              <a:t> </a:t>
            </a:r>
            <a:r>
              <a:rPr lang="en-IN" sz="2800" b="1" i="1" dirty="0" err="1" smtClean="0">
                <a:solidFill>
                  <a:schemeClr val="tx1"/>
                </a:solidFill>
              </a:rPr>
              <a:t>Nikaya</a:t>
            </a:r>
            <a:r>
              <a:rPr lang="en-IN" sz="2800" dirty="0" smtClean="0">
                <a:solidFill>
                  <a:schemeClr val="tx1"/>
                </a:solidFill>
              </a:rPr>
              <a:t> </a:t>
            </a:r>
            <a:r>
              <a:rPr lang="en-IN" sz="2800" dirty="0">
                <a:solidFill>
                  <a:schemeClr val="tx1"/>
                </a:solidFill>
              </a:rPr>
              <a:t>and </a:t>
            </a:r>
            <a:r>
              <a:rPr lang="en-IN" sz="2800" b="1" i="1" dirty="0" err="1" smtClean="0">
                <a:solidFill>
                  <a:schemeClr val="tx1"/>
                </a:solidFill>
              </a:rPr>
              <a:t>Mahavastu</a:t>
            </a:r>
            <a:r>
              <a:rPr lang="en-IN" sz="2800" dirty="0" smtClean="0">
                <a:solidFill>
                  <a:schemeClr val="tx1"/>
                </a:solidFill>
              </a:rPr>
              <a:t> </a:t>
            </a:r>
            <a:r>
              <a:rPr lang="en-IN" sz="2800" dirty="0">
                <a:solidFill>
                  <a:schemeClr val="tx1"/>
                </a:solidFill>
              </a:rPr>
              <a:t>and </a:t>
            </a:r>
            <a:r>
              <a:rPr lang="en-IN" sz="2800" dirty="0" err="1">
                <a:solidFill>
                  <a:schemeClr val="tx1"/>
                </a:solidFill>
              </a:rPr>
              <a:t>brahmanical</a:t>
            </a:r>
            <a:r>
              <a:rPr lang="en-IN" sz="2800" dirty="0">
                <a:solidFill>
                  <a:schemeClr val="tx1"/>
                </a:solidFill>
              </a:rPr>
              <a:t> texts like </a:t>
            </a:r>
            <a:r>
              <a:rPr lang="en-IN" sz="2800" b="1" i="1" dirty="0" smtClean="0">
                <a:solidFill>
                  <a:schemeClr val="tx1"/>
                </a:solidFill>
              </a:rPr>
              <a:t>Shanti </a:t>
            </a:r>
            <a:r>
              <a:rPr lang="en-IN" sz="2800" b="1" i="1" dirty="0" err="1">
                <a:solidFill>
                  <a:schemeClr val="tx1"/>
                </a:solidFill>
              </a:rPr>
              <a:t>Parva</a:t>
            </a:r>
            <a:r>
              <a:rPr lang="en-IN" sz="2800" b="1" i="1" dirty="0">
                <a:solidFill>
                  <a:schemeClr val="tx1"/>
                </a:solidFill>
              </a:rPr>
              <a:t> </a:t>
            </a:r>
            <a:r>
              <a:rPr lang="en-IN" sz="2800" dirty="0">
                <a:solidFill>
                  <a:schemeClr val="tx1"/>
                </a:solidFill>
              </a:rPr>
              <a:t>and </a:t>
            </a:r>
            <a:r>
              <a:rPr lang="en-IN" sz="2800" b="1" i="1" dirty="0" err="1" smtClean="0">
                <a:solidFill>
                  <a:schemeClr val="tx1"/>
                </a:solidFill>
              </a:rPr>
              <a:t>Arthashastra</a:t>
            </a:r>
            <a:r>
              <a:rPr lang="en-IN" sz="2800" dirty="0" smtClean="0">
                <a:solidFill>
                  <a:schemeClr val="tx1"/>
                </a:solidFill>
              </a:rPr>
              <a:t> </a:t>
            </a:r>
            <a:r>
              <a:rPr lang="en-IN" sz="2800" dirty="0">
                <a:solidFill>
                  <a:schemeClr val="tx1"/>
                </a:solidFill>
              </a:rPr>
              <a:t>of </a:t>
            </a:r>
            <a:r>
              <a:rPr lang="en-IN" sz="2800" dirty="0" err="1">
                <a:solidFill>
                  <a:schemeClr val="tx1"/>
                </a:solidFill>
              </a:rPr>
              <a:t>Kautilya</a:t>
            </a:r>
            <a:r>
              <a:rPr lang="en-IN" sz="2800" dirty="0">
                <a:solidFill>
                  <a:schemeClr val="tx1"/>
                </a:solidFill>
              </a:rPr>
              <a:t>. </a:t>
            </a:r>
            <a:endParaRPr lang="en-IN" sz="2800" dirty="0" smtClean="0">
              <a:solidFill>
                <a:schemeClr val="tx1"/>
              </a:solidFill>
            </a:endParaRPr>
          </a:p>
          <a:p>
            <a:pPr algn="just"/>
            <a:r>
              <a:rPr lang="en-IN" sz="2800" dirty="0" smtClean="0">
                <a:solidFill>
                  <a:schemeClr val="tx1"/>
                </a:solidFill>
              </a:rPr>
              <a:t>Some Researchers, scholars &amp; educationists </a:t>
            </a:r>
            <a:r>
              <a:rPr lang="en-IN" sz="2800" dirty="0">
                <a:solidFill>
                  <a:schemeClr val="tx1"/>
                </a:solidFill>
              </a:rPr>
              <a:t>accept only the Buddhist sources as the authentic source of contract </a:t>
            </a:r>
            <a:r>
              <a:rPr lang="en-IN" sz="2800" dirty="0" smtClean="0">
                <a:solidFill>
                  <a:schemeClr val="tx1"/>
                </a:solidFill>
              </a:rPr>
              <a:t>theory as they claim that </a:t>
            </a:r>
            <a:r>
              <a:rPr lang="en-IN" sz="2800" dirty="0" err="1" smtClean="0">
                <a:solidFill>
                  <a:schemeClr val="tx1"/>
                </a:solidFill>
              </a:rPr>
              <a:t>brahamanical</a:t>
            </a:r>
            <a:r>
              <a:rPr lang="en-IN" sz="2800" dirty="0" smtClean="0">
                <a:solidFill>
                  <a:schemeClr val="tx1"/>
                </a:solidFill>
              </a:rPr>
              <a:t> texts are a mixture of mystical origin theory &amp; the contract theory, where as other accept both the texts.</a:t>
            </a:r>
          </a:p>
        </p:txBody>
      </p:sp>
    </p:spTree>
    <p:extLst>
      <p:ext uri="{BB962C8B-B14F-4D97-AF65-F5344CB8AC3E}">
        <p14:creationId xmlns:p14="http://schemas.microsoft.com/office/powerpoint/2010/main" val="32470120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CONTRACT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smtClean="0">
                <a:solidFill>
                  <a:schemeClr val="tx1"/>
                </a:solidFill>
              </a:rPr>
              <a:t> Lord Buddha refuted </a:t>
            </a:r>
            <a:r>
              <a:rPr lang="en-IN" sz="2800" dirty="0">
                <a:solidFill>
                  <a:schemeClr val="tx1"/>
                </a:solidFill>
              </a:rPr>
              <a:t>the</a:t>
            </a:r>
            <a:r>
              <a:rPr lang="en-IN" sz="2800" b="1" i="1" dirty="0">
                <a:solidFill>
                  <a:schemeClr val="tx1"/>
                </a:solidFill>
              </a:rPr>
              <a:t> </a:t>
            </a:r>
            <a:r>
              <a:rPr lang="en-IN" sz="2800" b="1" i="1" dirty="0" err="1">
                <a:solidFill>
                  <a:schemeClr val="tx1"/>
                </a:solidFill>
              </a:rPr>
              <a:t>brahmins</a:t>
            </a:r>
            <a:r>
              <a:rPr lang="en-IN" sz="2800" b="1" i="1" dirty="0">
                <a:solidFill>
                  <a:schemeClr val="tx1"/>
                </a:solidFill>
              </a:rPr>
              <a:t> </a:t>
            </a:r>
            <a:r>
              <a:rPr lang="en-IN" sz="2800" dirty="0">
                <a:solidFill>
                  <a:schemeClr val="tx1"/>
                </a:solidFill>
              </a:rPr>
              <a:t>claim for precedence over members of all the other social classes. </a:t>
            </a:r>
            <a:endParaRPr lang="en-IN" sz="2800" dirty="0" smtClean="0">
              <a:solidFill>
                <a:schemeClr val="tx1"/>
              </a:solidFill>
            </a:endParaRPr>
          </a:p>
          <a:p>
            <a:pPr algn="just"/>
            <a:r>
              <a:rPr lang="en-IN" sz="2800" dirty="0" smtClean="0">
                <a:solidFill>
                  <a:schemeClr val="tx1"/>
                </a:solidFill>
              </a:rPr>
              <a:t>It </a:t>
            </a:r>
            <a:r>
              <a:rPr lang="en-IN" sz="2800" dirty="0">
                <a:solidFill>
                  <a:schemeClr val="tx1"/>
                </a:solidFill>
              </a:rPr>
              <a:t>is said that there was a time when people were perfect, and lived in a state of </a:t>
            </a:r>
            <a:r>
              <a:rPr lang="en-IN" sz="2800" b="1" i="1" dirty="0">
                <a:solidFill>
                  <a:schemeClr val="tx1"/>
                </a:solidFill>
              </a:rPr>
              <a:t>happiness</a:t>
            </a:r>
            <a:r>
              <a:rPr lang="en-IN" sz="2800" dirty="0">
                <a:solidFill>
                  <a:schemeClr val="tx1"/>
                </a:solidFill>
              </a:rPr>
              <a:t> and </a:t>
            </a:r>
            <a:r>
              <a:rPr lang="en-IN" sz="2800" b="1" i="1" dirty="0" smtClean="0">
                <a:solidFill>
                  <a:schemeClr val="tx1"/>
                </a:solidFill>
              </a:rPr>
              <a:t>tranquillity</a:t>
            </a:r>
            <a:r>
              <a:rPr lang="en-IN" sz="2800" dirty="0" smtClean="0">
                <a:solidFill>
                  <a:schemeClr val="tx1"/>
                </a:solidFill>
              </a:rPr>
              <a:t>. </a:t>
            </a:r>
          </a:p>
          <a:p>
            <a:pPr algn="just"/>
            <a:r>
              <a:rPr lang="en-IN" sz="2800" dirty="0" smtClean="0">
                <a:solidFill>
                  <a:schemeClr val="tx1"/>
                </a:solidFill>
              </a:rPr>
              <a:t>This </a:t>
            </a:r>
            <a:r>
              <a:rPr lang="en-IN" sz="2800" dirty="0">
                <a:solidFill>
                  <a:schemeClr val="tx1"/>
                </a:solidFill>
              </a:rPr>
              <a:t>perfect state lasted for ages, but at last the </a:t>
            </a:r>
            <a:r>
              <a:rPr lang="en-IN" sz="2800" b="1" i="1" dirty="0">
                <a:solidFill>
                  <a:schemeClr val="tx1"/>
                </a:solidFill>
              </a:rPr>
              <a:t>pristine purity </a:t>
            </a:r>
            <a:r>
              <a:rPr lang="en-IN" sz="2800" dirty="0">
                <a:solidFill>
                  <a:schemeClr val="tx1"/>
                </a:solidFill>
              </a:rPr>
              <a:t>declined and there set in rottenness. </a:t>
            </a:r>
            <a:endParaRPr lang="en-IN" sz="2800" dirty="0" smtClean="0">
              <a:solidFill>
                <a:schemeClr val="tx1"/>
              </a:solidFill>
            </a:endParaRPr>
          </a:p>
          <a:p>
            <a:pPr algn="just"/>
            <a:r>
              <a:rPr lang="en-IN" sz="2800" dirty="0" smtClean="0">
                <a:solidFill>
                  <a:schemeClr val="tx1"/>
                </a:solidFill>
              </a:rPr>
              <a:t>Later </a:t>
            </a:r>
            <a:r>
              <a:rPr lang="en-IN" sz="2800" dirty="0">
                <a:solidFill>
                  <a:schemeClr val="tx1"/>
                </a:solidFill>
              </a:rPr>
              <a:t>heavenly life degenerated into earthly life. </a:t>
            </a:r>
            <a:endParaRPr lang="en-IN" sz="2800" dirty="0" smtClean="0">
              <a:solidFill>
                <a:schemeClr val="tx1"/>
              </a:solidFill>
            </a:endParaRPr>
          </a:p>
          <a:p>
            <a:pPr algn="just"/>
            <a:r>
              <a:rPr lang="en-IN" sz="2800" dirty="0" smtClean="0">
                <a:solidFill>
                  <a:schemeClr val="tx1"/>
                </a:solidFill>
              </a:rPr>
              <a:t>Basic requirements as food, safety, cloth, shelter etc. took the precedence.</a:t>
            </a:r>
          </a:p>
        </p:txBody>
      </p:sp>
    </p:spTree>
    <p:extLst>
      <p:ext uri="{BB962C8B-B14F-4D97-AF65-F5344CB8AC3E}">
        <p14:creationId xmlns:p14="http://schemas.microsoft.com/office/powerpoint/2010/main" val="20541668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CONTRACT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2800" dirty="0">
                <a:solidFill>
                  <a:schemeClr val="tx1"/>
                </a:solidFill>
              </a:rPr>
              <a:t>People gradually entered into a series of </a:t>
            </a:r>
            <a:r>
              <a:rPr lang="en-IN" sz="2800" dirty="0" smtClean="0">
                <a:solidFill>
                  <a:schemeClr val="tx1"/>
                </a:solidFill>
              </a:rPr>
              <a:t>agreements(</a:t>
            </a:r>
            <a:r>
              <a:rPr lang="en-IN" sz="2800" b="1" i="1" dirty="0" smtClean="0">
                <a:solidFill>
                  <a:schemeClr val="tx1"/>
                </a:solidFill>
              </a:rPr>
              <a:t>contracts</a:t>
            </a:r>
            <a:r>
              <a:rPr lang="en-IN" sz="2800" dirty="0" smtClean="0">
                <a:solidFill>
                  <a:schemeClr val="tx1"/>
                </a:solidFill>
              </a:rPr>
              <a:t>) </a:t>
            </a:r>
            <a:r>
              <a:rPr lang="en-IN" sz="2800" dirty="0">
                <a:solidFill>
                  <a:schemeClr val="tx1"/>
                </a:solidFill>
              </a:rPr>
              <a:t>among themselves and set up the institutions of the family and private property. </a:t>
            </a:r>
            <a:endParaRPr lang="en-IN" sz="2800" dirty="0" smtClean="0">
              <a:solidFill>
                <a:schemeClr val="tx1"/>
              </a:solidFill>
            </a:endParaRPr>
          </a:p>
          <a:p>
            <a:pPr algn="just"/>
            <a:r>
              <a:rPr lang="en-IN" sz="2800" dirty="0" smtClean="0">
                <a:solidFill>
                  <a:schemeClr val="tx1"/>
                </a:solidFill>
              </a:rPr>
              <a:t>But </a:t>
            </a:r>
            <a:r>
              <a:rPr lang="en-IN" sz="2800" dirty="0">
                <a:solidFill>
                  <a:schemeClr val="tx1"/>
                </a:solidFill>
              </a:rPr>
              <a:t>this gave rise to a new set of problems, for there appeared </a:t>
            </a:r>
            <a:r>
              <a:rPr lang="en-IN" sz="2800" b="1" dirty="0">
                <a:solidFill>
                  <a:schemeClr val="tx1"/>
                </a:solidFill>
              </a:rPr>
              <a:t>theft</a:t>
            </a:r>
            <a:r>
              <a:rPr lang="en-IN" sz="2800" dirty="0">
                <a:solidFill>
                  <a:schemeClr val="tx1"/>
                </a:solidFill>
              </a:rPr>
              <a:t> and other forms of </a:t>
            </a:r>
            <a:r>
              <a:rPr lang="en-IN" sz="2800" b="1" dirty="0">
                <a:solidFill>
                  <a:schemeClr val="tx1"/>
                </a:solidFill>
              </a:rPr>
              <a:t>unsocial</a:t>
            </a:r>
            <a:r>
              <a:rPr lang="en-IN" sz="2800" dirty="0">
                <a:solidFill>
                  <a:schemeClr val="tx1"/>
                </a:solidFill>
              </a:rPr>
              <a:t> conduct. </a:t>
            </a:r>
            <a:endParaRPr lang="en-IN" sz="2800" dirty="0" smtClean="0">
              <a:solidFill>
                <a:schemeClr val="tx1"/>
              </a:solidFill>
            </a:endParaRPr>
          </a:p>
          <a:p>
            <a:pPr algn="just"/>
            <a:r>
              <a:rPr lang="en-IN" sz="2800" dirty="0" smtClean="0">
                <a:solidFill>
                  <a:schemeClr val="tx1"/>
                </a:solidFill>
              </a:rPr>
              <a:t>Therefore</a:t>
            </a:r>
            <a:r>
              <a:rPr lang="en-IN" sz="2800" dirty="0">
                <a:solidFill>
                  <a:schemeClr val="tx1"/>
                </a:solidFill>
              </a:rPr>
              <a:t>, people assembled and agreed to choose as chief a person who was the best favoured, the most attractive and the most capable. </a:t>
            </a:r>
            <a:endParaRPr lang="en-IN" sz="2800" dirty="0" smtClean="0">
              <a:solidFill>
                <a:schemeClr val="tx1"/>
              </a:solidFill>
            </a:endParaRPr>
          </a:p>
          <a:p>
            <a:pPr algn="just"/>
            <a:r>
              <a:rPr lang="en-IN" sz="2800" dirty="0" smtClean="0">
                <a:solidFill>
                  <a:schemeClr val="tx1"/>
                </a:solidFill>
              </a:rPr>
              <a:t>In </a:t>
            </a:r>
            <a:r>
              <a:rPr lang="en-IN" sz="2800" dirty="0">
                <a:solidFill>
                  <a:schemeClr val="tx1"/>
                </a:solidFill>
              </a:rPr>
              <a:t>return they agreed to contribute to him a portion of their </a:t>
            </a:r>
            <a:r>
              <a:rPr lang="en-IN" sz="2800" dirty="0" smtClean="0">
                <a:solidFill>
                  <a:schemeClr val="tx1"/>
                </a:solidFill>
              </a:rPr>
              <a:t>paddy(</a:t>
            </a:r>
            <a:r>
              <a:rPr lang="en-IN" sz="2800" b="1" dirty="0" smtClean="0">
                <a:solidFill>
                  <a:schemeClr val="tx1"/>
                </a:solidFill>
              </a:rPr>
              <a:t>tax</a:t>
            </a:r>
            <a:r>
              <a:rPr lang="en-IN" sz="2800" dirty="0" smtClean="0">
                <a:solidFill>
                  <a:schemeClr val="tx1"/>
                </a:solidFill>
              </a:rPr>
              <a:t>).</a:t>
            </a:r>
          </a:p>
        </p:txBody>
      </p:sp>
    </p:spTree>
    <p:extLst>
      <p:ext uri="{BB962C8B-B14F-4D97-AF65-F5344CB8AC3E}">
        <p14:creationId xmlns:p14="http://schemas.microsoft.com/office/powerpoint/2010/main" val="78110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CONTRACT THEORY</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2800" dirty="0">
                <a:solidFill>
                  <a:schemeClr val="tx1"/>
                </a:solidFill>
              </a:rPr>
              <a:t>The individual, who was thus elected, came to hold in serial order three titles: </a:t>
            </a:r>
            <a:endParaRPr lang="en-IN" sz="2800" dirty="0" smtClean="0">
              <a:solidFill>
                <a:schemeClr val="tx1"/>
              </a:solidFill>
            </a:endParaRPr>
          </a:p>
          <a:p>
            <a:pPr lvl="1" algn="just"/>
            <a:r>
              <a:rPr lang="en-IN" sz="2600" b="1" i="1" dirty="0" err="1" smtClean="0">
                <a:solidFill>
                  <a:schemeClr val="tx1"/>
                </a:solidFill>
              </a:rPr>
              <a:t>Mahasammata</a:t>
            </a:r>
            <a:r>
              <a:rPr lang="en-IN" sz="2600" dirty="0" smtClean="0">
                <a:solidFill>
                  <a:schemeClr val="tx1"/>
                </a:solidFill>
              </a:rPr>
              <a:t> means chosen by the people.</a:t>
            </a:r>
          </a:p>
          <a:p>
            <a:pPr lvl="1" algn="just"/>
            <a:r>
              <a:rPr lang="en-IN" sz="2600" b="1" i="1" dirty="0" err="1" smtClean="0">
                <a:solidFill>
                  <a:schemeClr val="tx1"/>
                </a:solidFill>
              </a:rPr>
              <a:t>Khattiya</a:t>
            </a:r>
            <a:r>
              <a:rPr lang="en-IN" sz="2600" dirty="0" smtClean="0">
                <a:solidFill>
                  <a:schemeClr val="tx1"/>
                </a:solidFill>
              </a:rPr>
              <a:t> means lord of the fields or warrior or who perfectly works in the fields.</a:t>
            </a:r>
          </a:p>
          <a:p>
            <a:pPr lvl="1" algn="just"/>
            <a:r>
              <a:rPr lang="en-IN" sz="2600" b="1" i="1" dirty="0" smtClean="0">
                <a:solidFill>
                  <a:schemeClr val="tx1"/>
                </a:solidFill>
              </a:rPr>
              <a:t>Raja</a:t>
            </a:r>
            <a:r>
              <a:rPr lang="en-IN" sz="2600" dirty="0" smtClean="0">
                <a:solidFill>
                  <a:schemeClr val="tx1"/>
                </a:solidFill>
              </a:rPr>
              <a:t> means one who charms the people by means of </a:t>
            </a:r>
            <a:r>
              <a:rPr lang="en-IN" sz="2600" b="1" i="1" dirty="0" smtClean="0">
                <a:solidFill>
                  <a:schemeClr val="tx1"/>
                </a:solidFill>
              </a:rPr>
              <a:t>dharma</a:t>
            </a:r>
            <a:r>
              <a:rPr lang="en-IN" sz="2600" dirty="0" smtClean="0">
                <a:solidFill>
                  <a:schemeClr val="tx1"/>
                </a:solidFill>
              </a:rPr>
              <a:t>.</a:t>
            </a:r>
          </a:p>
        </p:txBody>
      </p:sp>
    </p:spTree>
    <p:extLst>
      <p:ext uri="{BB962C8B-B14F-4D97-AF65-F5344CB8AC3E}">
        <p14:creationId xmlns:p14="http://schemas.microsoft.com/office/powerpoint/2010/main" val="10726846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STATE IN ANCIENT INDIA : CONTRACT THEORY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3200" dirty="0" smtClean="0">
                <a:solidFill>
                  <a:schemeClr val="tx1"/>
                </a:solidFill>
              </a:rPr>
              <a:t>The king has been assigned the tasks :</a:t>
            </a:r>
          </a:p>
          <a:p>
            <a:pPr lvl="1" algn="just"/>
            <a:r>
              <a:rPr lang="en-IN" sz="2800" dirty="0" smtClean="0">
                <a:solidFill>
                  <a:schemeClr val="tx1"/>
                </a:solidFill>
              </a:rPr>
              <a:t>To punish the wicked people when they break the law.</a:t>
            </a:r>
          </a:p>
          <a:p>
            <a:pPr lvl="1" algn="just"/>
            <a:r>
              <a:rPr lang="en-IN" sz="2800" dirty="0" smtClean="0">
                <a:solidFill>
                  <a:schemeClr val="tx1"/>
                </a:solidFill>
              </a:rPr>
              <a:t>To check the encroachment of the land &amp; private property.</a:t>
            </a:r>
          </a:p>
          <a:p>
            <a:pPr lvl="1" algn="just"/>
            <a:r>
              <a:rPr lang="en-IN" sz="2800" dirty="0" smtClean="0">
                <a:solidFill>
                  <a:schemeClr val="tx1"/>
                </a:solidFill>
              </a:rPr>
              <a:t>Positive obligation of charming &amp; pleasing the people.</a:t>
            </a:r>
          </a:p>
          <a:p>
            <a:pPr algn="just"/>
            <a:r>
              <a:rPr lang="en-IN" sz="3200" dirty="0" smtClean="0">
                <a:solidFill>
                  <a:schemeClr val="tx1"/>
                </a:solidFill>
              </a:rPr>
              <a:t>The people or the </a:t>
            </a:r>
            <a:r>
              <a:rPr lang="en-IN" sz="3200" b="1" i="1" dirty="0" err="1" smtClean="0">
                <a:solidFill>
                  <a:schemeClr val="tx1"/>
                </a:solidFill>
              </a:rPr>
              <a:t>praja</a:t>
            </a:r>
            <a:r>
              <a:rPr lang="en-IN" sz="3200" b="1" i="1" dirty="0" smtClean="0">
                <a:solidFill>
                  <a:schemeClr val="tx1"/>
                </a:solidFill>
              </a:rPr>
              <a:t> </a:t>
            </a:r>
            <a:r>
              <a:rPr lang="en-IN" sz="3200" dirty="0" smtClean="0">
                <a:solidFill>
                  <a:schemeClr val="tx1"/>
                </a:solidFill>
              </a:rPr>
              <a:t>had the obligation of paying a part of paddy (or what ever they produce). The texts suggest this to be </a:t>
            </a:r>
            <a:r>
              <a:rPr lang="en-IN" sz="3200" b="1" i="1" dirty="0" smtClean="0">
                <a:solidFill>
                  <a:schemeClr val="tx1"/>
                </a:solidFill>
              </a:rPr>
              <a:t>one-sixth(1/6)</a:t>
            </a:r>
            <a:r>
              <a:rPr lang="en-IN" sz="3200" dirty="0" smtClean="0">
                <a:solidFill>
                  <a:schemeClr val="tx1"/>
                </a:solidFill>
              </a:rPr>
              <a:t> part.</a:t>
            </a:r>
            <a:endParaRPr lang="en-IN" sz="3200" b="1" i="1" dirty="0" smtClean="0">
              <a:solidFill>
                <a:schemeClr val="tx1"/>
              </a:solidFill>
            </a:endParaRPr>
          </a:p>
          <a:p>
            <a:pPr algn="just"/>
            <a:endParaRPr lang="en-IN" sz="2800" dirty="0" smtClean="0">
              <a:solidFill>
                <a:schemeClr val="tx1"/>
              </a:solidFill>
            </a:endParaRPr>
          </a:p>
        </p:txBody>
      </p:sp>
    </p:spTree>
    <p:extLst>
      <p:ext uri="{BB962C8B-B14F-4D97-AF65-F5344CB8AC3E}">
        <p14:creationId xmlns:p14="http://schemas.microsoft.com/office/powerpoint/2010/main" val="18723142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STAGES OF STATE FORMATION IN ANCIENT INDIA </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a:solidFill>
                  <a:schemeClr val="tx1"/>
                </a:solidFill>
              </a:rPr>
              <a:t>Six main stages in the history of ancient Indian polity can be identified. </a:t>
            </a:r>
            <a:endParaRPr lang="en-IN" sz="2800" dirty="0" smtClean="0">
              <a:solidFill>
                <a:schemeClr val="tx1"/>
              </a:solidFill>
            </a:endParaRPr>
          </a:p>
          <a:p>
            <a:pPr lvl="1" algn="just"/>
            <a:r>
              <a:rPr lang="en-IN" sz="2400" dirty="0" smtClean="0">
                <a:solidFill>
                  <a:schemeClr val="tx1"/>
                </a:solidFill>
              </a:rPr>
              <a:t>The </a:t>
            </a:r>
            <a:r>
              <a:rPr lang="en-IN" sz="2400" b="1" dirty="0" smtClean="0">
                <a:solidFill>
                  <a:schemeClr val="tx1"/>
                </a:solidFill>
              </a:rPr>
              <a:t>earliest(first)</a:t>
            </a:r>
            <a:r>
              <a:rPr lang="en-IN" sz="2400" dirty="0" smtClean="0">
                <a:solidFill>
                  <a:schemeClr val="tx1"/>
                </a:solidFill>
              </a:rPr>
              <a:t> </a:t>
            </a:r>
            <a:r>
              <a:rPr lang="en-IN" sz="2400" dirty="0">
                <a:solidFill>
                  <a:schemeClr val="tx1"/>
                </a:solidFill>
              </a:rPr>
              <a:t>stage was that of </a:t>
            </a:r>
            <a:r>
              <a:rPr lang="en-IN" sz="2400" b="1" dirty="0">
                <a:solidFill>
                  <a:schemeClr val="tx1"/>
                </a:solidFill>
              </a:rPr>
              <a:t>tribal military democracy </a:t>
            </a:r>
            <a:r>
              <a:rPr lang="en-IN" sz="2400" dirty="0">
                <a:solidFill>
                  <a:schemeClr val="tx1"/>
                </a:solidFill>
              </a:rPr>
              <a:t>in which tribal assemblies, which had some place for women were mainly pre-occupied with war. The age of </a:t>
            </a:r>
            <a:r>
              <a:rPr lang="en-IN" sz="2400" b="1" i="1" dirty="0">
                <a:solidFill>
                  <a:schemeClr val="tx1"/>
                </a:solidFill>
              </a:rPr>
              <a:t>Rig Veda </a:t>
            </a:r>
            <a:r>
              <a:rPr lang="en-IN" sz="2400" dirty="0">
                <a:solidFill>
                  <a:schemeClr val="tx1"/>
                </a:solidFill>
              </a:rPr>
              <a:t>was primarily a period of assemblies. </a:t>
            </a:r>
            <a:endParaRPr lang="en-IN" sz="2400" dirty="0" smtClean="0">
              <a:solidFill>
                <a:schemeClr val="tx1"/>
              </a:solidFill>
            </a:endParaRPr>
          </a:p>
          <a:p>
            <a:pPr lvl="1" algn="just"/>
            <a:r>
              <a:rPr lang="en-IN" sz="2400" dirty="0">
                <a:solidFill>
                  <a:schemeClr val="tx1"/>
                </a:solidFill>
              </a:rPr>
              <a:t>The </a:t>
            </a:r>
            <a:r>
              <a:rPr lang="en-IN" sz="2400" b="1" dirty="0">
                <a:solidFill>
                  <a:schemeClr val="tx1"/>
                </a:solidFill>
              </a:rPr>
              <a:t>second stage </a:t>
            </a:r>
            <a:r>
              <a:rPr lang="en-IN" sz="2400" dirty="0">
                <a:solidFill>
                  <a:schemeClr val="tx1"/>
                </a:solidFill>
              </a:rPr>
              <a:t>saw the </a:t>
            </a:r>
            <a:r>
              <a:rPr lang="en-IN" sz="2400" b="1" dirty="0">
                <a:solidFill>
                  <a:schemeClr val="tx1"/>
                </a:solidFill>
              </a:rPr>
              <a:t>break-up of the tribal polity under the stress of constant conflicts</a:t>
            </a:r>
            <a:r>
              <a:rPr lang="en-IN" sz="2400" dirty="0">
                <a:solidFill>
                  <a:schemeClr val="tx1"/>
                </a:solidFill>
              </a:rPr>
              <a:t> between the </a:t>
            </a:r>
            <a:r>
              <a:rPr lang="en-IN" sz="2400" dirty="0" smtClean="0">
                <a:solidFill>
                  <a:schemeClr val="tx1"/>
                </a:solidFill>
              </a:rPr>
              <a:t>kings and </a:t>
            </a:r>
            <a:r>
              <a:rPr lang="en-IN" sz="2400" dirty="0">
                <a:solidFill>
                  <a:schemeClr val="tx1"/>
                </a:solidFill>
              </a:rPr>
              <a:t>the ordinary </a:t>
            </a:r>
            <a:r>
              <a:rPr lang="en-IN" sz="2400" dirty="0" smtClean="0">
                <a:solidFill>
                  <a:schemeClr val="tx1"/>
                </a:solidFill>
              </a:rPr>
              <a:t>businessman. </a:t>
            </a:r>
            <a:r>
              <a:rPr lang="en-IN" sz="2400" dirty="0">
                <a:solidFill>
                  <a:schemeClr val="tx1"/>
                </a:solidFill>
              </a:rPr>
              <a:t>The chiefs were helped by the priesthood called the </a:t>
            </a:r>
            <a:r>
              <a:rPr lang="en-IN" sz="2400" b="1" i="1" dirty="0" smtClean="0">
                <a:solidFill>
                  <a:schemeClr val="tx1"/>
                </a:solidFill>
              </a:rPr>
              <a:t>Brahmins</a:t>
            </a:r>
            <a:r>
              <a:rPr lang="en-IN" sz="2400" dirty="0" smtClean="0">
                <a:solidFill>
                  <a:schemeClr val="tx1"/>
                </a:solidFill>
              </a:rPr>
              <a:t>. </a:t>
            </a:r>
            <a:r>
              <a:rPr lang="en-IN" sz="2400" dirty="0">
                <a:solidFill>
                  <a:schemeClr val="tx1"/>
                </a:solidFill>
              </a:rPr>
              <a:t>This stage saw the beginning of </a:t>
            </a:r>
            <a:r>
              <a:rPr lang="en-IN" sz="2400" b="1" dirty="0" smtClean="0">
                <a:solidFill>
                  <a:schemeClr val="tx1"/>
                </a:solidFill>
              </a:rPr>
              <a:t>taxes </a:t>
            </a:r>
            <a:r>
              <a:rPr lang="en-IN" sz="2400" dirty="0" smtClean="0">
                <a:solidFill>
                  <a:schemeClr val="tx1"/>
                </a:solidFill>
              </a:rPr>
              <a:t>and </a:t>
            </a:r>
            <a:r>
              <a:rPr lang="en-IN" sz="2400" b="1" dirty="0" smtClean="0">
                <a:solidFill>
                  <a:schemeClr val="tx1"/>
                </a:solidFill>
              </a:rPr>
              <a:t>casteism </a:t>
            </a:r>
            <a:r>
              <a:rPr lang="en-IN" sz="2400" dirty="0">
                <a:solidFill>
                  <a:schemeClr val="tx1"/>
                </a:solidFill>
              </a:rPr>
              <a:t>or </a:t>
            </a:r>
            <a:r>
              <a:rPr lang="en-IN" sz="2400" b="1" i="1" dirty="0" smtClean="0">
                <a:solidFill>
                  <a:schemeClr val="tx1"/>
                </a:solidFill>
              </a:rPr>
              <a:t>Varna</a:t>
            </a:r>
            <a:r>
              <a:rPr lang="en-IN" sz="2400" dirty="0" smtClean="0">
                <a:solidFill>
                  <a:schemeClr val="tx1"/>
                </a:solidFill>
              </a:rPr>
              <a:t> </a:t>
            </a:r>
            <a:r>
              <a:rPr lang="en-IN" sz="2400" dirty="0">
                <a:solidFill>
                  <a:schemeClr val="tx1"/>
                </a:solidFill>
              </a:rPr>
              <a:t>which came to be firmly established in the third </a:t>
            </a:r>
            <a:r>
              <a:rPr lang="en-IN" sz="2400" dirty="0" smtClean="0">
                <a:solidFill>
                  <a:schemeClr val="tx1"/>
                </a:solidFill>
              </a:rPr>
              <a:t>stage.</a:t>
            </a:r>
          </a:p>
        </p:txBody>
      </p:sp>
    </p:spTree>
    <p:extLst>
      <p:ext uri="{BB962C8B-B14F-4D97-AF65-F5344CB8AC3E}">
        <p14:creationId xmlns:p14="http://schemas.microsoft.com/office/powerpoint/2010/main" val="36734075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STAGES OF STATE FORMATION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lvl="1" algn="just"/>
            <a:r>
              <a:rPr lang="en-IN" sz="2800" dirty="0">
                <a:solidFill>
                  <a:schemeClr val="tx1"/>
                </a:solidFill>
              </a:rPr>
              <a:t>The </a:t>
            </a:r>
            <a:r>
              <a:rPr lang="en-IN" sz="2800" b="1" dirty="0">
                <a:solidFill>
                  <a:schemeClr val="tx1"/>
                </a:solidFill>
              </a:rPr>
              <a:t>third stage </a:t>
            </a:r>
            <a:r>
              <a:rPr lang="en-IN" sz="2800" dirty="0">
                <a:solidFill>
                  <a:schemeClr val="tx1"/>
                </a:solidFill>
              </a:rPr>
              <a:t>was marked by the formation of the full-fledged state. There arose large territorial monarchies of </a:t>
            </a:r>
            <a:r>
              <a:rPr lang="en-IN" sz="2800" b="1" i="1" dirty="0">
                <a:solidFill>
                  <a:schemeClr val="tx1"/>
                </a:solidFill>
              </a:rPr>
              <a:t>Kosala</a:t>
            </a:r>
            <a:r>
              <a:rPr lang="en-IN" sz="2800" dirty="0">
                <a:solidFill>
                  <a:schemeClr val="tx1"/>
                </a:solidFill>
              </a:rPr>
              <a:t> and </a:t>
            </a:r>
            <a:r>
              <a:rPr lang="en-IN" sz="2800" b="1" i="1" dirty="0">
                <a:solidFill>
                  <a:schemeClr val="tx1"/>
                </a:solidFill>
              </a:rPr>
              <a:t>Magadha</a:t>
            </a:r>
            <a:r>
              <a:rPr lang="en-IN" sz="2800" dirty="0">
                <a:solidFill>
                  <a:schemeClr val="tx1"/>
                </a:solidFill>
              </a:rPr>
              <a:t> and </a:t>
            </a:r>
            <a:r>
              <a:rPr lang="en-IN" sz="2800" b="1" i="1" dirty="0">
                <a:solidFill>
                  <a:schemeClr val="tx1"/>
                </a:solidFill>
              </a:rPr>
              <a:t>tribal oligarchies </a:t>
            </a:r>
            <a:r>
              <a:rPr lang="en-IN" sz="2800" dirty="0">
                <a:solidFill>
                  <a:schemeClr val="tx1"/>
                </a:solidFill>
              </a:rPr>
              <a:t>in North-Western India and at the foot of the Himalayas. For the first time we </a:t>
            </a:r>
            <a:r>
              <a:rPr lang="en-IN" sz="2800" dirty="0" smtClean="0">
                <a:solidFill>
                  <a:schemeClr val="tx1"/>
                </a:solidFill>
              </a:rPr>
              <a:t>heard </a:t>
            </a:r>
            <a:r>
              <a:rPr lang="en-IN" sz="2800" dirty="0">
                <a:solidFill>
                  <a:schemeClr val="tx1"/>
                </a:solidFill>
              </a:rPr>
              <a:t>of</a:t>
            </a:r>
            <a:r>
              <a:rPr lang="en-IN" sz="2800" b="1" dirty="0">
                <a:solidFill>
                  <a:schemeClr val="tx1"/>
                </a:solidFill>
              </a:rPr>
              <a:t> large standing armies and organised machinery for the collection of land revenue</a:t>
            </a:r>
            <a:r>
              <a:rPr lang="en-IN" sz="2800" b="1" dirty="0" smtClean="0">
                <a:solidFill>
                  <a:schemeClr val="tx1"/>
                </a:solidFill>
              </a:rPr>
              <a:t>.</a:t>
            </a:r>
          </a:p>
          <a:p>
            <a:pPr lvl="1" algn="just"/>
            <a:r>
              <a:rPr lang="en-IN" sz="2800" dirty="0">
                <a:solidFill>
                  <a:schemeClr val="tx1"/>
                </a:solidFill>
              </a:rPr>
              <a:t>The </a:t>
            </a:r>
            <a:r>
              <a:rPr lang="en-IN" sz="2800" b="1" dirty="0" smtClean="0">
                <a:solidFill>
                  <a:schemeClr val="tx1"/>
                </a:solidFill>
              </a:rPr>
              <a:t>fourth stage </a:t>
            </a:r>
            <a:r>
              <a:rPr lang="en-IN" sz="2800" dirty="0">
                <a:solidFill>
                  <a:schemeClr val="tx1"/>
                </a:solidFill>
              </a:rPr>
              <a:t>or the </a:t>
            </a:r>
            <a:r>
              <a:rPr lang="en-IN" sz="2800" b="1" i="1" dirty="0">
                <a:solidFill>
                  <a:schemeClr val="tx1"/>
                </a:solidFill>
              </a:rPr>
              <a:t>Maurya</a:t>
            </a:r>
            <a:r>
              <a:rPr lang="en-IN" sz="2800" dirty="0">
                <a:solidFill>
                  <a:schemeClr val="tx1"/>
                </a:solidFill>
              </a:rPr>
              <a:t> phase saw </a:t>
            </a:r>
            <a:r>
              <a:rPr lang="en-IN" sz="2800" b="1" dirty="0">
                <a:solidFill>
                  <a:schemeClr val="tx1"/>
                </a:solidFill>
              </a:rPr>
              <a:t>bureaucratic centralisation</a:t>
            </a:r>
            <a:r>
              <a:rPr lang="en-IN" sz="2800" dirty="0">
                <a:solidFill>
                  <a:schemeClr val="tx1"/>
                </a:solidFill>
              </a:rPr>
              <a:t> based on the expanding economic activities of the state. The state with the help of its bureaucracy controlled various aspects of the life of its subjects. </a:t>
            </a:r>
            <a:endParaRPr lang="en-IN" sz="2800" dirty="0" smtClean="0">
              <a:solidFill>
                <a:schemeClr val="tx1"/>
              </a:solidFill>
            </a:endParaRPr>
          </a:p>
        </p:txBody>
      </p:sp>
    </p:spTree>
    <p:extLst>
      <p:ext uri="{BB962C8B-B14F-4D97-AF65-F5344CB8AC3E}">
        <p14:creationId xmlns:p14="http://schemas.microsoft.com/office/powerpoint/2010/main" val="14291651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STAGES OF STATE FORMATION IN ANCIENT INDIA </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lvl="1" algn="just"/>
            <a:r>
              <a:rPr lang="en-IN" sz="2800" dirty="0">
                <a:solidFill>
                  <a:schemeClr val="tx1"/>
                </a:solidFill>
              </a:rPr>
              <a:t>The </a:t>
            </a:r>
            <a:r>
              <a:rPr lang="en-IN" sz="2800" b="1" dirty="0">
                <a:solidFill>
                  <a:schemeClr val="tx1"/>
                </a:solidFill>
              </a:rPr>
              <a:t>fifth stage </a:t>
            </a:r>
            <a:r>
              <a:rPr lang="en-IN" sz="2800" dirty="0">
                <a:solidFill>
                  <a:schemeClr val="tx1"/>
                </a:solidFill>
              </a:rPr>
              <a:t>was marked by the process of </a:t>
            </a:r>
            <a:r>
              <a:rPr lang="en-IN" sz="2800" b="1" dirty="0">
                <a:solidFill>
                  <a:schemeClr val="tx1"/>
                </a:solidFill>
              </a:rPr>
              <a:t>decentralised administration </a:t>
            </a:r>
            <a:r>
              <a:rPr lang="en-IN" sz="2800" dirty="0">
                <a:solidFill>
                  <a:schemeClr val="tx1"/>
                </a:solidFill>
              </a:rPr>
              <a:t>in which towns, feudatories and military elements came to the forefront in both the Deccan and North India</a:t>
            </a:r>
            <a:r>
              <a:rPr lang="en-IN" sz="2800" dirty="0" smtClean="0">
                <a:solidFill>
                  <a:schemeClr val="tx1"/>
                </a:solidFill>
              </a:rPr>
              <a:t>.. </a:t>
            </a:r>
          </a:p>
          <a:p>
            <a:pPr lvl="1" algn="just"/>
            <a:r>
              <a:rPr lang="en-IN" sz="2800" dirty="0" smtClean="0">
                <a:solidFill>
                  <a:schemeClr val="tx1"/>
                </a:solidFill>
              </a:rPr>
              <a:t>The </a:t>
            </a:r>
            <a:r>
              <a:rPr lang="en-IN" sz="2800" b="1" dirty="0">
                <a:solidFill>
                  <a:schemeClr val="tx1"/>
                </a:solidFill>
              </a:rPr>
              <a:t>last </a:t>
            </a:r>
            <a:r>
              <a:rPr lang="en-IN" sz="2800" b="1" dirty="0" smtClean="0">
                <a:solidFill>
                  <a:schemeClr val="tx1"/>
                </a:solidFill>
              </a:rPr>
              <a:t>stage or sixth stage</a:t>
            </a:r>
            <a:r>
              <a:rPr lang="en-IN" sz="2800" dirty="0" smtClean="0">
                <a:solidFill>
                  <a:schemeClr val="tx1"/>
                </a:solidFill>
              </a:rPr>
              <a:t>, </a:t>
            </a:r>
            <a:r>
              <a:rPr lang="en-IN" sz="2800" dirty="0">
                <a:solidFill>
                  <a:schemeClr val="tx1"/>
                </a:solidFill>
              </a:rPr>
              <a:t>identical with the </a:t>
            </a:r>
            <a:r>
              <a:rPr lang="en-IN" sz="2800" b="1" i="1" dirty="0">
                <a:solidFill>
                  <a:schemeClr val="tx1"/>
                </a:solidFill>
              </a:rPr>
              <a:t>Gupta</a:t>
            </a:r>
            <a:r>
              <a:rPr lang="en-IN" sz="2800" dirty="0">
                <a:solidFill>
                  <a:schemeClr val="tx1"/>
                </a:solidFill>
              </a:rPr>
              <a:t> period, may be called the period of </a:t>
            </a:r>
            <a:r>
              <a:rPr lang="en-IN" sz="2800" b="1" dirty="0">
                <a:solidFill>
                  <a:schemeClr val="tx1"/>
                </a:solidFill>
              </a:rPr>
              <a:t>proto-feudal polity</a:t>
            </a:r>
            <a:r>
              <a:rPr lang="en-IN" sz="2800" dirty="0">
                <a:solidFill>
                  <a:schemeClr val="tx1"/>
                </a:solidFill>
              </a:rPr>
              <a:t>. Land grants now played an important part in the formation of the political structure and those made by the Gupta feudatories conferred </a:t>
            </a:r>
            <a:r>
              <a:rPr lang="en-IN" sz="2800" b="1" dirty="0">
                <a:solidFill>
                  <a:schemeClr val="tx1"/>
                </a:solidFill>
              </a:rPr>
              <a:t>fiscal and administrative privileges </a:t>
            </a:r>
            <a:r>
              <a:rPr lang="en-IN" sz="2800" dirty="0">
                <a:solidFill>
                  <a:schemeClr val="tx1"/>
                </a:solidFill>
              </a:rPr>
              <a:t>on priestly beneficiaries. </a:t>
            </a:r>
            <a:endParaRPr lang="en-IN" sz="2800" dirty="0" smtClean="0">
              <a:solidFill>
                <a:schemeClr val="tx1"/>
              </a:solidFill>
            </a:endParaRPr>
          </a:p>
        </p:txBody>
      </p:sp>
    </p:spTree>
    <p:extLst>
      <p:ext uri="{BB962C8B-B14F-4D97-AF65-F5344CB8AC3E}">
        <p14:creationId xmlns:p14="http://schemas.microsoft.com/office/powerpoint/2010/main" val="7516056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815350"/>
          </a:xfrm>
        </p:spPr>
        <p:txBody>
          <a:bodyPr>
            <a:normAutofit/>
          </a:bodyPr>
          <a:lstStyle/>
          <a:p>
            <a:r>
              <a:rPr lang="en-IN" dirty="0" smtClean="0"/>
              <a:t>Seven limbs of a state</a:t>
            </a:r>
            <a:endParaRPr lang="en-IN" dirty="0"/>
          </a:p>
        </p:txBody>
      </p:sp>
      <p:sp>
        <p:nvSpPr>
          <p:cNvPr id="3" name="Content Placeholder 2"/>
          <p:cNvSpPr>
            <a:spLocks noGrp="1"/>
          </p:cNvSpPr>
          <p:nvPr>
            <p:ph idx="1"/>
          </p:nvPr>
        </p:nvSpPr>
        <p:spPr>
          <a:xfrm>
            <a:off x="1084252" y="1344110"/>
            <a:ext cx="10178322" cy="4729317"/>
          </a:xfrm>
        </p:spPr>
        <p:txBody>
          <a:bodyPr>
            <a:noAutofit/>
          </a:bodyPr>
          <a:lstStyle/>
          <a:p>
            <a:pPr marL="0" indent="0" algn="just">
              <a:buNone/>
            </a:pPr>
            <a:r>
              <a:rPr lang="en-IN" sz="2800" dirty="0" smtClean="0">
                <a:solidFill>
                  <a:schemeClr val="tx1"/>
                </a:solidFill>
              </a:rPr>
              <a:t>In </a:t>
            </a:r>
            <a:r>
              <a:rPr lang="en-IN" sz="2800" dirty="0">
                <a:solidFill>
                  <a:schemeClr val="tx1"/>
                </a:solidFill>
              </a:rPr>
              <a:t>the </a:t>
            </a:r>
            <a:r>
              <a:rPr lang="en-IN" sz="2800" b="1" i="1" dirty="0" err="1" smtClean="0">
                <a:solidFill>
                  <a:schemeClr val="tx1"/>
                </a:solidFill>
              </a:rPr>
              <a:t>Saptanga</a:t>
            </a:r>
            <a:r>
              <a:rPr lang="en-IN" sz="2800" dirty="0" smtClean="0">
                <a:solidFill>
                  <a:schemeClr val="tx1"/>
                </a:solidFill>
              </a:rPr>
              <a:t> </a:t>
            </a:r>
            <a:r>
              <a:rPr lang="en-IN" sz="2800" dirty="0">
                <a:solidFill>
                  <a:schemeClr val="tx1"/>
                </a:solidFill>
              </a:rPr>
              <a:t>theory of the state, developed by </a:t>
            </a:r>
            <a:r>
              <a:rPr lang="en-IN" sz="2800" b="1" i="1" dirty="0" err="1">
                <a:solidFill>
                  <a:schemeClr val="tx1"/>
                </a:solidFill>
              </a:rPr>
              <a:t>Kautilya</a:t>
            </a:r>
            <a:r>
              <a:rPr lang="en-IN" sz="2800" dirty="0">
                <a:solidFill>
                  <a:schemeClr val="tx1"/>
                </a:solidFill>
              </a:rPr>
              <a:t> </a:t>
            </a:r>
            <a:r>
              <a:rPr lang="en-IN" sz="2800" dirty="0" smtClean="0">
                <a:solidFill>
                  <a:schemeClr val="tx1"/>
                </a:solidFill>
              </a:rPr>
              <a:t>there are seven limbs of the state:</a:t>
            </a:r>
          </a:p>
          <a:p>
            <a:pPr algn="just">
              <a:buFontTx/>
              <a:buChar char="-"/>
            </a:pPr>
            <a:r>
              <a:rPr lang="en-US" sz="2800" dirty="0" smtClean="0">
                <a:solidFill>
                  <a:schemeClr val="tx1"/>
                </a:solidFill>
              </a:rPr>
              <a:t>The Ruler</a:t>
            </a:r>
          </a:p>
          <a:p>
            <a:pPr algn="just">
              <a:buFontTx/>
              <a:buChar char="-"/>
            </a:pPr>
            <a:r>
              <a:rPr lang="en-US" sz="2800" dirty="0" smtClean="0">
                <a:solidFill>
                  <a:schemeClr val="tx1"/>
                </a:solidFill>
              </a:rPr>
              <a:t>The Ministers</a:t>
            </a:r>
          </a:p>
          <a:p>
            <a:pPr algn="just">
              <a:buFontTx/>
              <a:buChar char="-"/>
            </a:pPr>
            <a:r>
              <a:rPr lang="en-US" sz="2800" dirty="0" smtClean="0">
                <a:solidFill>
                  <a:schemeClr val="tx1"/>
                </a:solidFill>
              </a:rPr>
              <a:t>Territory and Population</a:t>
            </a:r>
          </a:p>
          <a:p>
            <a:pPr algn="just">
              <a:buFontTx/>
              <a:buChar char="-"/>
            </a:pPr>
            <a:r>
              <a:rPr lang="en-US" sz="2800" dirty="0" smtClean="0">
                <a:solidFill>
                  <a:schemeClr val="tx1"/>
                </a:solidFill>
              </a:rPr>
              <a:t>Capital City</a:t>
            </a:r>
          </a:p>
          <a:p>
            <a:pPr algn="just">
              <a:buFontTx/>
              <a:buChar char="-"/>
            </a:pPr>
            <a:r>
              <a:rPr lang="en-US" sz="2800" dirty="0" smtClean="0">
                <a:solidFill>
                  <a:schemeClr val="tx1"/>
                </a:solidFill>
              </a:rPr>
              <a:t>Treasury</a:t>
            </a:r>
          </a:p>
          <a:p>
            <a:pPr algn="just">
              <a:buFontTx/>
              <a:buChar char="-"/>
            </a:pPr>
            <a:r>
              <a:rPr lang="en-US" sz="2800" dirty="0" smtClean="0">
                <a:solidFill>
                  <a:schemeClr val="tx1"/>
                </a:solidFill>
              </a:rPr>
              <a:t>Judiciary or the Coercive power of a state</a:t>
            </a:r>
          </a:p>
          <a:p>
            <a:pPr algn="just">
              <a:buFontTx/>
              <a:buChar char="-"/>
            </a:pPr>
            <a:r>
              <a:rPr lang="en-US" sz="2800" dirty="0" smtClean="0">
                <a:solidFill>
                  <a:schemeClr val="tx1"/>
                </a:solidFill>
              </a:rPr>
              <a:t>Allies and Friendly states</a:t>
            </a:r>
          </a:p>
          <a:p>
            <a:pPr marL="0" indent="0" algn="just">
              <a:buNone/>
            </a:pPr>
            <a:endParaRPr lang="en-US" sz="2800" dirty="0" smtClean="0">
              <a:solidFill>
                <a:schemeClr val="tx1"/>
              </a:solidFill>
            </a:endParaRPr>
          </a:p>
          <a:p>
            <a:pPr algn="just">
              <a:buFontTx/>
              <a:buChar char="-"/>
            </a:pPr>
            <a:endParaRPr lang="en-IN" sz="2800" dirty="0" smtClean="0">
              <a:solidFill>
                <a:schemeClr val="tx1"/>
              </a:solidFill>
            </a:endParaRPr>
          </a:p>
        </p:txBody>
      </p:sp>
    </p:spTree>
    <p:extLst>
      <p:ext uri="{BB962C8B-B14F-4D97-AF65-F5344CB8AC3E}">
        <p14:creationId xmlns:p14="http://schemas.microsoft.com/office/powerpoint/2010/main" val="42456093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KINGSHIP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2800" dirty="0">
                <a:solidFill>
                  <a:schemeClr val="tx1"/>
                </a:solidFill>
              </a:rPr>
              <a:t>The king was the most important figure in the body politic. In the </a:t>
            </a:r>
            <a:r>
              <a:rPr lang="en-IN" sz="2800" b="1" i="1" dirty="0" err="1" smtClean="0">
                <a:solidFill>
                  <a:schemeClr val="tx1"/>
                </a:solidFill>
              </a:rPr>
              <a:t>Saptanga</a:t>
            </a:r>
            <a:r>
              <a:rPr lang="en-IN" sz="2800" dirty="0" smtClean="0">
                <a:solidFill>
                  <a:schemeClr val="tx1"/>
                </a:solidFill>
              </a:rPr>
              <a:t> </a:t>
            </a:r>
            <a:r>
              <a:rPr lang="en-IN" sz="2800" dirty="0">
                <a:solidFill>
                  <a:schemeClr val="tx1"/>
                </a:solidFill>
              </a:rPr>
              <a:t>theory of the state, developed by </a:t>
            </a:r>
            <a:r>
              <a:rPr lang="en-IN" sz="2800" b="1" i="1" dirty="0" err="1">
                <a:solidFill>
                  <a:schemeClr val="tx1"/>
                </a:solidFill>
              </a:rPr>
              <a:t>Kautilya</a:t>
            </a:r>
            <a:r>
              <a:rPr lang="en-IN" sz="2800" dirty="0">
                <a:solidFill>
                  <a:schemeClr val="tx1"/>
                </a:solidFill>
              </a:rPr>
              <a:t> the king has been described as the head or the most important organ of the </a:t>
            </a:r>
            <a:r>
              <a:rPr lang="en-IN" sz="2800" dirty="0" smtClean="0">
                <a:solidFill>
                  <a:schemeClr val="tx1"/>
                </a:solidFill>
              </a:rPr>
              <a:t>state. The major functions are :</a:t>
            </a:r>
          </a:p>
          <a:p>
            <a:pPr lvl="1" algn="just">
              <a:buFont typeface="Wingdings" panose="05000000000000000000" pitchFamily="2" charset="2"/>
              <a:buChar char="ü"/>
            </a:pPr>
            <a:r>
              <a:rPr lang="en-IN" sz="2400" dirty="0" smtClean="0">
                <a:solidFill>
                  <a:schemeClr val="tx1"/>
                </a:solidFill>
              </a:rPr>
              <a:t>Protection of the kingdom against the external aggression.</a:t>
            </a:r>
          </a:p>
          <a:p>
            <a:pPr lvl="1" algn="just">
              <a:buFont typeface="Wingdings" panose="05000000000000000000" pitchFamily="2" charset="2"/>
              <a:buChar char="ü"/>
            </a:pPr>
            <a:r>
              <a:rPr lang="en-IN" sz="2400" dirty="0" smtClean="0">
                <a:solidFill>
                  <a:schemeClr val="tx1"/>
                </a:solidFill>
              </a:rPr>
              <a:t>Protection of life of people, property &amp; tradition against internal foes.</a:t>
            </a:r>
          </a:p>
          <a:p>
            <a:pPr lvl="1" algn="just">
              <a:buFont typeface="Wingdings" panose="05000000000000000000" pitchFamily="2" charset="2"/>
              <a:buChar char="ü"/>
            </a:pPr>
            <a:r>
              <a:rPr lang="en-IN" sz="2400" dirty="0" smtClean="0">
                <a:solidFill>
                  <a:schemeClr val="tx1"/>
                </a:solidFill>
              </a:rPr>
              <a:t>Protection of the purity of the class &amp; caste by excommunicating the threatners.</a:t>
            </a:r>
          </a:p>
          <a:p>
            <a:pPr lvl="1" algn="just">
              <a:buFont typeface="Wingdings" panose="05000000000000000000" pitchFamily="2" charset="2"/>
              <a:buChar char="ü"/>
            </a:pPr>
            <a:r>
              <a:rPr lang="en-IN" sz="2400" dirty="0" smtClean="0">
                <a:solidFill>
                  <a:schemeClr val="tx1"/>
                </a:solidFill>
              </a:rPr>
              <a:t>Protection of the family system against adultery through fair inheritance.</a:t>
            </a:r>
          </a:p>
          <a:p>
            <a:pPr lvl="1" algn="just">
              <a:buFont typeface="Wingdings" panose="05000000000000000000" pitchFamily="2" charset="2"/>
              <a:buChar char="ü"/>
            </a:pPr>
            <a:r>
              <a:rPr lang="en-IN" sz="2400" dirty="0" smtClean="0">
                <a:solidFill>
                  <a:schemeClr val="tx1"/>
                </a:solidFill>
              </a:rPr>
              <a:t>Protection of widows &amp; orphans.</a:t>
            </a:r>
          </a:p>
        </p:txBody>
      </p:sp>
    </p:spTree>
    <p:extLst>
      <p:ext uri="{BB962C8B-B14F-4D97-AF65-F5344CB8AC3E}">
        <p14:creationId xmlns:p14="http://schemas.microsoft.com/office/powerpoint/2010/main" val="7087569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KINGSHIP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lvl="1" algn="just">
              <a:buFont typeface="Wingdings" panose="05000000000000000000" pitchFamily="2" charset="2"/>
              <a:buChar char="ü"/>
            </a:pPr>
            <a:r>
              <a:rPr lang="en-IN" sz="3200" dirty="0" smtClean="0">
                <a:solidFill>
                  <a:schemeClr val="tx1"/>
                </a:solidFill>
              </a:rPr>
              <a:t>Protection of rich against the poor by the way of suppressing acts of theft, robbery etc.</a:t>
            </a:r>
          </a:p>
          <a:p>
            <a:pPr lvl="1" algn="just">
              <a:buFont typeface="Wingdings" panose="05000000000000000000" pitchFamily="2" charset="2"/>
              <a:buChar char="ü"/>
            </a:pPr>
            <a:r>
              <a:rPr lang="en-IN" sz="3200" dirty="0">
                <a:solidFill>
                  <a:schemeClr val="tx1"/>
                </a:solidFill>
              </a:rPr>
              <a:t>Protection of </a:t>
            </a:r>
            <a:r>
              <a:rPr lang="en-IN" sz="3200" dirty="0" smtClean="0">
                <a:solidFill>
                  <a:schemeClr val="tx1"/>
                </a:solidFill>
              </a:rPr>
              <a:t>poor </a:t>
            </a:r>
            <a:r>
              <a:rPr lang="en-IN" sz="3200" dirty="0">
                <a:solidFill>
                  <a:schemeClr val="tx1"/>
                </a:solidFill>
              </a:rPr>
              <a:t>against the </a:t>
            </a:r>
            <a:r>
              <a:rPr lang="en-IN" sz="3200" dirty="0" smtClean="0">
                <a:solidFill>
                  <a:schemeClr val="tx1"/>
                </a:solidFill>
              </a:rPr>
              <a:t>rich </a:t>
            </a:r>
            <a:r>
              <a:rPr lang="en-IN" sz="3200" dirty="0">
                <a:solidFill>
                  <a:schemeClr val="tx1"/>
                </a:solidFill>
              </a:rPr>
              <a:t>by the way of suppressing acts of </a:t>
            </a:r>
            <a:r>
              <a:rPr lang="en-IN" sz="3200" dirty="0" smtClean="0">
                <a:solidFill>
                  <a:schemeClr val="tx1"/>
                </a:solidFill>
              </a:rPr>
              <a:t>extortion, oppression, atrocities, exploitation </a:t>
            </a:r>
            <a:r>
              <a:rPr lang="en-IN" sz="3200" dirty="0">
                <a:solidFill>
                  <a:schemeClr val="tx1"/>
                </a:solidFill>
              </a:rPr>
              <a:t>etc</a:t>
            </a:r>
            <a:r>
              <a:rPr lang="en-IN" sz="3200" dirty="0" smtClean="0">
                <a:solidFill>
                  <a:schemeClr val="tx1"/>
                </a:solidFill>
              </a:rPr>
              <a:t>.</a:t>
            </a:r>
          </a:p>
          <a:p>
            <a:pPr lvl="1" algn="just">
              <a:buFont typeface="Wingdings" panose="05000000000000000000" pitchFamily="2" charset="2"/>
              <a:buChar char="ü"/>
            </a:pPr>
            <a:r>
              <a:rPr lang="en-IN" sz="3200" dirty="0" smtClean="0">
                <a:solidFill>
                  <a:schemeClr val="tx1"/>
                </a:solidFill>
              </a:rPr>
              <a:t>Protection of the religion by offering </a:t>
            </a:r>
            <a:r>
              <a:rPr lang="en-IN" sz="3200" dirty="0">
                <a:solidFill>
                  <a:schemeClr val="tx1"/>
                </a:solidFill>
              </a:rPr>
              <a:t>liberal grants to learned </a:t>
            </a:r>
            <a:r>
              <a:rPr lang="en-IN" sz="3200" b="1" i="1" dirty="0" err="1">
                <a:solidFill>
                  <a:schemeClr val="tx1"/>
                </a:solidFill>
              </a:rPr>
              <a:t>brahmins</a:t>
            </a:r>
            <a:r>
              <a:rPr lang="en-IN" sz="3200" dirty="0">
                <a:solidFill>
                  <a:schemeClr val="tx1"/>
                </a:solidFill>
              </a:rPr>
              <a:t> and </a:t>
            </a:r>
            <a:r>
              <a:rPr lang="en-IN" sz="3200" dirty="0" smtClean="0">
                <a:solidFill>
                  <a:schemeClr val="tx1"/>
                </a:solidFill>
              </a:rPr>
              <a:t>temples(religious places) </a:t>
            </a:r>
            <a:r>
              <a:rPr lang="en-IN" sz="3200" dirty="0">
                <a:solidFill>
                  <a:schemeClr val="tx1"/>
                </a:solidFill>
              </a:rPr>
              <a:t>and frequently to heterodox sects also.</a:t>
            </a:r>
            <a:endParaRPr lang="en-IN" sz="3200" dirty="0" smtClean="0">
              <a:solidFill>
                <a:schemeClr val="tx1"/>
              </a:solidFill>
            </a:endParaRPr>
          </a:p>
          <a:p>
            <a:pPr marL="0" indent="0" algn="just">
              <a:buNone/>
            </a:pPr>
            <a:endParaRPr lang="en-IN" sz="3600" dirty="0">
              <a:solidFill>
                <a:schemeClr val="tx1"/>
              </a:solidFill>
            </a:endParaRPr>
          </a:p>
          <a:p>
            <a:pPr marL="0" indent="0" algn="just">
              <a:buNone/>
            </a:pPr>
            <a:endParaRPr lang="en-IN" sz="3600" dirty="0" smtClean="0">
              <a:solidFill>
                <a:schemeClr val="tx1"/>
              </a:solidFill>
            </a:endParaRPr>
          </a:p>
        </p:txBody>
      </p:sp>
    </p:spTree>
    <p:extLst>
      <p:ext uri="{BB962C8B-B14F-4D97-AF65-F5344CB8AC3E}">
        <p14:creationId xmlns:p14="http://schemas.microsoft.com/office/powerpoint/2010/main" val="12232177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COUNCIL OF MINISTERS IN ANCIENT INDIA </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a:solidFill>
                  <a:schemeClr val="tx1"/>
                </a:solidFill>
              </a:rPr>
              <a:t>Ministers or council of advisors have been regarded by ancient Indian political thinkers as a very vital organ of the body politic. </a:t>
            </a:r>
            <a:endParaRPr lang="en-IN" sz="2800" dirty="0" smtClean="0">
              <a:solidFill>
                <a:schemeClr val="tx1"/>
              </a:solidFill>
            </a:endParaRPr>
          </a:p>
          <a:p>
            <a:pPr algn="just"/>
            <a:r>
              <a:rPr lang="en-IN" sz="2800" dirty="0" smtClean="0">
                <a:solidFill>
                  <a:schemeClr val="tx1"/>
                </a:solidFill>
              </a:rPr>
              <a:t>It was observed </a:t>
            </a:r>
            <a:r>
              <a:rPr lang="en-IN" sz="2800" dirty="0">
                <a:solidFill>
                  <a:schemeClr val="tx1"/>
                </a:solidFill>
              </a:rPr>
              <a:t>at one place that the king </a:t>
            </a:r>
            <a:r>
              <a:rPr lang="en-IN" sz="2800" dirty="0" smtClean="0">
                <a:solidFill>
                  <a:schemeClr val="tx1"/>
                </a:solidFill>
              </a:rPr>
              <a:t>is </a:t>
            </a:r>
            <a:r>
              <a:rPr lang="en-IN" sz="2800" dirty="0">
                <a:solidFill>
                  <a:schemeClr val="tx1"/>
                </a:solidFill>
              </a:rPr>
              <a:t>vitally dependent upon </a:t>
            </a:r>
            <a:r>
              <a:rPr lang="en-IN" sz="2800" dirty="0" smtClean="0">
                <a:solidFill>
                  <a:schemeClr val="tx1"/>
                </a:solidFill>
              </a:rPr>
              <a:t>ministers.</a:t>
            </a:r>
          </a:p>
          <a:p>
            <a:pPr algn="just"/>
            <a:r>
              <a:rPr lang="en-IN" sz="2800" dirty="0" smtClean="0">
                <a:solidFill>
                  <a:schemeClr val="tx1"/>
                </a:solidFill>
              </a:rPr>
              <a:t>The </a:t>
            </a:r>
            <a:r>
              <a:rPr lang="en-IN" sz="2800" dirty="0">
                <a:solidFill>
                  <a:schemeClr val="tx1"/>
                </a:solidFill>
              </a:rPr>
              <a:t>size of </a:t>
            </a:r>
            <a:r>
              <a:rPr lang="en-IN" sz="2800" dirty="0" smtClean="0">
                <a:solidFill>
                  <a:schemeClr val="tx1"/>
                </a:solidFill>
              </a:rPr>
              <a:t>this council </a:t>
            </a:r>
            <a:r>
              <a:rPr lang="en-IN" sz="2800" dirty="0">
                <a:solidFill>
                  <a:schemeClr val="tx1"/>
                </a:solidFill>
              </a:rPr>
              <a:t>of ministers varied, and the authorities suggested figures ranging from </a:t>
            </a:r>
            <a:r>
              <a:rPr lang="en-IN" sz="2800" b="1" dirty="0">
                <a:solidFill>
                  <a:schemeClr val="tx1"/>
                </a:solidFill>
              </a:rPr>
              <a:t>seven to thirty-seven</a:t>
            </a:r>
            <a:r>
              <a:rPr lang="en-IN" sz="2800" dirty="0">
                <a:solidFill>
                  <a:schemeClr val="tx1"/>
                </a:solidFill>
              </a:rPr>
              <a:t>. </a:t>
            </a:r>
            <a:endParaRPr lang="en-IN" sz="2800" dirty="0" smtClean="0">
              <a:solidFill>
                <a:schemeClr val="tx1"/>
              </a:solidFill>
            </a:endParaRPr>
          </a:p>
          <a:p>
            <a:pPr marL="0" indent="0" algn="just">
              <a:buNone/>
            </a:pPr>
            <a:endParaRPr lang="en-IN" sz="2800" dirty="0" smtClean="0">
              <a:solidFill>
                <a:schemeClr val="tx1"/>
              </a:solidFill>
            </a:endParaRPr>
          </a:p>
        </p:txBody>
      </p:sp>
    </p:spTree>
    <p:extLst>
      <p:ext uri="{BB962C8B-B14F-4D97-AF65-F5344CB8AC3E}">
        <p14:creationId xmlns:p14="http://schemas.microsoft.com/office/powerpoint/2010/main" val="10247962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COUNCIL OF MINISTERS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2800" dirty="0" smtClean="0">
                <a:solidFill>
                  <a:schemeClr val="tx1"/>
                </a:solidFill>
              </a:rPr>
              <a:t>It </a:t>
            </a:r>
            <a:r>
              <a:rPr lang="en-IN" sz="2800" dirty="0">
                <a:solidFill>
                  <a:schemeClr val="tx1"/>
                </a:solidFill>
              </a:rPr>
              <a:t>seems that the body was divided into two parts </a:t>
            </a:r>
            <a:r>
              <a:rPr lang="en-IN" sz="2800" b="1" i="1" dirty="0" err="1">
                <a:solidFill>
                  <a:schemeClr val="tx1"/>
                </a:solidFill>
              </a:rPr>
              <a:t>mantrina</a:t>
            </a:r>
            <a:r>
              <a:rPr lang="en-IN" sz="2800" dirty="0">
                <a:solidFill>
                  <a:schemeClr val="tx1"/>
                </a:solidFill>
              </a:rPr>
              <a:t> and </a:t>
            </a:r>
            <a:r>
              <a:rPr lang="en-IN" sz="2800" b="1" i="1" dirty="0" err="1">
                <a:solidFill>
                  <a:schemeClr val="tx1"/>
                </a:solidFill>
              </a:rPr>
              <a:t>mantriparishad</a:t>
            </a:r>
            <a:r>
              <a:rPr lang="en-IN" sz="2800" dirty="0">
                <a:solidFill>
                  <a:schemeClr val="tx1"/>
                </a:solidFill>
              </a:rPr>
              <a:t>. </a:t>
            </a:r>
            <a:endParaRPr lang="en-IN" sz="2800" dirty="0" smtClean="0">
              <a:solidFill>
                <a:schemeClr val="tx1"/>
              </a:solidFill>
            </a:endParaRPr>
          </a:p>
          <a:p>
            <a:pPr algn="just"/>
            <a:r>
              <a:rPr lang="en-IN" sz="2800" b="1" i="1" dirty="0" err="1" smtClean="0">
                <a:solidFill>
                  <a:schemeClr val="tx1"/>
                </a:solidFill>
              </a:rPr>
              <a:t>Mantriparishad</a:t>
            </a:r>
            <a:r>
              <a:rPr lang="en-IN" sz="2800" dirty="0" smtClean="0">
                <a:solidFill>
                  <a:schemeClr val="tx1"/>
                </a:solidFill>
              </a:rPr>
              <a:t> </a:t>
            </a:r>
            <a:r>
              <a:rPr lang="en-IN" sz="2800" dirty="0">
                <a:solidFill>
                  <a:schemeClr val="tx1"/>
                </a:solidFill>
              </a:rPr>
              <a:t>was the large body resembling a </a:t>
            </a:r>
            <a:r>
              <a:rPr lang="en-IN" sz="2800" b="1" dirty="0">
                <a:solidFill>
                  <a:schemeClr val="tx1"/>
                </a:solidFill>
              </a:rPr>
              <a:t>modern council of ministers. </a:t>
            </a:r>
            <a:r>
              <a:rPr lang="en-IN" sz="2800" dirty="0" smtClean="0">
                <a:solidFill>
                  <a:schemeClr val="tx1"/>
                </a:solidFill>
              </a:rPr>
              <a:t>It</a:t>
            </a:r>
            <a:r>
              <a:rPr lang="en-IN" sz="2800" b="1" dirty="0" smtClean="0">
                <a:solidFill>
                  <a:schemeClr val="tx1"/>
                </a:solidFill>
              </a:rPr>
              <a:t> </a:t>
            </a:r>
            <a:r>
              <a:rPr lang="en-IN" sz="2800" dirty="0" smtClean="0">
                <a:solidFill>
                  <a:schemeClr val="tx1"/>
                </a:solidFill>
              </a:rPr>
              <a:t>consisted </a:t>
            </a:r>
            <a:r>
              <a:rPr lang="en-IN" sz="2800" dirty="0">
                <a:solidFill>
                  <a:schemeClr val="tx1"/>
                </a:solidFill>
              </a:rPr>
              <a:t>of all the ministers.</a:t>
            </a:r>
            <a:r>
              <a:rPr lang="en-IN" sz="2800" b="1" dirty="0">
                <a:solidFill>
                  <a:schemeClr val="tx1"/>
                </a:solidFill>
              </a:rPr>
              <a:t> </a:t>
            </a:r>
            <a:endParaRPr lang="en-IN" sz="2800" b="1" dirty="0" smtClean="0">
              <a:solidFill>
                <a:schemeClr val="tx1"/>
              </a:solidFill>
            </a:endParaRPr>
          </a:p>
          <a:p>
            <a:pPr algn="just"/>
            <a:r>
              <a:rPr lang="en-IN" sz="2800" b="1" i="1" dirty="0" err="1" smtClean="0">
                <a:solidFill>
                  <a:schemeClr val="tx1"/>
                </a:solidFill>
              </a:rPr>
              <a:t>Mantrina</a:t>
            </a:r>
            <a:r>
              <a:rPr lang="en-IN" sz="2800" dirty="0" smtClean="0">
                <a:solidFill>
                  <a:schemeClr val="tx1"/>
                </a:solidFill>
              </a:rPr>
              <a:t> </a:t>
            </a:r>
            <a:r>
              <a:rPr lang="en-IN" sz="2800" dirty="0">
                <a:solidFill>
                  <a:schemeClr val="tx1"/>
                </a:solidFill>
              </a:rPr>
              <a:t>was a smaller body or a core organisation within the </a:t>
            </a:r>
            <a:r>
              <a:rPr lang="en-IN" sz="2800" b="1" i="1" dirty="0" err="1">
                <a:solidFill>
                  <a:schemeClr val="tx1"/>
                </a:solidFill>
              </a:rPr>
              <a:t>mantriparishad</a:t>
            </a:r>
            <a:r>
              <a:rPr lang="en-IN" sz="2800" dirty="0">
                <a:solidFill>
                  <a:schemeClr val="tx1"/>
                </a:solidFill>
              </a:rPr>
              <a:t> largely </a:t>
            </a:r>
            <a:r>
              <a:rPr lang="en-IN" sz="2800" b="1" dirty="0">
                <a:solidFill>
                  <a:schemeClr val="tx1"/>
                </a:solidFill>
              </a:rPr>
              <a:t>resembling the modern cabinet</a:t>
            </a:r>
            <a:r>
              <a:rPr lang="en-IN" sz="2800" dirty="0">
                <a:solidFill>
                  <a:schemeClr val="tx1"/>
                </a:solidFill>
              </a:rPr>
              <a:t>. It included the few most important ministers like </a:t>
            </a:r>
            <a:r>
              <a:rPr lang="en-IN" sz="2800" dirty="0" smtClean="0">
                <a:solidFill>
                  <a:schemeClr val="tx1"/>
                </a:solidFill>
              </a:rPr>
              <a:t>the </a:t>
            </a:r>
            <a:r>
              <a:rPr lang="en-IN" sz="2800" b="1" dirty="0" smtClean="0">
                <a:solidFill>
                  <a:schemeClr val="tx1"/>
                </a:solidFill>
              </a:rPr>
              <a:t>priest, supreme </a:t>
            </a:r>
            <a:r>
              <a:rPr lang="en-IN" sz="2800" b="1" dirty="0">
                <a:solidFill>
                  <a:schemeClr val="tx1"/>
                </a:solidFill>
              </a:rPr>
              <a:t>commander of </a:t>
            </a:r>
            <a:r>
              <a:rPr lang="en-IN" sz="2800" b="1" dirty="0" smtClean="0">
                <a:solidFill>
                  <a:schemeClr val="tx1"/>
                </a:solidFill>
              </a:rPr>
              <a:t>army </a:t>
            </a:r>
            <a:r>
              <a:rPr lang="en-IN" sz="2800" b="1" dirty="0">
                <a:solidFill>
                  <a:schemeClr val="tx1"/>
                </a:solidFill>
              </a:rPr>
              <a:t>and </a:t>
            </a:r>
            <a:r>
              <a:rPr lang="en-IN" sz="2800" b="1" dirty="0" smtClean="0">
                <a:solidFill>
                  <a:schemeClr val="tx1"/>
                </a:solidFill>
              </a:rPr>
              <a:t>the </a:t>
            </a:r>
            <a:r>
              <a:rPr lang="en-IN" sz="2800" b="1" dirty="0">
                <a:solidFill>
                  <a:schemeClr val="tx1"/>
                </a:solidFill>
              </a:rPr>
              <a:t>crown </a:t>
            </a:r>
            <a:r>
              <a:rPr lang="en-IN" sz="2800" b="1" dirty="0" smtClean="0">
                <a:solidFill>
                  <a:schemeClr val="tx1"/>
                </a:solidFill>
              </a:rPr>
              <a:t>prince. </a:t>
            </a:r>
            <a:endParaRPr lang="en-IN" sz="2800" b="1" dirty="0">
              <a:solidFill>
                <a:schemeClr val="tx1"/>
              </a:solidFill>
            </a:endParaRPr>
          </a:p>
          <a:p>
            <a:pPr marL="0" indent="0" algn="just">
              <a:buNone/>
            </a:pPr>
            <a:endParaRPr lang="en-IN" sz="2800" dirty="0" smtClean="0">
              <a:solidFill>
                <a:schemeClr val="tx1"/>
              </a:solidFill>
            </a:endParaRPr>
          </a:p>
        </p:txBody>
      </p:sp>
    </p:spTree>
    <p:extLst>
      <p:ext uri="{BB962C8B-B14F-4D97-AF65-F5344CB8AC3E}">
        <p14:creationId xmlns:p14="http://schemas.microsoft.com/office/powerpoint/2010/main" val="36287315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ADMINISTRATION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2400" dirty="0">
                <a:solidFill>
                  <a:schemeClr val="tx1"/>
                </a:solidFill>
              </a:rPr>
              <a:t>With the advent of the </a:t>
            </a:r>
            <a:r>
              <a:rPr lang="en-IN" sz="2400" b="1" i="1" dirty="0" err="1">
                <a:solidFill>
                  <a:schemeClr val="tx1"/>
                </a:solidFill>
              </a:rPr>
              <a:t>Mauryas</a:t>
            </a:r>
            <a:r>
              <a:rPr lang="en-IN" sz="2400" dirty="0">
                <a:solidFill>
                  <a:schemeClr val="tx1"/>
                </a:solidFill>
              </a:rPr>
              <a:t> on the political stage of India, bureaucracy developed as a </a:t>
            </a:r>
            <a:r>
              <a:rPr lang="en-IN" sz="2400" b="1" dirty="0">
                <a:solidFill>
                  <a:schemeClr val="tx1"/>
                </a:solidFill>
              </a:rPr>
              <a:t>well organised, hierarchical, cadre-based administrative system</a:t>
            </a:r>
            <a:r>
              <a:rPr lang="en-IN" sz="2400" dirty="0" smtClean="0">
                <a:solidFill>
                  <a:schemeClr val="tx1"/>
                </a:solidFill>
              </a:rPr>
              <a:t>.</a:t>
            </a:r>
          </a:p>
          <a:p>
            <a:pPr algn="just"/>
            <a:r>
              <a:rPr lang="en-IN" sz="2400" dirty="0">
                <a:solidFill>
                  <a:schemeClr val="tx1"/>
                </a:solidFill>
              </a:rPr>
              <a:t>The </a:t>
            </a:r>
            <a:r>
              <a:rPr lang="en-IN" sz="2400" b="1" i="1" dirty="0" err="1">
                <a:solidFill>
                  <a:schemeClr val="tx1"/>
                </a:solidFill>
              </a:rPr>
              <a:t>Mauryas</a:t>
            </a:r>
            <a:r>
              <a:rPr lang="en-IN" sz="2400" dirty="0">
                <a:solidFill>
                  <a:schemeClr val="tx1"/>
                </a:solidFill>
              </a:rPr>
              <a:t> developed </a:t>
            </a:r>
            <a:r>
              <a:rPr lang="en-IN" sz="2400" b="1" dirty="0">
                <a:solidFill>
                  <a:schemeClr val="tx1"/>
                </a:solidFill>
              </a:rPr>
              <a:t>a well organised bureaucracy</a:t>
            </a:r>
            <a:r>
              <a:rPr lang="en-IN" sz="2400" dirty="0">
                <a:solidFill>
                  <a:schemeClr val="tx1"/>
                </a:solidFill>
              </a:rPr>
              <a:t>. </a:t>
            </a:r>
            <a:endParaRPr lang="en-IN" sz="2400" dirty="0" smtClean="0">
              <a:solidFill>
                <a:schemeClr val="tx1"/>
              </a:solidFill>
            </a:endParaRPr>
          </a:p>
          <a:p>
            <a:pPr algn="just"/>
            <a:r>
              <a:rPr lang="en-IN" sz="2400" dirty="0" smtClean="0">
                <a:solidFill>
                  <a:schemeClr val="tx1"/>
                </a:solidFill>
              </a:rPr>
              <a:t>With </a:t>
            </a:r>
            <a:r>
              <a:rPr lang="en-IN" sz="2400" dirty="0">
                <a:solidFill>
                  <a:schemeClr val="tx1"/>
                </a:solidFill>
              </a:rPr>
              <a:t>the help of this centralised bureaucratic structure not only did the government regulate the economic life of the country, but it also took an important part in it. </a:t>
            </a:r>
            <a:endParaRPr lang="en-IN" sz="2400" dirty="0" smtClean="0">
              <a:solidFill>
                <a:schemeClr val="tx1"/>
              </a:solidFill>
            </a:endParaRPr>
          </a:p>
          <a:p>
            <a:pPr algn="just"/>
            <a:r>
              <a:rPr lang="en-IN" sz="2400" dirty="0" smtClean="0">
                <a:solidFill>
                  <a:schemeClr val="tx1"/>
                </a:solidFill>
              </a:rPr>
              <a:t>All </a:t>
            </a:r>
            <a:r>
              <a:rPr lang="en-IN" sz="2400" dirty="0">
                <a:solidFill>
                  <a:schemeClr val="tx1"/>
                </a:solidFill>
              </a:rPr>
              <a:t>mines including pearl beds, fisheries and salt pans, were owned by the state, and were either worked directly with the labour of criminals or serfs, or let out to entrepreneurs, from whom the king claimed a percentage of their output as </a:t>
            </a:r>
            <a:r>
              <a:rPr lang="en-IN" sz="2400" dirty="0" smtClean="0">
                <a:solidFill>
                  <a:schemeClr val="tx1"/>
                </a:solidFill>
              </a:rPr>
              <a:t>royalty.</a:t>
            </a:r>
          </a:p>
        </p:txBody>
      </p:sp>
    </p:spTree>
    <p:extLst>
      <p:ext uri="{BB962C8B-B14F-4D97-AF65-F5344CB8AC3E}">
        <p14:creationId xmlns:p14="http://schemas.microsoft.com/office/powerpoint/2010/main" val="1552074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POLITICAL IDEALS IN ANCIENT INDIA </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a:solidFill>
                  <a:schemeClr val="tx1"/>
                </a:solidFill>
              </a:rPr>
              <a:t>Political ideals like </a:t>
            </a:r>
            <a:r>
              <a:rPr lang="en-IN" sz="2800" b="1" dirty="0">
                <a:solidFill>
                  <a:schemeClr val="tx1"/>
                </a:solidFill>
              </a:rPr>
              <a:t>liberty, justice, fraternity and nationalism </a:t>
            </a:r>
            <a:r>
              <a:rPr lang="en-IN" sz="2800" dirty="0">
                <a:solidFill>
                  <a:schemeClr val="tx1"/>
                </a:solidFill>
              </a:rPr>
              <a:t>are a product of the modern </a:t>
            </a:r>
            <a:r>
              <a:rPr lang="en-IN" sz="2800" dirty="0" smtClean="0">
                <a:solidFill>
                  <a:schemeClr val="tx1"/>
                </a:solidFill>
              </a:rPr>
              <a:t>age, ancient </a:t>
            </a:r>
            <a:r>
              <a:rPr lang="en-IN" sz="2800" dirty="0">
                <a:solidFill>
                  <a:schemeClr val="tx1"/>
                </a:solidFill>
              </a:rPr>
              <a:t>Indians did have these ideals in a rudimentary </a:t>
            </a:r>
            <a:r>
              <a:rPr lang="en-IN" sz="2800" dirty="0" smtClean="0">
                <a:solidFill>
                  <a:schemeClr val="tx1"/>
                </a:solidFill>
              </a:rPr>
              <a:t>form.</a:t>
            </a:r>
          </a:p>
          <a:p>
            <a:pPr algn="just"/>
            <a:r>
              <a:rPr lang="en-IN" sz="2800" b="1" i="1" dirty="0">
                <a:solidFill>
                  <a:schemeClr val="tx1"/>
                </a:solidFill>
              </a:rPr>
              <a:t>Vedas</a:t>
            </a:r>
            <a:r>
              <a:rPr lang="en-IN" sz="2800" dirty="0">
                <a:solidFill>
                  <a:schemeClr val="tx1"/>
                </a:solidFill>
              </a:rPr>
              <a:t> state that independence is necessary for mankind and those who are not independent are worse than dead</a:t>
            </a:r>
            <a:r>
              <a:rPr lang="en-IN" sz="2800" dirty="0" smtClean="0">
                <a:solidFill>
                  <a:schemeClr val="tx1"/>
                </a:solidFill>
              </a:rPr>
              <a:t>.</a:t>
            </a:r>
          </a:p>
          <a:p>
            <a:pPr algn="just"/>
            <a:r>
              <a:rPr lang="en-IN" sz="2800" b="1" i="1" dirty="0" err="1" smtClean="0">
                <a:solidFill>
                  <a:schemeClr val="tx1"/>
                </a:solidFill>
              </a:rPr>
              <a:t>Varnāshrma</a:t>
            </a:r>
            <a:r>
              <a:rPr lang="en-IN" sz="2800" dirty="0" smtClean="0">
                <a:solidFill>
                  <a:schemeClr val="tx1"/>
                </a:solidFill>
              </a:rPr>
              <a:t> </a:t>
            </a:r>
            <a:r>
              <a:rPr lang="en-IN" sz="2800" dirty="0">
                <a:solidFill>
                  <a:schemeClr val="tx1"/>
                </a:solidFill>
              </a:rPr>
              <a:t>institution </a:t>
            </a:r>
            <a:r>
              <a:rPr lang="en-IN" sz="2800" dirty="0" smtClean="0">
                <a:solidFill>
                  <a:schemeClr val="tx1"/>
                </a:solidFill>
              </a:rPr>
              <a:t>too advocates, </a:t>
            </a:r>
            <a:r>
              <a:rPr lang="en-IN" sz="2800" dirty="0">
                <a:solidFill>
                  <a:schemeClr val="tx1"/>
                </a:solidFill>
              </a:rPr>
              <a:t>an independent </a:t>
            </a:r>
            <a:r>
              <a:rPr lang="en-IN" sz="2800" dirty="0" smtClean="0">
                <a:solidFill>
                  <a:schemeClr val="tx1"/>
                </a:solidFill>
              </a:rPr>
              <a:t>living.</a:t>
            </a:r>
          </a:p>
          <a:p>
            <a:pPr lvl="1" algn="just"/>
            <a:r>
              <a:rPr lang="en-IN" sz="2400" dirty="0">
                <a:solidFill>
                  <a:schemeClr val="tx1"/>
                </a:solidFill>
              </a:rPr>
              <a:t>A man lived independently during </a:t>
            </a:r>
            <a:r>
              <a:rPr lang="en-IN" sz="2400" b="1" i="1" dirty="0" err="1" smtClean="0">
                <a:solidFill>
                  <a:schemeClr val="tx1"/>
                </a:solidFill>
              </a:rPr>
              <a:t>Grihasthaāshrama</a:t>
            </a:r>
            <a:r>
              <a:rPr lang="en-IN" sz="2400" dirty="0" smtClean="0">
                <a:solidFill>
                  <a:schemeClr val="tx1"/>
                </a:solidFill>
              </a:rPr>
              <a:t>.</a:t>
            </a:r>
          </a:p>
          <a:p>
            <a:pPr lvl="1" algn="just"/>
            <a:r>
              <a:rPr lang="en-IN" sz="2400" dirty="0" smtClean="0">
                <a:solidFill>
                  <a:schemeClr val="tx1"/>
                </a:solidFill>
              </a:rPr>
              <a:t>Older </a:t>
            </a:r>
            <a:r>
              <a:rPr lang="en-IN" sz="2400" dirty="0">
                <a:solidFill>
                  <a:schemeClr val="tx1"/>
                </a:solidFill>
              </a:rPr>
              <a:t>people resorting to </a:t>
            </a:r>
            <a:r>
              <a:rPr lang="en-IN" sz="2400" b="1" i="1" dirty="0" err="1">
                <a:solidFill>
                  <a:schemeClr val="tx1"/>
                </a:solidFill>
              </a:rPr>
              <a:t>Vānprastha</a:t>
            </a:r>
            <a:r>
              <a:rPr lang="en-IN" sz="2400" b="1" i="1" dirty="0">
                <a:solidFill>
                  <a:schemeClr val="tx1"/>
                </a:solidFill>
              </a:rPr>
              <a:t> </a:t>
            </a:r>
            <a:r>
              <a:rPr lang="en-IN" sz="2400" dirty="0">
                <a:solidFill>
                  <a:schemeClr val="tx1"/>
                </a:solidFill>
              </a:rPr>
              <a:t>and then to </a:t>
            </a:r>
            <a:r>
              <a:rPr lang="en-IN" sz="2400" b="1" i="1" dirty="0" err="1">
                <a:solidFill>
                  <a:schemeClr val="tx1"/>
                </a:solidFill>
              </a:rPr>
              <a:t>Sanyāsa</a:t>
            </a:r>
            <a:r>
              <a:rPr lang="en-IN" sz="2400" b="1" i="1" dirty="0">
                <a:solidFill>
                  <a:schemeClr val="tx1"/>
                </a:solidFill>
              </a:rPr>
              <a:t>,</a:t>
            </a:r>
            <a:r>
              <a:rPr lang="en-IN" sz="2400" dirty="0">
                <a:solidFill>
                  <a:schemeClr val="tx1"/>
                </a:solidFill>
              </a:rPr>
              <a:t> again living freely in the solitude of hills and dales rather than living as dependent on their children.</a:t>
            </a:r>
            <a:endParaRPr lang="en-IN" sz="2400" dirty="0" smtClean="0">
              <a:solidFill>
                <a:schemeClr val="tx1"/>
              </a:solidFill>
            </a:endParaRPr>
          </a:p>
          <a:p>
            <a:pPr algn="just"/>
            <a:endParaRPr lang="en-IN" sz="2800" dirty="0" smtClean="0">
              <a:solidFill>
                <a:schemeClr val="tx1"/>
              </a:solidFill>
            </a:endParaRPr>
          </a:p>
        </p:txBody>
      </p:sp>
    </p:spTree>
    <p:extLst>
      <p:ext uri="{BB962C8B-B14F-4D97-AF65-F5344CB8AC3E}">
        <p14:creationId xmlns:p14="http://schemas.microsoft.com/office/powerpoint/2010/main" val="160051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POLITICAL IDEALS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2400" dirty="0">
                <a:solidFill>
                  <a:schemeClr val="tx1"/>
                </a:solidFill>
              </a:rPr>
              <a:t>For disposal of justice the </a:t>
            </a:r>
            <a:r>
              <a:rPr lang="en-IN" sz="2400" b="1" i="1" dirty="0" err="1">
                <a:solidFill>
                  <a:schemeClr val="tx1"/>
                </a:solidFill>
              </a:rPr>
              <a:t>Mauryan</a:t>
            </a:r>
            <a:r>
              <a:rPr lang="en-IN" sz="2400" dirty="0">
                <a:solidFill>
                  <a:schemeClr val="tx1"/>
                </a:solidFill>
              </a:rPr>
              <a:t> state had a system of </a:t>
            </a:r>
            <a:r>
              <a:rPr lang="en-IN" sz="2400" b="1" dirty="0">
                <a:solidFill>
                  <a:schemeClr val="tx1"/>
                </a:solidFill>
              </a:rPr>
              <a:t>judiciary.</a:t>
            </a:r>
            <a:r>
              <a:rPr lang="en-IN" sz="2400" dirty="0">
                <a:solidFill>
                  <a:schemeClr val="tx1"/>
                </a:solidFill>
              </a:rPr>
              <a:t> </a:t>
            </a:r>
            <a:endParaRPr lang="en-IN" sz="2400" dirty="0" smtClean="0">
              <a:solidFill>
                <a:schemeClr val="tx1"/>
              </a:solidFill>
            </a:endParaRPr>
          </a:p>
          <a:p>
            <a:pPr algn="just"/>
            <a:r>
              <a:rPr lang="en-IN" sz="2400" b="1" i="1" dirty="0" err="1" smtClean="0">
                <a:solidFill>
                  <a:schemeClr val="tx1"/>
                </a:solidFill>
              </a:rPr>
              <a:t>Dharmasthīya</a:t>
            </a:r>
            <a:r>
              <a:rPr lang="en-IN" sz="2400" dirty="0" smtClean="0">
                <a:solidFill>
                  <a:schemeClr val="tx1"/>
                </a:solidFill>
              </a:rPr>
              <a:t> was </a:t>
            </a:r>
            <a:r>
              <a:rPr lang="en-IN" sz="2400" dirty="0">
                <a:solidFill>
                  <a:schemeClr val="tx1"/>
                </a:solidFill>
              </a:rPr>
              <a:t>the civil court and </a:t>
            </a:r>
            <a:r>
              <a:rPr lang="en-IN" sz="2400" b="1" i="1" dirty="0" err="1">
                <a:solidFill>
                  <a:schemeClr val="tx1"/>
                </a:solidFill>
              </a:rPr>
              <a:t>kantakashodhana</a:t>
            </a:r>
            <a:r>
              <a:rPr lang="en-IN" sz="2400" dirty="0">
                <a:solidFill>
                  <a:schemeClr val="tx1"/>
                </a:solidFill>
              </a:rPr>
              <a:t> was organised to deal with a large number of economic crimes. </a:t>
            </a:r>
            <a:endParaRPr lang="en-IN" sz="2400" dirty="0" smtClean="0">
              <a:solidFill>
                <a:schemeClr val="tx1"/>
              </a:solidFill>
            </a:endParaRPr>
          </a:p>
          <a:p>
            <a:pPr algn="just"/>
            <a:r>
              <a:rPr lang="en-IN" sz="2400" dirty="0" smtClean="0">
                <a:solidFill>
                  <a:schemeClr val="tx1"/>
                </a:solidFill>
              </a:rPr>
              <a:t>The </a:t>
            </a:r>
            <a:r>
              <a:rPr lang="en-IN" sz="2400" b="1" i="1" dirty="0" err="1">
                <a:solidFill>
                  <a:schemeClr val="tx1"/>
                </a:solidFill>
              </a:rPr>
              <a:t>Rāmāyana</a:t>
            </a:r>
            <a:r>
              <a:rPr lang="en-IN" sz="2400" dirty="0">
                <a:solidFill>
                  <a:schemeClr val="tx1"/>
                </a:solidFill>
              </a:rPr>
              <a:t> extols this country as a </a:t>
            </a:r>
            <a:r>
              <a:rPr lang="en-IN" sz="2400" b="1" i="1" dirty="0" smtClean="0">
                <a:solidFill>
                  <a:schemeClr val="tx1"/>
                </a:solidFill>
              </a:rPr>
              <a:t>karma </a:t>
            </a:r>
            <a:r>
              <a:rPr lang="en-IN" sz="2400" b="1" i="1" dirty="0" err="1" smtClean="0">
                <a:solidFill>
                  <a:schemeClr val="tx1"/>
                </a:solidFill>
              </a:rPr>
              <a:t>bhūmi</a:t>
            </a:r>
            <a:r>
              <a:rPr lang="en-IN" sz="2400" dirty="0">
                <a:solidFill>
                  <a:schemeClr val="tx1"/>
                </a:solidFill>
              </a:rPr>
              <a:t>, the land of pious acts. This shows the belongingness of people to land and their fellow beings. </a:t>
            </a:r>
            <a:endParaRPr lang="en-IN" sz="2400" dirty="0" smtClean="0">
              <a:solidFill>
                <a:schemeClr val="tx1"/>
              </a:solidFill>
            </a:endParaRPr>
          </a:p>
          <a:p>
            <a:pPr algn="just"/>
            <a:r>
              <a:rPr lang="en-IN" sz="2400" dirty="0" smtClean="0">
                <a:solidFill>
                  <a:schemeClr val="tx1"/>
                </a:solidFill>
              </a:rPr>
              <a:t>The </a:t>
            </a:r>
            <a:r>
              <a:rPr lang="en-IN" sz="2400" dirty="0">
                <a:solidFill>
                  <a:schemeClr val="tx1"/>
                </a:solidFill>
              </a:rPr>
              <a:t>early seeds of </a:t>
            </a:r>
            <a:r>
              <a:rPr lang="en-IN" sz="2400" b="1" dirty="0">
                <a:solidFill>
                  <a:schemeClr val="tx1"/>
                </a:solidFill>
              </a:rPr>
              <a:t>nationalism</a:t>
            </a:r>
            <a:r>
              <a:rPr lang="en-IN" sz="2400" dirty="0">
                <a:solidFill>
                  <a:schemeClr val="tx1"/>
                </a:solidFill>
              </a:rPr>
              <a:t> can be traced in this instance. Similarly, the ideal of ancient Indian thinkers was </a:t>
            </a:r>
            <a:r>
              <a:rPr lang="en-IN" sz="2400" b="1" i="1" dirty="0" err="1" smtClean="0">
                <a:solidFill>
                  <a:schemeClr val="tx1"/>
                </a:solidFill>
              </a:rPr>
              <a:t>vasudhaiva</a:t>
            </a:r>
            <a:r>
              <a:rPr lang="en-IN" sz="2400" b="1" i="1" dirty="0" smtClean="0">
                <a:solidFill>
                  <a:schemeClr val="tx1"/>
                </a:solidFill>
              </a:rPr>
              <a:t> </a:t>
            </a:r>
            <a:r>
              <a:rPr lang="en-IN" sz="2400" b="1" i="1" dirty="0" err="1" smtClean="0">
                <a:solidFill>
                  <a:schemeClr val="tx1"/>
                </a:solidFill>
              </a:rPr>
              <a:t>kutumbakam</a:t>
            </a:r>
            <a:r>
              <a:rPr lang="en-IN" sz="2400" dirty="0" smtClean="0">
                <a:solidFill>
                  <a:schemeClr val="tx1"/>
                </a:solidFill>
              </a:rPr>
              <a:t> </a:t>
            </a:r>
            <a:r>
              <a:rPr lang="en-IN" sz="2400" dirty="0">
                <a:solidFill>
                  <a:schemeClr val="tx1"/>
                </a:solidFill>
              </a:rPr>
              <a:t>(treating the whole world like a family.) </a:t>
            </a:r>
            <a:endParaRPr lang="en-IN" sz="2400" dirty="0" smtClean="0">
              <a:solidFill>
                <a:schemeClr val="tx1"/>
              </a:solidFill>
            </a:endParaRPr>
          </a:p>
          <a:p>
            <a:pPr algn="just"/>
            <a:r>
              <a:rPr lang="en-IN" sz="2400" dirty="0" smtClean="0">
                <a:solidFill>
                  <a:schemeClr val="tx1"/>
                </a:solidFill>
              </a:rPr>
              <a:t>This </a:t>
            </a:r>
            <a:r>
              <a:rPr lang="en-IN" sz="2400" dirty="0">
                <a:solidFill>
                  <a:schemeClr val="tx1"/>
                </a:solidFill>
              </a:rPr>
              <a:t>was the concept of universal brotherhood or </a:t>
            </a:r>
            <a:r>
              <a:rPr lang="en-IN" sz="2400" b="1" dirty="0" smtClean="0">
                <a:solidFill>
                  <a:schemeClr val="tx1"/>
                </a:solidFill>
              </a:rPr>
              <a:t>fraternity</a:t>
            </a:r>
            <a:r>
              <a:rPr lang="en-IN" sz="2400" dirty="0" smtClean="0">
                <a:solidFill>
                  <a:schemeClr val="tx1"/>
                </a:solidFill>
              </a:rPr>
              <a:t>. </a:t>
            </a:r>
          </a:p>
        </p:txBody>
      </p:sp>
    </p:spTree>
    <p:extLst>
      <p:ext uri="{BB962C8B-B14F-4D97-AF65-F5344CB8AC3E}">
        <p14:creationId xmlns:p14="http://schemas.microsoft.com/office/powerpoint/2010/main" val="2708016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461042"/>
            <a:ext cx="10178322" cy="1269434"/>
          </a:xfrm>
        </p:spPr>
        <p:txBody>
          <a:bodyPr>
            <a:normAutofit/>
          </a:bodyPr>
          <a:lstStyle/>
          <a:p>
            <a:r>
              <a:rPr lang="en-IN" dirty="0" smtClean="0"/>
              <a:t>SOCIETY IN ANCIENT INDIA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3200" dirty="0">
                <a:solidFill>
                  <a:schemeClr val="tx1"/>
                </a:solidFill>
              </a:rPr>
              <a:t>Society in ancient India had several distinguishing features. </a:t>
            </a:r>
            <a:endParaRPr lang="en-IN" sz="3200" dirty="0" smtClean="0">
              <a:solidFill>
                <a:schemeClr val="tx1"/>
              </a:solidFill>
            </a:endParaRPr>
          </a:p>
          <a:p>
            <a:pPr algn="just"/>
            <a:r>
              <a:rPr lang="en-IN" sz="3200" dirty="0" smtClean="0">
                <a:solidFill>
                  <a:schemeClr val="tx1"/>
                </a:solidFill>
              </a:rPr>
              <a:t>It </a:t>
            </a:r>
            <a:r>
              <a:rPr lang="en-IN" sz="3200" dirty="0">
                <a:solidFill>
                  <a:schemeClr val="tx1"/>
                </a:solidFill>
              </a:rPr>
              <a:t>was arranged in the form of four </a:t>
            </a:r>
            <a:r>
              <a:rPr lang="en-IN" sz="3200" b="1" i="1" dirty="0" err="1">
                <a:solidFill>
                  <a:schemeClr val="tx1"/>
                </a:solidFill>
              </a:rPr>
              <a:t>varnas</a:t>
            </a:r>
            <a:r>
              <a:rPr lang="en-IN" sz="3200" dirty="0">
                <a:solidFill>
                  <a:schemeClr val="tx1"/>
                </a:solidFill>
              </a:rPr>
              <a:t>. </a:t>
            </a:r>
            <a:endParaRPr lang="en-IN" sz="3200" dirty="0" smtClean="0">
              <a:solidFill>
                <a:schemeClr val="tx1"/>
              </a:solidFill>
            </a:endParaRPr>
          </a:p>
          <a:p>
            <a:pPr algn="just"/>
            <a:r>
              <a:rPr lang="en-IN" sz="3200" dirty="0" smtClean="0">
                <a:solidFill>
                  <a:schemeClr val="tx1"/>
                </a:solidFill>
              </a:rPr>
              <a:t>The </a:t>
            </a:r>
            <a:r>
              <a:rPr lang="en-IN" sz="3200" dirty="0">
                <a:solidFill>
                  <a:schemeClr val="tx1"/>
                </a:solidFill>
              </a:rPr>
              <a:t>life of individual was divided into four stages or </a:t>
            </a:r>
            <a:r>
              <a:rPr lang="en-IN" sz="3200" b="1" i="1" dirty="0" err="1">
                <a:solidFill>
                  <a:schemeClr val="tx1"/>
                </a:solidFill>
              </a:rPr>
              <a:t>āshramas</a:t>
            </a:r>
            <a:r>
              <a:rPr lang="en-IN" sz="3200" dirty="0">
                <a:solidFill>
                  <a:schemeClr val="tx1"/>
                </a:solidFill>
              </a:rPr>
              <a:t>. </a:t>
            </a:r>
            <a:endParaRPr lang="en-IN" sz="3200" dirty="0" smtClean="0">
              <a:solidFill>
                <a:schemeClr val="tx1"/>
              </a:solidFill>
            </a:endParaRPr>
          </a:p>
          <a:p>
            <a:pPr algn="just"/>
            <a:r>
              <a:rPr lang="en-IN" sz="3200" dirty="0" smtClean="0">
                <a:solidFill>
                  <a:schemeClr val="tx1"/>
                </a:solidFill>
              </a:rPr>
              <a:t>There </a:t>
            </a:r>
            <a:r>
              <a:rPr lang="en-IN" sz="3200" dirty="0">
                <a:solidFill>
                  <a:schemeClr val="tx1"/>
                </a:solidFill>
              </a:rPr>
              <a:t>were rules regarding marriage, family etc. </a:t>
            </a:r>
            <a:endParaRPr lang="en-IN" sz="3200" dirty="0" smtClean="0">
              <a:solidFill>
                <a:schemeClr val="tx1"/>
              </a:solidFill>
            </a:endParaRPr>
          </a:p>
          <a:p>
            <a:pPr algn="just"/>
            <a:r>
              <a:rPr lang="en-IN" sz="3200" dirty="0" smtClean="0">
                <a:solidFill>
                  <a:schemeClr val="tx1"/>
                </a:solidFill>
              </a:rPr>
              <a:t>The </a:t>
            </a:r>
            <a:r>
              <a:rPr lang="en-IN" sz="3200" dirty="0">
                <a:solidFill>
                  <a:schemeClr val="tx1"/>
                </a:solidFill>
              </a:rPr>
              <a:t>purpose of life was to attain four goals called </a:t>
            </a:r>
            <a:r>
              <a:rPr lang="en-IN" sz="3200" b="1" i="1" dirty="0" err="1">
                <a:solidFill>
                  <a:schemeClr val="tx1"/>
                </a:solidFill>
              </a:rPr>
              <a:t>purusārthas</a:t>
            </a:r>
            <a:r>
              <a:rPr lang="en-IN" sz="3200" dirty="0">
                <a:solidFill>
                  <a:schemeClr val="tx1"/>
                </a:solidFill>
              </a:rPr>
              <a:t>. </a:t>
            </a:r>
            <a:endParaRPr lang="en-IN" sz="3200" dirty="0" smtClean="0">
              <a:solidFill>
                <a:schemeClr val="tx1"/>
              </a:solidFill>
            </a:endParaRPr>
          </a:p>
        </p:txBody>
      </p:sp>
    </p:spTree>
    <p:extLst>
      <p:ext uri="{BB962C8B-B14F-4D97-AF65-F5344CB8AC3E}">
        <p14:creationId xmlns:p14="http://schemas.microsoft.com/office/powerpoint/2010/main" val="2895718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3200" dirty="0">
                <a:solidFill>
                  <a:schemeClr val="tx1"/>
                </a:solidFill>
              </a:rPr>
              <a:t>The concept of </a:t>
            </a:r>
            <a:r>
              <a:rPr lang="en-IN" sz="3200" b="1" i="1" dirty="0" err="1">
                <a:solidFill>
                  <a:schemeClr val="tx1"/>
                </a:solidFill>
              </a:rPr>
              <a:t>purusārthas</a:t>
            </a:r>
            <a:r>
              <a:rPr lang="en-IN" sz="3200" dirty="0">
                <a:solidFill>
                  <a:schemeClr val="tx1"/>
                </a:solidFill>
              </a:rPr>
              <a:t> is the fundamental principle of Indian social ethics. </a:t>
            </a:r>
            <a:endParaRPr lang="en-IN" sz="3200" dirty="0" smtClean="0">
              <a:solidFill>
                <a:schemeClr val="tx1"/>
              </a:solidFill>
            </a:endParaRPr>
          </a:p>
          <a:p>
            <a:pPr algn="just"/>
            <a:r>
              <a:rPr lang="en-IN" sz="3200" dirty="0" smtClean="0">
                <a:solidFill>
                  <a:schemeClr val="tx1"/>
                </a:solidFill>
              </a:rPr>
              <a:t>The </a:t>
            </a:r>
            <a:r>
              <a:rPr lang="en-IN" sz="3200" dirty="0">
                <a:solidFill>
                  <a:schemeClr val="tx1"/>
                </a:solidFill>
              </a:rPr>
              <a:t>word </a:t>
            </a:r>
            <a:r>
              <a:rPr lang="en-IN" sz="3200" b="1" i="1" dirty="0" err="1">
                <a:solidFill>
                  <a:schemeClr val="tx1"/>
                </a:solidFill>
              </a:rPr>
              <a:t>purusārtha</a:t>
            </a:r>
            <a:r>
              <a:rPr lang="en-IN" sz="3200" dirty="0">
                <a:solidFill>
                  <a:schemeClr val="tx1"/>
                </a:solidFill>
              </a:rPr>
              <a:t> means “attainments” or “life purposes”. </a:t>
            </a:r>
            <a:endParaRPr lang="en-IN" sz="3200" dirty="0" smtClean="0">
              <a:solidFill>
                <a:schemeClr val="tx1"/>
              </a:solidFill>
            </a:endParaRPr>
          </a:p>
          <a:p>
            <a:pPr algn="just"/>
            <a:r>
              <a:rPr lang="en-IN" sz="3200" dirty="0" smtClean="0">
                <a:solidFill>
                  <a:schemeClr val="tx1"/>
                </a:solidFill>
              </a:rPr>
              <a:t>The </a:t>
            </a:r>
            <a:r>
              <a:rPr lang="en-IN" sz="3200" dirty="0">
                <a:solidFill>
                  <a:schemeClr val="tx1"/>
                </a:solidFill>
              </a:rPr>
              <a:t>aim of every person is to attain the four noble ends or </a:t>
            </a:r>
            <a:r>
              <a:rPr lang="en-IN" sz="3200" b="1" i="1" dirty="0" err="1">
                <a:solidFill>
                  <a:schemeClr val="tx1"/>
                </a:solidFill>
              </a:rPr>
              <a:t>purusārtha</a:t>
            </a:r>
            <a:r>
              <a:rPr lang="en-IN" sz="3200" dirty="0">
                <a:solidFill>
                  <a:schemeClr val="tx1"/>
                </a:solidFill>
              </a:rPr>
              <a:t>. </a:t>
            </a:r>
            <a:endParaRPr lang="en-IN" sz="3200" dirty="0" smtClean="0">
              <a:solidFill>
                <a:schemeClr val="tx1"/>
              </a:solidFill>
            </a:endParaRPr>
          </a:p>
          <a:p>
            <a:pPr algn="just"/>
            <a:r>
              <a:rPr lang="en-IN" sz="3200" dirty="0" smtClean="0">
                <a:solidFill>
                  <a:schemeClr val="tx1"/>
                </a:solidFill>
              </a:rPr>
              <a:t>These </a:t>
            </a:r>
            <a:r>
              <a:rPr lang="en-IN" sz="3200" dirty="0">
                <a:solidFill>
                  <a:schemeClr val="tx1"/>
                </a:solidFill>
              </a:rPr>
              <a:t>four </a:t>
            </a:r>
            <a:r>
              <a:rPr lang="en-IN" sz="3200" b="1" i="1" dirty="0" err="1">
                <a:solidFill>
                  <a:schemeClr val="tx1"/>
                </a:solidFill>
              </a:rPr>
              <a:t>purusārthas</a:t>
            </a:r>
            <a:r>
              <a:rPr lang="en-IN" sz="3200" dirty="0">
                <a:solidFill>
                  <a:schemeClr val="tx1"/>
                </a:solidFill>
              </a:rPr>
              <a:t> are — </a:t>
            </a:r>
            <a:r>
              <a:rPr lang="en-IN" sz="3200" b="1" i="1" dirty="0">
                <a:solidFill>
                  <a:schemeClr val="tx1"/>
                </a:solidFill>
              </a:rPr>
              <a:t>dharma, </a:t>
            </a:r>
            <a:r>
              <a:rPr lang="en-IN" sz="3200" b="1" i="1" dirty="0" err="1">
                <a:solidFill>
                  <a:schemeClr val="tx1"/>
                </a:solidFill>
              </a:rPr>
              <a:t>artha</a:t>
            </a:r>
            <a:r>
              <a:rPr lang="en-IN" sz="3200" b="1" i="1" dirty="0">
                <a:solidFill>
                  <a:schemeClr val="tx1"/>
                </a:solidFill>
              </a:rPr>
              <a:t>, </a:t>
            </a:r>
            <a:r>
              <a:rPr lang="en-IN" sz="3200" b="1" i="1" dirty="0" err="1">
                <a:solidFill>
                  <a:schemeClr val="tx1"/>
                </a:solidFill>
              </a:rPr>
              <a:t>kāma</a:t>
            </a:r>
            <a:r>
              <a:rPr lang="en-IN" sz="3200" b="1" i="1" dirty="0">
                <a:solidFill>
                  <a:schemeClr val="tx1"/>
                </a:solidFill>
              </a:rPr>
              <a:t> </a:t>
            </a:r>
            <a:r>
              <a:rPr lang="en-IN" sz="3200" dirty="0">
                <a:solidFill>
                  <a:schemeClr val="tx1"/>
                </a:solidFill>
              </a:rPr>
              <a:t>and </a:t>
            </a:r>
            <a:r>
              <a:rPr lang="en-IN" sz="3200" b="1" i="1" dirty="0">
                <a:solidFill>
                  <a:schemeClr val="tx1"/>
                </a:solidFill>
              </a:rPr>
              <a:t>moksha</a:t>
            </a:r>
            <a:r>
              <a:rPr lang="en-IN" sz="3200" dirty="0">
                <a:solidFill>
                  <a:schemeClr val="tx1"/>
                </a:solidFill>
              </a:rPr>
              <a:t>. </a:t>
            </a:r>
            <a:endParaRPr lang="en-IN" sz="3200" dirty="0" smtClean="0">
              <a:solidFill>
                <a:schemeClr val="tx1"/>
              </a:solidFill>
            </a:endParaRPr>
          </a:p>
        </p:txBody>
      </p:sp>
    </p:spTree>
    <p:extLst>
      <p:ext uri="{BB962C8B-B14F-4D97-AF65-F5344CB8AC3E}">
        <p14:creationId xmlns:p14="http://schemas.microsoft.com/office/powerpoint/2010/main" val="2259777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2400" b="1" dirty="0" smtClean="0">
                <a:solidFill>
                  <a:schemeClr val="tx1"/>
                </a:solidFill>
              </a:rPr>
              <a:t>Dharma</a:t>
            </a:r>
          </a:p>
          <a:p>
            <a:pPr lvl="1" algn="just">
              <a:buFont typeface="Wingdings" panose="05000000000000000000" pitchFamily="2" charset="2"/>
              <a:buChar char="ü"/>
            </a:pPr>
            <a:r>
              <a:rPr lang="en-IN" sz="2200" dirty="0">
                <a:solidFill>
                  <a:schemeClr val="tx1"/>
                </a:solidFill>
              </a:rPr>
              <a:t>Dharma or the principle of righteousness is considered to be the supreme of the </a:t>
            </a:r>
            <a:r>
              <a:rPr lang="en-IN" sz="2200" b="1" i="1" dirty="0" err="1">
                <a:solidFill>
                  <a:schemeClr val="tx1"/>
                </a:solidFill>
              </a:rPr>
              <a:t>purusārthas</a:t>
            </a:r>
            <a:r>
              <a:rPr lang="en-IN" sz="2200" dirty="0">
                <a:solidFill>
                  <a:schemeClr val="tx1"/>
                </a:solidFill>
              </a:rPr>
              <a:t>. </a:t>
            </a:r>
            <a:endParaRPr lang="en-IN" sz="2200" dirty="0" smtClean="0">
              <a:solidFill>
                <a:schemeClr val="tx1"/>
              </a:solidFill>
            </a:endParaRPr>
          </a:p>
          <a:p>
            <a:pPr lvl="1" algn="just">
              <a:buFont typeface="Wingdings" panose="05000000000000000000" pitchFamily="2" charset="2"/>
              <a:buChar char="ü"/>
            </a:pPr>
            <a:r>
              <a:rPr lang="en-IN" sz="2200" dirty="0" smtClean="0">
                <a:solidFill>
                  <a:schemeClr val="tx1"/>
                </a:solidFill>
              </a:rPr>
              <a:t>Dharma </a:t>
            </a:r>
            <a:r>
              <a:rPr lang="en-IN" sz="2200" dirty="0">
                <a:solidFill>
                  <a:schemeClr val="tx1"/>
                </a:solidFill>
              </a:rPr>
              <a:t>in Indian tradition is different from the Western </a:t>
            </a:r>
            <a:r>
              <a:rPr lang="en-IN" sz="2200" dirty="0" smtClean="0">
                <a:solidFill>
                  <a:schemeClr val="tx1"/>
                </a:solidFill>
              </a:rPr>
              <a:t>concept </a:t>
            </a:r>
            <a:r>
              <a:rPr lang="en-IN" sz="2200" dirty="0">
                <a:solidFill>
                  <a:schemeClr val="tx1"/>
                </a:solidFill>
              </a:rPr>
              <a:t>of religion. </a:t>
            </a:r>
            <a:endParaRPr lang="en-IN" sz="2200" dirty="0" smtClean="0">
              <a:solidFill>
                <a:schemeClr val="tx1"/>
              </a:solidFill>
            </a:endParaRPr>
          </a:p>
          <a:p>
            <a:pPr lvl="1" algn="just">
              <a:buFont typeface="Wingdings" panose="05000000000000000000" pitchFamily="2" charset="2"/>
              <a:buChar char="ü"/>
            </a:pPr>
            <a:r>
              <a:rPr lang="en-IN" sz="2200" dirty="0" smtClean="0">
                <a:solidFill>
                  <a:schemeClr val="tx1"/>
                </a:solidFill>
              </a:rPr>
              <a:t>The </a:t>
            </a:r>
            <a:r>
              <a:rPr lang="en-IN" sz="2200" dirty="0">
                <a:solidFill>
                  <a:schemeClr val="tx1"/>
                </a:solidFill>
              </a:rPr>
              <a:t>word religion has been derived from the </a:t>
            </a:r>
            <a:r>
              <a:rPr lang="en-IN" sz="2200" dirty="0" err="1">
                <a:solidFill>
                  <a:schemeClr val="tx1"/>
                </a:solidFill>
              </a:rPr>
              <a:t>latin</a:t>
            </a:r>
            <a:r>
              <a:rPr lang="en-IN" sz="2200" dirty="0">
                <a:solidFill>
                  <a:schemeClr val="tx1"/>
                </a:solidFill>
              </a:rPr>
              <a:t> root </a:t>
            </a:r>
            <a:r>
              <a:rPr lang="en-IN" sz="2200" b="1" dirty="0" err="1">
                <a:solidFill>
                  <a:schemeClr val="tx1"/>
                </a:solidFill>
              </a:rPr>
              <a:t>religare</a:t>
            </a:r>
            <a:r>
              <a:rPr lang="en-IN" sz="2200" dirty="0">
                <a:solidFill>
                  <a:schemeClr val="tx1"/>
                </a:solidFill>
              </a:rPr>
              <a:t> which means “to connect”. </a:t>
            </a:r>
            <a:endParaRPr lang="en-IN" sz="2200" dirty="0" smtClean="0">
              <a:solidFill>
                <a:schemeClr val="tx1"/>
              </a:solidFill>
            </a:endParaRPr>
          </a:p>
          <a:p>
            <a:pPr lvl="1" algn="just">
              <a:buFont typeface="Wingdings" panose="05000000000000000000" pitchFamily="2" charset="2"/>
              <a:buChar char="ü"/>
            </a:pPr>
            <a:r>
              <a:rPr lang="en-IN" sz="2200" dirty="0" smtClean="0">
                <a:solidFill>
                  <a:schemeClr val="tx1"/>
                </a:solidFill>
              </a:rPr>
              <a:t>In </a:t>
            </a:r>
            <a:r>
              <a:rPr lang="en-IN" sz="2200" dirty="0">
                <a:solidFill>
                  <a:schemeClr val="tx1"/>
                </a:solidFill>
              </a:rPr>
              <a:t>this sense religion is a set of principles which connects human beings with God or which connects the </a:t>
            </a:r>
            <a:r>
              <a:rPr lang="en-IN" sz="2200" dirty="0" smtClean="0">
                <a:solidFill>
                  <a:schemeClr val="tx1"/>
                </a:solidFill>
              </a:rPr>
              <a:t>this worldly </a:t>
            </a:r>
            <a:r>
              <a:rPr lang="en-IN" sz="2200" dirty="0">
                <a:solidFill>
                  <a:schemeClr val="tx1"/>
                </a:solidFill>
              </a:rPr>
              <a:t>and the </a:t>
            </a:r>
            <a:r>
              <a:rPr lang="en-IN" sz="2200" dirty="0" smtClean="0">
                <a:solidFill>
                  <a:schemeClr val="tx1"/>
                </a:solidFill>
              </a:rPr>
              <a:t>that worldly</a:t>
            </a:r>
            <a:r>
              <a:rPr lang="en-IN" sz="2200" dirty="0">
                <a:solidFill>
                  <a:schemeClr val="tx1"/>
                </a:solidFill>
              </a:rPr>
              <a:t>. </a:t>
            </a:r>
            <a:endParaRPr lang="en-IN" sz="2200" dirty="0" smtClean="0">
              <a:solidFill>
                <a:schemeClr val="tx1"/>
              </a:solidFill>
            </a:endParaRPr>
          </a:p>
          <a:p>
            <a:pPr lvl="1" algn="just">
              <a:buFont typeface="Wingdings" panose="05000000000000000000" pitchFamily="2" charset="2"/>
              <a:buChar char="ü"/>
            </a:pPr>
            <a:r>
              <a:rPr lang="en-IN" sz="2200" dirty="0" smtClean="0">
                <a:solidFill>
                  <a:schemeClr val="tx1"/>
                </a:solidFill>
              </a:rPr>
              <a:t>Therefore</a:t>
            </a:r>
            <a:r>
              <a:rPr lang="en-IN" sz="2200" dirty="0">
                <a:solidFill>
                  <a:schemeClr val="tx1"/>
                </a:solidFill>
              </a:rPr>
              <a:t>, religion essentially has some notion of God or some other supernatural entity. It is a particular way of worshipping.</a:t>
            </a:r>
            <a:endParaRPr lang="en-IN" sz="2200" dirty="0" smtClean="0">
              <a:solidFill>
                <a:schemeClr val="tx1"/>
              </a:solidFill>
            </a:endParaRPr>
          </a:p>
        </p:txBody>
      </p:sp>
    </p:spTree>
    <p:extLst>
      <p:ext uri="{BB962C8B-B14F-4D97-AF65-F5344CB8AC3E}">
        <p14:creationId xmlns:p14="http://schemas.microsoft.com/office/powerpoint/2010/main" val="3299061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2800" b="1" dirty="0" smtClean="0">
                <a:solidFill>
                  <a:schemeClr val="tx1"/>
                </a:solidFill>
              </a:rPr>
              <a:t>Dharma</a:t>
            </a:r>
          </a:p>
          <a:p>
            <a:pPr lvl="1" algn="just">
              <a:buFont typeface="Arial" panose="020B0604020202020204" pitchFamily="34" charset="0"/>
              <a:buChar char="•"/>
            </a:pPr>
            <a:r>
              <a:rPr lang="en-IN" sz="2400" dirty="0">
                <a:solidFill>
                  <a:schemeClr val="tx1"/>
                </a:solidFill>
              </a:rPr>
              <a:t>On the other hand derived from the Sanskrit root </a:t>
            </a:r>
            <a:r>
              <a:rPr lang="en-IN" sz="2400" b="1" i="1" dirty="0" err="1">
                <a:solidFill>
                  <a:schemeClr val="tx1"/>
                </a:solidFill>
              </a:rPr>
              <a:t>dhr</a:t>
            </a:r>
            <a:r>
              <a:rPr lang="en-IN" sz="2400" dirty="0">
                <a:solidFill>
                  <a:schemeClr val="tx1"/>
                </a:solidFill>
              </a:rPr>
              <a:t>, which connotes to sustain, support or uphold, dharma has a wide range of </a:t>
            </a:r>
            <a:r>
              <a:rPr lang="en-IN" sz="2400" dirty="0" smtClean="0">
                <a:solidFill>
                  <a:schemeClr val="tx1"/>
                </a:solidFill>
              </a:rPr>
              <a:t>meaning.</a:t>
            </a:r>
          </a:p>
          <a:p>
            <a:pPr lvl="1" algn="just">
              <a:buFont typeface="Arial" panose="020B0604020202020204" pitchFamily="34" charset="0"/>
              <a:buChar char="•"/>
            </a:pPr>
            <a:r>
              <a:rPr lang="en-IN" sz="2400" dirty="0" smtClean="0">
                <a:solidFill>
                  <a:schemeClr val="tx1"/>
                </a:solidFill>
              </a:rPr>
              <a:t>it </a:t>
            </a:r>
            <a:r>
              <a:rPr lang="en-IN" sz="2400" dirty="0">
                <a:solidFill>
                  <a:schemeClr val="tx1"/>
                </a:solidFill>
              </a:rPr>
              <a:t>is the essential foundation of something or of things in general, and thus signifies ‘truth</a:t>
            </a:r>
            <a:r>
              <a:rPr lang="en-IN" sz="2400" dirty="0" smtClean="0">
                <a:solidFill>
                  <a:schemeClr val="tx1"/>
                </a:solidFill>
              </a:rPr>
              <a:t>’, </a:t>
            </a:r>
            <a:r>
              <a:rPr lang="en-IN" sz="2400" dirty="0">
                <a:solidFill>
                  <a:schemeClr val="tx1"/>
                </a:solidFill>
              </a:rPr>
              <a:t>customary, </a:t>
            </a:r>
            <a:r>
              <a:rPr lang="en-IN" sz="2400" dirty="0" smtClean="0">
                <a:solidFill>
                  <a:schemeClr val="tx1"/>
                </a:solidFill>
              </a:rPr>
              <a:t>proper, </a:t>
            </a:r>
            <a:r>
              <a:rPr lang="en-IN" sz="2400" dirty="0">
                <a:solidFill>
                  <a:schemeClr val="tx1"/>
                </a:solidFill>
              </a:rPr>
              <a:t>‘traditional’ or </a:t>
            </a:r>
            <a:r>
              <a:rPr lang="en-IN" sz="2400" dirty="0" smtClean="0">
                <a:solidFill>
                  <a:schemeClr val="tx1"/>
                </a:solidFill>
              </a:rPr>
              <a:t>ceremonial, duty</a:t>
            </a:r>
            <a:r>
              <a:rPr lang="en-IN" sz="2400" dirty="0">
                <a:solidFill>
                  <a:schemeClr val="tx1"/>
                </a:solidFill>
              </a:rPr>
              <a:t>, responsibility, </a:t>
            </a:r>
            <a:r>
              <a:rPr lang="en-IN" sz="2400" dirty="0" smtClean="0">
                <a:solidFill>
                  <a:schemeClr val="tx1"/>
                </a:solidFill>
              </a:rPr>
              <a:t>imperative, </a:t>
            </a:r>
            <a:r>
              <a:rPr lang="en-IN" sz="2400" dirty="0">
                <a:solidFill>
                  <a:schemeClr val="tx1"/>
                </a:solidFill>
              </a:rPr>
              <a:t>‘moral obligation</a:t>
            </a:r>
            <a:r>
              <a:rPr lang="en-IN" sz="2400" dirty="0" smtClean="0">
                <a:solidFill>
                  <a:schemeClr val="tx1"/>
                </a:solidFill>
              </a:rPr>
              <a:t>’, </a:t>
            </a:r>
            <a:r>
              <a:rPr lang="en-IN" sz="2400" dirty="0">
                <a:solidFill>
                  <a:schemeClr val="tx1"/>
                </a:solidFill>
              </a:rPr>
              <a:t>right, virtuous, meritorious, </a:t>
            </a:r>
            <a:r>
              <a:rPr lang="en-IN" sz="2400" dirty="0" smtClean="0">
                <a:solidFill>
                  <a:schemeClr val="tx1"/>
                </a:solidFill>
              </a:rPr>
              <a:t>ethical</a:t>
            </a:r>
            <a:r>
              <a:rPr lang="en-IN" sz="2400" dirty="0">
                <a:solidFill>
                  <a:schemeClr val="tx1"/>
                </a:solidFill>
              </a:rPr>
              <a:t>,</a:t>
            </a:r>
            <a:r>
              <a:rPr lang="en-IN" sz="2400" dirty="0" smtClean="0">
                <a:solidFill>
                  <a:schemeClr val="tx1"/>
                </a:solidFill>
              </a:rPr>
              <a:t> </a:t>
            </a:r>
            <a:r>
              <a:rPr lang="en-IN" sz="2400" dirty="0">
                <a:solidFill>
                  <a:schemeClr val="tx1"/>
                </a:solidFill>
              </a:rPr>
              <a:t>required, </a:t>
            </a:r>
            <a:r>
              <a:rPr lang="en-IN" sz="2400" dirty="0" err="1">
                <a:solidFill>
                  <a:schemeClr val="tx1"/>
                </a:solidFill>
              </a:rPr>
              <a:t>precepted</a:t>
            </a:r>
            <a:r>
              <a:rPr lang="en-IN" sz="2400" dirty="0">
                <a:solidFill>
                  <a:schemeClr val="tx1"/>
                </a:solidFill>
              </a:rPr>
              <a:t>, or permitted through religious authority, and </a:t>
            </a:r>
            <a:r>
              <a:rPr lang="en-IN" sz="2400" dirty="0" smtClean="0">
                <a:solidFill>
                  <a:schemeClr val="tx1"/>
                </a:solidFill>
              </a:rPr>
              <a:t> legal.</a:t>
            </a:r>
          </a:p>
          <a:p>
            <a:pPr lvl="1" algn="just">
              <a:buFont typeface="Arial" panose="020B0604020202020204" pitchFamily="34" charset="0"/>
              <a:buChar char="•"/>
            </a:pPr>
            <a:r>
              <a:rPr lang="en-IN" sz="2400" dirty="0" smtClean="0">
                <a:solidFill>
                  <a:schemeClr val="tx1"/>
                </a:solidFill>
              </a:rPr>
              <a:t>Code of conduct for the society.</a:t>
            </a:r>
          </a:p>
          <a:p>
            <a:pPr marL="0" indent="0" algn="just">
              <a:buNone/>
            </a:pPr>
            <a:endParaRPr lang="en-IN" sz="2800" b="1" dirty="0" smtClean="0">
              <a:solidFill>
                <a:schemeClr val="tx1"/>
              </a:solidFill>
            </a:endParaRPr>
          </a:p>
        </p:txBody>
      </p:sp>
    </p:spTree>
    <p:extLst>
      <p:ext uri="{BB962C8B-B14F-4D97-AF65-F5344CB8AC3E}">
        <p14:creationId xmlns:p14="http://schemas.microsoft.com/office/powerpoint/2010/main" val="1448300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buNone/>
            </a:pPr>
            <a:r>
              <a:rPr lang="en-IN" sz="2800" b="1" dirty="0" smtClean="0">
                <a:solidFill>
                  <a:schemeClr val="tx1"/>
                </a:solidFill>
              </a:rPr>
              <a:t>Dharma</a:t>
            </a:r>
          </a:p>
          <a:p>
            <a:pPr marL="971550" lvl="1" indent="-514350">
              <a:buFont typeface="+mj-lt"/>
              <a:buAutoNum type="alphaLcPeriod"/>
            </a:pPr>
            <a:r>
              <a:rPr lang="en-IN" sz="2600" b="1" i="1" dirty="0" err="1">
                <a:solidFill>
                  <a:schemeClr val="tx1"/>
                </a:solidFill>
              </a:rPr>
              <a:t>Sāmānya</a:t>
            </a:r>
            <a:r>
              <a:rPr lang="en-IN" sz="2600" b="1" i="1" dirty="0">
                <a:solidFill>
                  <a:schemeClr val="tx1"/>
                </a:solidFill>
              </a:rPr>
              <a:t> Dharma</a:t>
            </a:r>
            <a:r>
              <a:rPr lang="en-IN" sz="2600" dirty="0">
                <a:solidFill>
                  <a:schemeClr val="tx1"/>
                </a:solidFill>
              </a:rPr>
              <a:t>— Some general rules which are universal in nature like truth, non-violence and non-stealing. </a:t>
            </a:r>
            <a:endParaRPr lang="en-IN" sz="2600" dirty="0" smtClean="0">
              <a:solidFill>
                <a:schemeClr val="tx1"/>
              </a:solidFill>
            </a:endParaRPr>
          </a:p>
          <a:p>
            <a:pPr marL="971550" lvl="1" indent="-514350">
              <a:buFont typeface="+mj-lt"/>
              <a:buAutoNum type="alphaLcPeriod"/>
            </a:pPr>
            <a:r>
              <a:rPr lang="en-IN" sz="2600" b="1" i="1" dirty="0" err="1" smtClean="0">
                <a:solidFill>
                  <a:schemeClr val="tx1"/>
                </a:solidFill>
              </a:rPr>
              <a:t>Rāj</a:t>
            </a:r>
            <a:r>
              <a:rPr lang="en-IN" sz="2600" b="1" i="1" dirty="0" smtClean="0">
                <a:solidFill>
                  <a:schemeClr val="tx1"/>
                </a:solidFill>
              </a:rPr>
              <a:t> </a:t>
            </a:r>
            <a:r>
              <a:rPr lang="en-IN" sz="2600" b="1" i="1" dirty="0">
                <a:solidFill>
                  <a:schemeClr val="tx1"/>
                </a:solidFill>
              </a:rPr>
              <a:t>Dharma</a:t>
            </a:r>
            <a:r>
              <a:rPr lang="en-IN" sz="2600" dirty="0">
                <a:solidFill>
                  <a:schemeClr val="tx1"/>
                </a:solidFill>
              </a:rPr>
              <a:t>— Duties of the king. </a:t>
            </a:r>
            <a:endParaRPr lang="en-IN" sz="2600" dirty="0" smtClean="0">
              <a:solidFill>
                <a:schemeClr val="tx1"/>
              </a:solidFill>
            </a:endParaRPr>
          </a:p>
          <a:p>
            <a:pPr marL="971550" lvl="1" indent="-514350">
              <a:buFont typeface="+mj-lt"/>
              <a:buAutoNum type="alphaLcPeriod"/>
            </a:pPr>
            <a:r>
              <a:rPr lang="en-IN" sz="2600" b="1" i="1" dirty="0" err="1" smtClean="0">
                <a:solidFill>
                  <a:schemeClr val="tx1"/>
                </a:solidFill>
              </a:rPr>
              <a:t>Stree</a:t>
            </a:r>
            <a:r>
              <a:rPr lang="en-IN" sz="2600" b="1" i="1" dirty="0" smtClean="0">
                <a:solidFill>
                  <a:schemeClr val="tx1"/>
                </a:solidFill>
              </a:rPr>
              <a:t> </a:t>
            </a:r>
            <a:r>
              <a:rPr lang="en-IN" sz="2600" b="1" i="1" dirty="0">
                <a:solidFill>
                  <a:schemeClr val="tx1"/>
                </a:solidFill>
              </a:rPr>
              <a:t>Dharma</a:t>
            </a:r>
            <a:r>
              <a:rPr lang="en-IN" sz="2600" dirty="0">
                <a:solidFill>
                  <a:schemeClr val="tx1"/>
                </a:solidFill>
              </a:rPr>
              <a:t>— Duties of woman. </a:t>
            </a:r>
            <a:endParaRPr lang="en-IN" sz="2600" dirty="0" smtClean="0">
              <a:solidFill>
                <a:schemeClr val="tx1"/>
              </a:solidFill>
            </a:endParaRPr>
          </a:p>
          <a:p>
            <a:pPr marL="971550" lvl="1" indent="-514350">
              <a:buFont typeface="+mj-lt"/>
              <a:buAutoNum type="alphaLcPeriod"/>
            </a:pPr>
            <a:r>
              <a:rPr lang="en-IN" sz="2600" b="1" i="1" dirty="0" err="1" smtClean="0">
                <a:solidFill>
                  <a:schemeClr val="tx1"/>
                </a:solidFill>
              </a:rPr>
              <a:t>Dāmpatya</a:t>
            </a:r>
            <a:r>
              <a:rPr lang="en-IN" sz="2600" b="1" i="1" dirty="0" smtClean="0">
                <a:solidFill>
                  <a:schemeClr val="tx1"/>
                </a:solidFill>
              </a:rPr>
              <a:t> </a:t>
            </a:r>
            <a:r>
              <a:rPr lang="en-IN" sz="2600" b="1" i="1" dirty="0">
                <a:solidFill>
                  <a:schemeClr val="tx1"/>
                </a:solidFill>
              </a:rPr>
              <a:t>Dharma</a:t>
            </a:r>
            <a:r>
              <a:rPr lang="en-IN" sz="2600" dirty="0">
                <a:solidFill>
                  <a:schemeClr val="tx1"/>
                </a:solidFill>
              </a:rPr>
              <a:t>— Duties of husband and wife. </a:t>
            </a:r>
            <a:endParaRPr lang="en-IN" sz="2600" dirty="0" smtClean="0">
              <a:solidFill>
                <a:schemeClr val="tx1"/>
              </a:solidFill>
            </a:endParaRPr>
          </a:p>
          <a:p>
            <a:pPr marL="971550" lvl="1" indent="-514350">
              <a:buFont typeface="+mj-lt"/>
              <a:buAutoNum type="alphaLcPeriod"/>
            </a:pPr>
            <a:r>
              <a:rPr lang="en-IN" sz="2600" b="1" i="1" dirty="0" smtClean="0">
                <a:solidFill>
                  <a:schemeClr val="tx1"/>
                </a:solidFill>
              </a:rPr>
              <a:t>Varna </a:t>
            </a:r>
            <a:r>
              <a:rPr lang="en-IN" sz="2600" b="1" i="1" dirty="0">
                <a:solidFill>
                  <a:schemeClr val="tx1"/>
                </a:solidFill>
              </a:rPr>
              <a:t>Dharma</a:t>
            </a:r>
            <a:r>
              <a:rPr lang="en-IN" sz="2600" dirty="0">
                <a:solidFill>
                  <a:schemeClr val="tx1"/>
                </a:solidFill>
              </a:rPr>
              <a:t>— Duties of </a:t>
            </a:r>
            <a:r>
              <a:rPr lang="en-IN" sz="2600" dirty="0" err="1">
                <a:solidFill>
                  <a:schemeClr val="tx1"/>
                </a:solidFill>
              </a:rPr>
              <a:t>varnas</a:t>
            </a:r>
            <a:r>
              <a:rPr lang="en-IN" sz="2600" dirty="0">
                <a:solidFill>
                  <a:schemeClr val="tx1"/>
                </a:solidFill>
              </a:rPr>
              <a:t>. </a:t>
            </a:r>
            <a:endParaRPr lang="en-IN" sz="2600" dirty="0" smtClean="0">
              <a:solidFill>
                <a:schemeClr val="tx1"/>
              </a:solidFill>
            </a:endParaRPr>
          </a:p>
          <a:p>
            <a:pPr marL="971550" lvl="1" indent="-514350">
              <a:buFont typeface="+mj-lt"/>
              <a:buAutoNum type="alphaLcPeriod"/>
            </a:pPr>
            <a:r>
              <a:rPr lang="en-IN" sz="2600" b="1" i="1" dirty="0" err="1" smtClean="0">
                <a:solidFill>
                  <a:schemeClr val="tx1"/>
                </a:solidFill>
              </a:rPr>
              <a:t>Āshrama</a:t>
            </a:r>
            <a:r>
              <a:rPr lang="en-IN" sz="2600" b="1" i="1" dirty="0" smtClean="0">
                <a:solidFill>
                  <a:schemeClr val="tx1"/>
                </a:solidFill>
              </a:rPr>
              <a:t> </a:t>
            </a:r>
            <a:r>
              <a:rPr lang="en-IN" sz="2600" b="1" i="1" dirty="0">
                <a:solidFill>
                  <a:schemeClr val="tx1"/>
                </a:solidFill>
              </a:rPr>
              <a:t>Dharma</a:t>
            </a:r>
            <a:r>
              <a:rPr lang="en-IN" sz="2600" dirty="0">
                <a:solidFill>
                  <a:schemeClr val="tx1"/>
                </a:solidFill>
              </a:rPr>
              <a:t>— Duties in the different stages of life. </a:t>
            </a:r>
            <a:endParaRPr lang="en-IN" sz="2600" dirty="0" smtClean="0">
              <a:solidFill>
                <a:schemeClr val="tx1"/>
              </a:solidFill>
            </a:endParaRPr>
          </a:p>
          <a:p>
            <a:pPr marL="971550" lvl="1" indent="-514350">
              <a:buFont typeface="+mj-lt"/>
              <a:buAutoNum type="alphaLcPeriod"/>
            </a:pPr>
            <a:r>
              <a:rPr lang="en-IN" sz="2600" b="1" i="1" dirty="0" err="1" smtClean="0">
                <a:solidFill>
                  <a:schemeClr val="tx1"/>
                </a:solidFill>
              </a:rPr>
              <a:t>Āpad</a:t>
            </a:r>
            <a:r>
              <a:rPr lang="en-IN" sz="2600" b="1" i="1" dirty="0" smtClean="0">
                <a:solidFill>
                  <a:schemeClr val="tx1"/>
                </a:solidFill>
              </a:rPr>
              <a:t> </a:t>
            </a:r>
            <a:r>
              <a:rPr lang="en-IN" sz="2600" b="1" i="1" dirty="0">
                <a:solidFill>
                  <a:schemeClr val="tx1"/>
                </a:solidFill>
              </a:rPr>
              <a:t>Dharma</a:t>
            </a:r>
            <a:r>
              <a:rPr lang="en-IN" sz="2600" dirty="0">
                <a:solidFill>
                  <a:schemeClr val="tx1"/>
                </a:solidFill>
              </a:rPr>
              <a:t>— Duties during the crisis period. </a:t>
            </a:r>
            <a:endParaRPr lang="en-IN" sz="2600" b="1" dirty="0" smtClean="0">
              <a:solidFill>
                <a:schemeClr val="tx1"/>
              </a:solidFill>
            </a:endParaRPr>
          </a:p>
        </p:txBody>
      </p:sp>
    </p:spTree>
    <p:extLst>
      <p:ext uri="{BB962C8B-B14F-4D97-AF65-F5344CB8AC3E}">
        <p14:creationId xmlns:p14="http://schemas.microsoft.com/office/powerpoint/2010/main" val="2782151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2800" b="1" dirty="0" err="1" smtClean="0">
                <a:solidFill>
                  <a:schemeClr val="tx1"/>
                </a:solidFill>
              </a:rPr>
              <a:t>Artha</a:t>
            </a:r>
            <a:endParaRPr lang="en-IN" sz="2800" b="1" dirty="0" smtClean="0">
              <a:solidFill>
                <a:schemeClr val="tx1"/>
              </a:solidFill>
            </a:endParaRPr>
          </a:p>
          <a:p>
            <a:pPr lvl="1" algn="just">
              <a:buFont typeface="Wingdings" panose="05000000000000000000" pitchFamily="2" charset="2"/>
              <a:buChar char="ü"/>
            </a:pPr>
            <a:r>
              <a:rPr lang="en-IN" sz="2600" b="1" i="1" dirty="0" err="1">
                <a:solidFill>
                  <a:schemeClr val="tx1"/>
                </a:solidFill>
              </a:rPr>
              <a:t>Artha</a:t>
            </a:r>
            <a:r>
              <a:rPr lang="en-IN" sz="2600" dirty="0">
                <a:solidFill>
                  <a:schemeClr val="tx1"/>
                </a:solidFill>
              </a:rPr>
              <a:t> is the second </a:t>
            </a:r>
            <a:r>
              <a:rPr lang="en-IN" sz="2600" b="1" i="1" dirty="0" err="1">
                <a:solidFill>
                  <a:schemeClr val="tx1"/>
                </a:solidFill>
              </a:rPr>
              <a:t>purusārtha</a:t>
            </a:r>
            <a:r>
              <a:rPr lang="en-IN" sz="2600" dirty="0">
                <a:solidFill>
                  <a:schemeClr val="tx1"/>
                </a:solidFill>
              </a:rPr>
              <a:t>. </a:t>
            </a:r>
            <a:endParaRPr lang="en-IN" sz="2600" dirty="0" smtClean="0">
              <a:solidFill>
                <a:schemeClr val="tx1"/>
              </a:solidFill>
            </a:endParaRPr>
          </a:p>
          <a:p>
            <a:pPr lvl="1" algn="just">
              <a:buFont typeface="Wingdings" panose="05000000000000000000" pitchFamily="2" charset="2"/>
              <a:buChar char="ü"/>
            </a:pPr>
            <a:r>
              <a:rPr lang="en-IN" sz="2600" dirty="0" smtClean="0">
                <a:solidFill>
                  <a:schemeClr val="tx1"/>
                </a:solidFill>
              </a:rPr>
              <a:t>The </a:t>
            </a:r>
            <a:r>
              <a:rPr lang="en-IN" sz="2600" dirty="0">
                <a:solidFill>
                  <a:schemeClr val="tx1"/>
                </a:solidFill>
              </a:rPr>
              <a:t>term </a:t>
            </a:r>
            <a:r>
              <a:rPr lang="en-IN" sz="2600" b="1" i="1" dirty="0" err="1">
                <a:solidFill>
                  <a:schemeClr val="tx1"/>
                </a:solidFill>
              </a:rPr>
              <a:t>artha</a:t>
            </a:r>
            <a:r>
              <a:rPr lang="en-IN" sz="2600" dirty="0">
                <a:solidFill>
                  <a:schemeClr val="tx1"/>
                </a:solidFill>
              </a:rPr>
              <a:t> refers to worldly prosperity or wealth. </a:t>
            </a:r>
            <a:endParaRPr lang="en-IN" sz="2600" dirty="0" smtClean="0">
              <a:solidFill>
                <a:schemeClr val="tx1"/>
              </a:solidFill>
            </a:endParaRPr>
          </a:p>
          <a:p>
            <a:pPr lvl="1" algn="just">
              <a:buFont typeface="Wingdings" panose="05000000000000000000" pitchFamily="2" charset="2"/>
              <a:buChar char="ü"/>
            </a:pPr>
            <a:r>
              <a:rPr lang="en-IN" sz="2600" dirty="0" smtClean="0">
                <a:solidFill>
                  <a:schemeClr val="tx1"/>
                </a:solidFill>
              </a:rPr>
              <a:t>It </a:t>
            </a:r>
            <a:r>
              <a:rPr lang="en-IN" sz="2600" dirty="0">
                <a:solidFill>
                  <a:schemeClr val="tx1"/>
                </a:solidFill>
              </a:rPr>
              <a:t>includes all the material means of life. </a:t>
            </a:r>
            <a:endParaRPr lang="en-IN" sz="2600" dirty="0" smtClean="0">
              <a:solidFill>
                <a:schemeClr val="tx1"/>
              </a:solidFill>
            </a:endParaRPr>
          </a:p>
          <a:p>
            <a:pPr lvl="1" algn="just">
              <a:buFont typeface="Wingdings" panose="05000000000000000000" pitchFamily="2" charset="2"/>
              <a:buChar char="ü"/>
            </a:pPr>
            <a:r>
              <a:rPr lang="en-IN" sz="2600" dirty="0" err="1" smtClean="0">
                <a:solidFill>
                  <a:schemeClr val="tx1"/>
                </a:solidFill>
              </a:rPr>
              <a:t>Kautilya</a:t>
            </a:r>
            <a:r>
              <a:rPr lang="en-IN" sz="2600" dirty="0" smtClean="0">
                <a:solidFill>
                  <a:schemeClr val="tx1"/>
                </a:solidFill>
              </a:rPr>
              <a:t> </a:t>
            </a:r>
            <a:r>
              <a:rPr lang="en-IN" sz="2600" dirty="0">
                <a:solidFill>
                  <a:schemeClr val="tx1"/>
                </a:solidFill>
              </a:rPr>
              <a:t>maintains that wealth is the basis of human requirements and that social well-being depends ultimately on material prosperity. </a:t>
            </a:r>
            <a:endParaRPr lang="en-IN" sz="2600" dirty="0" smtClean="0">
              <a:solidFill>
                <a:schemeClr val="tx1"/>
              </a:solidFill>
            </a:endParaRPr>
          </a:p>
          <a:p>
            <a:pPr lvl="1" algn="just">
              <a:buFont typeface="Wingdings" panose="05000000000000000000" pitchFamily="2" charset="2"/>
              <a:buChar char="ü"/>
            </a:pPr>
            <a:r>
              <a:rPr lang="en-IN" sz="2600" dirty="0" smtClean="0">
                <a:solidFill>
                  <a:schemeClr val="tx1"/>
                </a:solidFill>
              </a:rPr>
              <a:t>Indian </a:t>
            </a:r>
            <a:r>
              <a:rPr lang="en-IN" sz="2600" dirty="0">
                <a:solidFill>
                  <a:schemeClr val="tx1"/>
                </a:solidFill>
              </a:rPr>
              <a:t>thinkers had recognised the pursuit of wealth as a legitimate human aspiration. </a:t>
            </a:r>
            <a:endParaRPr lang="en-IN" sz="2600" dirty="0" smtClean="0">
              <a:solidFill>
                <a:schemeClr val="tx1"/>
              </a:solidFill>
            </a:endParaRPr>
          </a:p>
          <a:p>
            <a:pPr lvl="1" algn="just">
              <a:buFont typeface="Wingdings" panose="05000000000000000000" pitchFamily="2" charset="2"/>
              <a:buChar char="ü"/>
            </a:pPr>
            <a:r>
              <a:rPr lang="en-IN" sz="2600" dirty="0" smtClean="0">
                <a:solidFill>
                  <a:schemeClr val="tx1"/>
                </a:solidFill>
              </a:rPr>
              <a:t>But </a:t>
            </a:r>
            <a:r>
              <a:rPr lang="en-IN" sz="2600" b="1" i="1" dirty="0" err="1">
                <a:solidFill>
                  <a:schemeClr val="tx1"/>
                </a:solidFill>
              </a:rPr>
              <a:t>artha</a:t>
            </a:r>
            <a:r>
              <a:rPr lang="en-IN" sz="2600" dirty="0">
                <a:solidFill>
                  <a:schemeClr val="tx1"/>
                </a:solidFill>
              </a:rPr>
              <a:t> must be acquired by right means.</a:t>
            </a:r>
            <a:endParaRPr lang="en-IN" sz="2600" b="1" dirty="0" smtClean="0">
              <a:solidFill>
                <a:schemeClr val="tx1"/>
              </a:solidFill>
            </a:endParaRPr>
          </a:p>
        </p:txBody>
      </p:sp>
    </p:spTree>
    <p:extLst>
      <p:ext uri="{BB962C8B-B14F-4D97-AF65-F5344CB8AC3E}">
        <p14:creationId xmlns:p14="http://schemas.microsoft.com/office/powerpoint/2010/main" val="2346943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3600" b="1" dirty="0" smtClean="0">
                <a:solidFill>
                  <a:schemeClr val="tx1"/>
                </a:solidFill>
              </a:rPr>
              <a:t>Kama</a:t>
            </a:r>
          </a:p>
          <a:p>
            <a:pPr marL="971550" lvl="1" indent="-514350" algn="just">
              <a:buFont typeface="+mj-lt"/>
              <a:buAutoNum type="alphaLcPeriod"/>
            </a:pPr>
            <a:r>
              <a:rPr lang="en-IN" sz="3200" b="1" i="1" dirty="0" err="1">
                <a:solidFill>
                  <a:schemeClr val="tx1"/>
                </a:solidFill>
              </a:rPr>
              <a:t>Kāma</a:t>
            </a:r>
            <a:r>
              <a:rPr lang="en-IN" sz="3200" dirty="0">
                <a:solidFill>
                  <a:schemeClr val="tx1"/>
                </a:solidFill>
              </a:rPr>
              <a:t> means worldly pleasures or sensual pleasures. </a:t>
            </a:r>
            <a:endParaRPr lang="en-IN" sz="3200" dirty="0" smtClean="0">
              <a:solidFill>
                <a:schemeClr val="tx1"/>
              </a:solidFill>
            </a:endParaRPr>
          </a:p>
          <a:p>
            <a:pPr marL="971550" lvl="1" indent="-514350" algn="just">
              <a:buFont typeface="+mj-lt"/>
              <a:buAutoNum type="alphaLcPeriod"/>
            </a:pPr>
            <a:r>
              <a:rPr lang="en-IN" sz="3200" dirty="0" smtClean="0">
                <a:solidFill>
                  <a:schemeClr val="tx1"/>
                </a:solidFill>
              </a:rPr>
              <a:t>It </a:t>
            </a:r>
            <a:r>
              <a:rPr lang="en-IN" sz="3200" dirty="0">
                <a:solidFill>
                  <a:schemeClr val="tx1"/>
                </a:solidFill>
              </a:rPr>
              <a:t>refers to some of the innate desires and urges in human beings. </a:t>
            </a:r>
            <a:endParaRPr lang="en-IN" sz="3200" dirty="0" smtClean="0">
              <a:solidFill>
                <a:schemeClr val="tx1"/>
              </a:solidFill>
            </a:endParaRPr>
          </a:p>
          <a:p>
            <a:pPr marL="971550" lvl="1" indent="-514350" algn="just">
              <a:buFont typeface="+mj-lt"/>
              <a:buAutoNum type="alphaLcPeriod"/>
            </a:pPr>
            <a:r>
              <a:rPr lang="en-IN" sz="3200" dirty="0" smtClean="0">
                <a:solidFill>
                  <a:schemeClr val="tx1"/>
                </a:solidFill>
              </a:rPr>
              <a:t>In </a:t>
            </a:r>
            <a:r>
              <a:rPr lang="en-IN" sz="3200" dirty="0">
                <a:solidFill>
                  <a:schemeClr val="tx1"/>
                </a:solidFill>
              </a:rPr>
              <a:t>the narrow sense </a:t>
            </a:r>
            <a:r>
              <a:rPr lang="en-IN" sz="3200" b="1" i="1" dirty="0" err="1">
                <a:solidFill>
                  <a:schemeClr val="tx1"/>
                </a:solidFill>
              </a:rPr>
              <a:t>kāma</a:t>
            </a:r>
            <a:r>
              <a:rPr lang="en-IN" sz="3200" dirty="0">
                <a:solidFill>
                  <a:schemeClr val="tx1"/>
                </a:solidFill>
              </a:rPr>
              <a:t> means </a:t>
            </a:r>
            <a:r>
              <a:rPr lang="en-IN" sz="3200" dirty="0" smtClean="0">
                <a:solidFill>
                  <a:schemeClr val="tx1"/>
                </a:solidFill>
              </a:rPr>
              <a:t>body(physical) pleasure.</a:t>
            </a:r>
          </a:p>
          <a:p>
            <a:pPr marL="971550" lvl="1" indent="-514350" algn="just">
              <a:buFont typeface="+mj-lt"/>
              <a:buAutoNum type="alphaLcPeriod"/>
            </a:pPr>
            <a:r>
              <a:rPr lang="en-IN" sz="3200" dirty="0" smtClean="0">
                <a:solidFill>
                  <a:schemeClr val="tx1"/>
                </a:solidFill>
              </a:rPr>
              <a:t>In </a:t>
            </a:r>
            <a:r>
              <a:rPr lang="en-IN" sz="3200" dirty="0">
                <a:solidFill>
                  <a:schemeClr val="tx1"/>
                </a:solidFill>
              </a:rPr>
              <a:t>the wider sense it involves </a:t>
            </a:r>
            <a:r>
              <a:rPr lang="en-IN" sz="3200" dirty="0" smtClean="0">
                <a:solidFill>
                  <a:schemeClr val="tx1"/>
                </a:solidFill>
              </a:rPr>
              <a:t>body(physical), </a:t>
            </a:r>
            <a:r>
              <a:rPr lang="en-IN" sz="3200" dirty="0">
                <a:solidFill>
                  <a:schemeClr val="tx1"/>
                </a:solidFill>
              </a:rPr>
              <a:t>emotional and aesthetic life all together. </a:t>
            </a:r>
            <a:endParaRPr lang="en-IN" sz="3200" b="1" dirty="0" smtClean="0">
              <a:solidFill>
                <a:schemeClr val="tx1"/>
              </a:solidFill>
            </a:endParaRPr>
          </a:p>
        </p:txBody>
      </p:sp>
    </p:spTree>
    <p:extLst>
      <p:ext uri="{BB962C8B-B14F-4D97-AF65-F5344CB8AC3E}">
        <p14:creationId xmlns:p14="http://schemas.microsoft.com/office/powerpoint/2010/main" val="4102759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SOCIETY IN ANCIENT INDIA : </a:t>
            </a:r>
            <a:r>
              <a:rPr lang="en-IN" i="1" dirty="0" smtClean="0"/>
              <a:t>PURUSARTHA</a:t>
            </a:r>
            <a:r>
              <a:rPr lang="en-IN" dirty="0" smtClean="0"/>
              <a:t> </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3600" b="1" dirty="0" smtClean="0">
                <a:solidFill>
                  <a:schemeClr val="tx1"/>
                </a:solidFill>
              </a:rPr>
              <a:t>Moksha</a:t>
            </a:r>
          </a:p>
          <a:p>
            <a:pPr marL="971550" lvl="1" indent="-514350" algn="just">
              <a:buFont typeface="+mj-lt"/>
              <a:buAutoNum type="alphaLcPeriod"/>
            </a:pPr>
            <a:r>
              <a:rPr lang="en-IN" sz="3400" dirty="0">
                <a:solidFill>
                  <a:schemeClr val="tx1"/>
                </a:solidFill>
              </a:rPr>
              <a:t>It is the ultimate </a:t>
            </a:r>
            <a:r>
              <a:rPr lang="en-IN" sz="3400" b="1" i="1" dirty="0" err="1">
                <a:solidFill>
                  <a:schemeClr val="tx1"/>
                </a:solidFill>
              </a:rPr>
              <a:t>purusārtha</a:t>
            </a:r>
            <a:r>
              <a:rPr lang="en-IN" sz="3400" dirty="0">
                <a:solidFill>
                  <a:schemeClr val="tx1"/>
                </a:solidFill>
              </a:rPr>
              <a:t>. </a:t>
            </a:r>
            <a:endParaRPr lang="en-IN" sz="3400" dirty="0" smtClean="0">
              <a:solidFill>
                <a:schemeClr val="tx1"/>
              </a:solidFill>
            </a:endParaRPr>
          </a:p>
          <a:p>
            <a:pPr marL="971550" lvl="1" indent="-514350" algn="just">
              <a:buFont typeface="+mj-lt"/>
              <a:buAutoNum type="alphaLcPeriod"/>
            </a:pPr>
            <a:r>
              <a:rPr lang="en-IN" sz="3400" b="1" i="1" dirty="0" smtClean="0">
                <a:solidFill>
                  <a:schemeClr val="tx1"/>
                </a:solidFill>
              </a:rPr>
              <a:t>Moksha</a:t>
            </a:r>
            <a:r>
              <a:rPr lang="en-IN" sz="3400" dirty="0" smtClean="0">
                <a:solidFill>
                  <a:schemeClr val="tx1"/>
                </a:solidFill>
              </a:rPr>
              <a:t> </a:t>
            </a:r>
            <a:r>
              <a:rPr lang="en-IN" sz="3400" dirty="0">
                <a:solidFill>
                  <a:schemeClr val="tx1"/>
                </a:solidFill>
              </a:rPr>
              <a:t>means salvation or liberation from the cycle of birth and death. </a:t>
            </a:r>
            <a:endParaRPr lang="en-IN" sz="3400" dirty="0" smtClean="0">
              <a:solidFill>
                <a:schemeClr val="tx1"/>
              </a:solidFill>
            </a:endParaRPr>
          </a:p>
          <a:p>
            <a:pPr marL="971550" lvl="1" indent="-514350" algn="just">
              <a:buFont typeface="+mj-lt"/>
              <a:buAutoNum type="alphaLcPeriod"/>
            </a:pPr>
            <a:r>
              <a:rPr lang="en-IN" sz="3400" dirty="0" smtClean="0">
                <a:solidFill>
                  <a:schemeClr val="tx1"/>
                </a:solidFill>
              </a:rPr>
              <a:t>It </a:t>
            </a:r>
            <a:r>
              <a:rPr lang="en-IN" sz="3400" dirty="0">
                <a:solidFill>
                  <a:schemeClr val="tx1"/>
                </a:solidFill>
              </a:rPr>
              <a:t>is the </a:t>
            </a:r>
            <a:r>
              <a:rPr lang="en-IN" sz="3400" b="1" dirty="0" err="1">
                <a:solidFill>
                  <a:schemeClr val="tx1"/>
                </a:solidFill>
              </a:rPr>
              <a:t>summum</a:t>
            </a:r>
            <a:r>
              <a:rPr lang="en-IN" sz="3400" b="1" dirty="0">
                <a:solidFill>
                  <a:schemeClr val="tx1"/>
                </a:solidFill>
              </a:rPr>
              <a:t> </a:t>
            </a:r>
            <a:r>
              <a:rPr lang="en-IN" sz="3400" b="1" dirty="0" err="1">
                <a:solidFill>
                  <a:schemeClr val="tx1"/>
                </a:solidFill>
              </a:rPr>
              <a:t>bonum</a:t>
            </a:r>
            <a:r>
              <a:rPr lang="en-IN" sz="3400" b="1" dirty="0">
                <a:solidFill>
                  <a:schemeClr val="tx1"/>
                </a:solidFill>
              </a:rPr>
              <a:t> </a:t>
            </a:r>
            <a:r>
              <a:rPr lang="en-IN" sz="3400" dirty="0">
                <a:solidFill>
                  <a:schemeClr val="tx1"/>
                </a:solidFill>
              </a:rPr>
              <a:t>of human existence.</a:t>
            </a:r>
            <a:endParaRPr lang="en-IN" sz="3400" b="1" dirty="0" smtClean="0">
              <a:solidFill>
                <a:schemeClr val="tx1"/>
              </a:solidFill>
            </a:endParaRPr>
          </a:p>
        </p:txBody>
      </p:sp>
    </p:spTree>
    <p:extLst>
      <p:ext uri="{BB962C8B-B14F-4D97-AF65-F5344CB8AC3E}">
        <p14:creationId xmlns:p14="http://schemas.microsoft.com/office/powerpoint/2010/main" val="951464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VARNASHRAM SYSTEM</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r>
              <a:rPr lang="en-IN" sz="2800" dirty="0">
                <a:solidFill>
                  <a:schemeClr val="tx1"/>
                </a:solidFill>
              </a:rPr>
              <a:t>Various texts talk of </a:t>
            </a:r>
            <a:r>
              <a:rPr lang="en-IN" sz="2800" b="1" i="1" dirty="0" err="1">
                <a:solidFill>
                  <a:schemeClr val="tx1"/>
                </a:solidFill>
              </a:rPr>
              <a:t>varnāshrmadharma</a:t>
            </a:r>
            <a:r>
              <a:rPr lang="en-IN" sz="2800" dirty="0">
                <a:solidFill>
                  <a:schemeClr val="tx1"/>
                </a:solidFill>
              </a:rPr>
              <a:t> or the </a:t>
            </a:r>
            <a:r>
              <a:rPr lang="en-IN" sz="2800" b="1" i="1" dirty="0">
                <a:solidFill>
                  <a:schemeClr val="tx1"/>
                </a:solidFill>
              </a:rPr>
              <a:t>dharma</a:t>
            </a:r>
            <a:r>
              <a:rPr lang="en-IN" sz="2800" dirty="0">
                <a:solidFill>
                  <a:schemeClr val="tx1"/>
                </a:solidFill>
              </a:rPr>
              <a:t> of different classes and dharma in the different stages of life. </a:t>
            </a:r>
            <a:endParaRPr lang="en-IN" sz="2800" dirty="0" smtClean="0">
              <a:solidFill>
                <a:schemeClr val="tx1"/>
              </a:solidFill>
            </a:endParaRPr>
          </a:p>
          <a:p>
            <a:r>
              <a:rPr lang="en-IN" sz="2800" dirty="0" smtClean="0">
                <a:solidFill>
                  <a:schemeClr val="tx1"/>
                </a:solidFill>
              </a:rPr>
              <a:t>In </a:t>
            </a:r>
            <a:r>
              <a:rPr lang="en-IN" sz="2800" dirty="0">
                <a:solidFill>
                  <a:schemeClr val="tx1"/>
                </a:solidFill>
              </a:rPr>
              <a:t>ancient India there was a common </a:t>
            </a:r>
            <a:r>
              <a:rPr lang="en-IN" sz="2800" b="1" i="1" dirty="0">
                <a:solidFill>
                  <a:schemeClr val="tx1"/>
                </a:solidFill>
              </a:rPr>
              <a:t>dharma</a:t>
            </a:r>
            <a:r>
              <a:rPr lang="en-IN" sz="2800" dirty="0">
                <a:solidFill>
                  <a:schemeClr val="tx1"/>
                </a:solidFill>
              </a:rPr>
              <a:t> for all members of society which must be followed by all equally. </a:t>
            </a:r>
            <a:endParaRPr lang="en-IN" sz="2800" dirty="0" smtClean="0">
              <a:solidFill>
                <a:schemeClr val="tx1"/>
              </a:solidFill>
            </a:endParaRPr>
          </a:p>
          <a:p>
            <a:r>
              <a:rPr lang="en-IN" sz="2800" dirty="0" smtClean="0">
                <a:solidFill>
                  <a:schemeClr val="tx1"/>
                </a:solidFill>
              </a:rPr>
              <a:t>But </a:t>
            </a:r>
            <a:r>
              <a:rPr lang="en-IN" sz="2800" dirty="0">
                <a:solidFill>
                  <a:schemeClr val="tx1"/>
                </a:solidFill>
              </a:rPr>
              <a:t>at the same time there were different codes of conduct for different classes or </a:t>
            </a:r>
            <a:r>
              <a:rPr lang="en-IN" sz="2800" b="1" i="1" dirty="0" err="1">
                <a:solidFill>
                  <a:schemeClr val="tx1"/>
                </a:solidFill>
              </a:rPr>
              <a:t>varnas</a:t>
            </a:r>
            <a:r>
              <a:rPr lang="en-IN" sz="2800" dirty="0">
                <a:solidFill>
                  <a:schemeClr val="tx1"/>
                </a:solidFill>
              </a:rPr>
              <a:t> called </a:t>
            </a:r>
            <a:r>
              <a:rPr lang="en-IN" sz="2800" b="1" i="1" dirty="0" err="1">
                <a:solidFill>
                  <a:schemeClr val="tx1"/>
                </a:solidFill>
              </a:rPr>
              <a:t>varna</a:t>
            </a:r>
            <a:r>
              <a:rPr lang="en-IN" sz="2800" b="1" i="1" dirty="0">
                <a:solidFill>
                  <a:schemeClr val="tx1"/>
                </a:solidFill>
              </a:rPr>
              <a:t>-dharma</a:t>
            </a:r>
            <a:r>
              <a:rPr lang="en-IN" sz="2800" dirty="0">
                <a:solidFill>
                  <a:schemeClr val="tx1"/>
                </a:solidFill>
              </a:rPr>
              <a:t>. </a:t>
            </a:r>
            <a:endParaRPr lang="en-IN" sz="2800" dirty="0" smtClean="0">
              <a:solidFill>
                <a:schemeClr val="tx1"/>
              </a:solidFill>
            </a:endParaRPr>
          </a:p>
          <a:p>
            <a:r>
              <a:rPr lang="en-IN" sz="2800" dirty="0" smtClean="0">
                <a:solidFill>
                  <a:schemeClr val="tx1"/>
                </a:solidFill>
              </a:rPr>
              <a:t>Similarly</a:t>
            </a:r>
            <a:r>
              <a:rPr lang="en-IN" sz="2800" dirty="0">
                <a:solidFill>
                  <a:schemeClr val="tx1"/>
                </a:solidFill>
              </a:rPr>
              <a:t>, it was desired to follow different </a:t>
            </a:r>
            <a:r>
              <a:rPr lang="en-IN" sz="2800" b="1" i="1" dirty="0">
                <a:solidFill>
                  <a:schemeClr val="tx1"/>
                </a:solidFill>
              </a:rPr>
              <a:t>dharma</a:t>
            </a:r>
            <a:r>
              <a:rPr lang="en-IN" sz="2800" dirty="0">
                <a:solidFill>
                  <a:schemeClr val="tx1"/>
                </a:solidFill>
              </a:rPr>
              <a:t> at the different stages or </a:t>
            </a:r>
            <a:r>
              <a:rPr lang="en-IN" sz="2800" b="1" i="1" dirty="0" err="1">
                <a:solidFill>
                  <a:schemeClr val="tx1"/>
                </a:solidFill>
              </a:rPr>
              <a:t>āshrama</a:t>
            </a:r>
            <a:r>
              <a:rPr lang="en-IN" sz="2800" dirty="0">
                <a:solidFill>
                  <a:schemeClr val="tx1"/>
                </a:solidFill>
              </a:rPr>
              <a:t> of life called </a:t>
            </a:r>
            <a:r>
              <a:rPr lang="en-IN" sz="2800" b="1" i="1" dirty="0" err="1">
                <a:solidFill>
                  <a:schemeClr val="tx1"/>
                </a:solidFill>
              </a:rPr>
              <a:t>āshrama</a:t>
            </a:r>
            <a:r>
              <a:rPr lang="en-IN" sz="2800" b="1" i="1" dirty="0">
                <a:solidFill>
                  <a:schemeClr val="tx1"/>
                </a:solidFill>
              </a:rPr>
              <a:t>-dharma</a:t>
            </a:r>
            <a:r>
              <a:rPr lang="en-IN" sz="2800" dirty="0">
                <a:solidFill>
                  <a:schemeClr val="tx1"/>
                </a:solidFill>
              </a:rPr>
              <a:t>.</a:t>
            </a:r>
            <a:endParaRPr lang="en-IN" sz="2800" b="1" dirty="0" smtClean="0">
              <a:solidFill>
                <a:schemeClr val="tx1"/>
              </a:solidFill>
            </a:endParaRPr>
          </a:p>
        </p:txBody>
      </p:sp>
    </p:spTree>
    <p:extLst>
      <p:ext uri="{BB962C8B-B14F-4D97-AF65-F5344CB8AC3E}">
        <p14:creationId xmlns:p14="http://schemas.microsoft.com/office/powerpoint/2010/main" val="41433037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ASHRAMA OR THE STAGES OF LIFE</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3600" dirty="0">
                <a:solidFill>
                  <a:schemeClr val="tx1"/>
                </a:solidFill>
              </a:rPr>
              <a:t>The </a:t>
            </a:r>
            <a:r>
              <a:rPr lang="en-IN" sz="3600" b="1" i="1" dirty="0" err="1">
                <a:solidFill>
                  <a:schemeClr val="tx1"/>
                </a:solidFill>
              </a:rPr>
              <a:t>āshrama</a:t>
            </a:r>
            <a:r>
              <a:rPr lang="en-IN" sz="3600" dirty="0">
                <a:solidFill>
                  <a:schemeClr val="tx1"/>
                </a:solidFill>
              </a:rPr>
              <a:t> system denotes the Hindu scheme of life according to which different stages in the life of an individual are well ordered. </a:t>
            </a:r>
            <a:endParaRPr lang="en-IN" sz="3600" dirty="0" smtClean="0">
              <a:solidFill>
                <a:schemeClr val="tx1"/>
              </a:solidFill>
            </a:endParaRPr>
          </a:p>
          <a:p>
            <a:pPr algn="just"/>
            <a:r>
              <a:rPr lang="en-IN" sz="3600" dirty="0" smtClean="0">
                <a:solidFill>
                  <a:schemeClr val="tx1"/>
                </a:solidFill>
              </a:rPr>
              <a:t>The </a:t>
            </a:r>
            <a:r>
              <a:rPr lang="en-IN" sz="3600" dirty="0">
                <a:solidFill>
                  <a:schemeClr val="tx1"/>
                </a:solidFill>
              </a:rPr>
              <a:t>average life span of an individual is considered to be 100 years and it is divided into four stages each stage having a time span of 25 years.</a:t>
            </a:r>
            <a:endParaRPr lang="en-IN" sz="3600" b="1" dirty="0" smtClean="0">
              <a:solidFill>
                <a:schemeClr val="tx1"/>
              </a:solidFill>
            </a:endParaRPr>
          </a:p>
        </p:txBody>
      </p:sp>
    </p:spTree>
    <p:extLst>
      <p:ext uri="{BB962C8B-B14F-4D97-AF65-F5344CB8AC3E}">
        <p14:creationId xmlns:p14="http://schemas.microsoft.com/office/powerpoint/2010/main" val="2993213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ASHRAMA OR THE STAGES OF LIFE</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3200" b="1" i="1" dirty="0" err="1">
                <a:solidFill>
                  <a:schemeClr val="tx1"/>
                </a:solidFill>
              </a:rPr>
              <a:t>Brahmacharyāshrama</a:t>
            </a:r>
            <a:r>
              <a:rPr lang="en-IN" sz="3200" b="1" dirty="0">
                <a:solidFill>
                  <a:schemeClr val="tx1"/>
                </a:solidFill>
              </a:rPr>
              <a:t> or the Stage of Studentship</a:t>
            </a:r>
            <a:r>
              <a:rPr lang="en-IN" sz="3200" dirty="0">
                <a:solidFill>
                  <a:schemeClr val="tx1"/>
                </a:solidFill>
              </a:rPr>
              <a:t> </a:t>
            </a:r>
          </a:p>
          <a:p>
            <a:pPr lvl="1" algn="just">
              <a:buFont typeface="Arial" panose="020B0604020202020204" pitchFamily="34" charset="0"/>
              <a:buChar char="•"/>
            </a:pPr>
            <a:r>
              <a:rPr lang="en-IN" sz="3000" dirty="0" smtClean="0">
                <a:solidFill>
                  <a:schemeClr val="tx1"/>
                </a:solidFill>
              </a:rPr>
              <a:t>This </a:t>
            </a:r>
            <a:r>
              <a:rPr lang="en-IN" sz="3000" dirty="0">
                <a:solidFill>
                  <a:schemeClr val="tx1"/>
                </a:solidFill>
              </a:rPr>
              <a:t>is the first stage of life.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It </a:t>
            </a:r>
            <a:r>
              <a:rPr lang="en-IN" sz="3000" dirty="0">
                <a:solidFill>
                  <a:schemeClr val="tx1"/>
                </a:solidFill>
              </a:rPr>
              <a:t>is meant for acquiring knowledge, developing discipline and moulding character.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This </a:t>
            </a:r>
            <a:r>
              <a:rPr lang="en-IN" sz="3000" dirty="0">
                <a:solidFill>
                  <a:schemeClr val="tx1"/>
                </a:solidFill>
              </a:rPr>
              <a:t>stage starts with the ceremony called </a:t>
            </a:r>
            <a:r>
              <a:rPr lang="en-IN" sz="3000" b="1" i="1" dirty="0" err="1">
                <a:solidFill>
                  <a:schemeClr val="tx1"/>
                </a:solidFill>
              </a:rPr>
              <a:t>upanayanama</a:t>
            </a:r>
            <a:r>
              <a:rPr lang="en-IN" sz="3000" dirty="0">
                <a:solidFill>
                  <a:schemeClr val="tx1"/>
                </a:solidFill>
              </a:rPr>
              <a:t> or investiture with the sacred thread.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Now </a:t>
            </a:r>
            <a:r>
              <a:rPr lang="en-IN" sz="3000" dirty="0">
                <a:solidFill>
                  <a:schemeClr val="tx1"/>
                </a:solidFill>
              </a:rPr>
              <a:t>the person became a </a:t>
            </a:r>
            <a:r>
              <a:rPr lang="en-IN" sz="3000" b="1" i="1" dirty="0" err="1">
                <a:solidFill>
                  <a:schemeClr val="tx1"/>
                </a:solidFill>
              </a:rPr>
              <a:t>brahmachārina</a:t>
            </a:r>
            <a:r>
              <a:rPr lang="en-IN" sz="3000" dirty="0">
                <a:solidFill>
                  <a:schemeClr val="tx1"/>
                </a:solidFill>
              </a:rPr>
              <a:t>, leading a celibate and austere life as a student at the home of his </a:t>
            </a:r>
            <a:r>
              <a:rPr lang="en-IN" sz="3000" dirty="0" smtClean="0">
                <a:solidFill>
                  <a:schemeClr val="tx1"/>
                </a:solidFill>
              </a:rPr>
              <a:t>teacher.</a:t>
            </a:r>
            <a:endParaRPr lang="en-IN" sz="3000" b="1" dirty="0" smtClean="0">
              <a:solidFill>
                <a:schemeClr val="tx1"/>
              </a:solidFill>
            </a:endParaRPr>
          </a:p>
        </p:txBody>
      </p:sp>
    </p:spTree>
    <p:extLst>
      <p:ext uri="{BB962C8B-B14F-4D97-AF65-F5344CB8AC3E}">
        <p14:creationId xmlns:p14="http://schemas.microsoft.com/office/powerpoint/2010/main" val="2651636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ASHRAMA OR THE STAGES OF LIFE</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3200" b="1" i="1" dirty="0" err="1">
                <a:solidFill>
                  <a:schemeClr val="tx1"/>
                </a:solidFill>
              </a:rPr>
              <a:t>Grihasthāshrama</a:t>
            </a:r>
            <a:r>
              <a:rPr lang="en-IN" sz="3200" b="1" dirty="0">
                <a:solidFill>
                  <a:schemeClr val="tx1"/>
                </a:solidFill>
              </a:rPr>
              <a:t> or the Stage of Householder </a:t>
            </a:r>
          </a:p>
          <a:p>
            <a:pPr lvl="1" algn="just">
              <a:buFont typeface="Arial" panose="020B0604020202020204" pitchFamily="34" charset="0"/>
              <a:buChar char="•"/>
            </a:pPr>
            <a:r>
              <a:rPr lang="en-IN" sz="3000" dirty="0" smtClean="0">
                <a:solidFill>
                  <a:schemeClr val="tx1"/>
                </a:solidFill>
              </a:rPr>
              <a:t>This </a:t>
            </a:r>
            <a:r>
              <a:rPr lang="en-IN" sz="3000" dirty="0">
                <a:solidFill>
                  <a:schemeClr val="tx1"/>
                </a:solidFill>
              </a:rPr>
              <a:t>stage starts at marriage when the student has completed his studentship and is ready to take up the duties and responsibilities of household life.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In </a:t>
            </a:r>
            <a:r>
              <a:rPr lang="en-IN" sz="3000" dirty="0">
                <a:solidFill>
                  <a:schemeClr val="tx1"/>
                </a:solidFill>
              </a:rPr>
              <a:t>this stage the individual gets married, earns money and begets children.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The </a:t>
            </a:r>
            <a:r>
              <a:rPr lang="en-IN" sz="3000" dirty="0">
                <a:solidFill>
                  <a:schemeClr val="tx1"/>
                </a:solidFill>
              </a:rPr>
              <a:t>individual </a:t>
            </a:r>
            <a:r>
              <a:rPr lang="en-IN" sz="3000" dirty="0" smtClean="0">
                <a:solidFill>
                  <a:schemeClr val="tx1"/>
                </a:solidFill>
              </a:rPr>
              <a:t>pursues </a:t>
            </a:r>
            <a:r>
              <a:rPr lang="en-IN" sz="3000" dirty="0">
                <a:solidFill>
                  <a:schemeClr val="tx1"/>
                </a:solidFill>
              </a:rPr>
              <a:t>wealth (</a:t>
            </a:r>
            <a:r>
              <a:rPr lang="en-IN" sz="3000" b="1" i="1" dirty="0" err="1">
                <a:solidFill>
                  <a:schemeClr val="tx1"/>
                </a:solidFill>
              </a:rPr>
              <a:t>artha</a:t>
            </a:r>
            <a:r>
              <a:rPr lang="en-IN" sz="3000" dirty="0">
                <a:solidFill>
                  <a:schemeClr val="tx1"/>
                </a:solidFill>
              </a:rPr>
              <a:t>) and pleasure (</a:t>
            </a:r>
            <a:r>
              <a:rPr lang="en-IN" sz="3000" b="1" i="1" dirty="0" err="1">
                <a:solidFill>
                  <a:schemeClr val="tx1"/>
                </a:solidFill>
              </a:rPr>
              <a:t>kāma</a:t>
            </a:r>
            <a:r>
              <a:rPr lang="en-IN" sz="3000" dirty="0">
                <a:solidFill>
                  <a:schemeClr val="tx1"/>
                </a:solidFill>
              </a:rPr>
              <a:t>) within the limits of the moral law (</a:t>
            </a:r>
            <a:r>
              <a:rPr lang="en-IN" sz="3000" b="1" i="1" dirty="0">
                <a:solidFill>
                  <a:schemeClr val="tx1"/>
                </a:solidFill>
              </a:rPr>
              <a:t>dharma</a:t>
            </a:r>
            <a:r>
              <a:rPr lang="en-IN" sz="3000" dirty="0">
                <a:solidFill>
                  <a:schemeClr val="tx1"/>
                </a:solidFill>
              </a:rPr>
              <a:t>).</a:t>
            </a:r>
            <a:endParaRPr lang="en-IN" sz="3000" b="1" dirty="0" smtClean="0">
              <a:solidFill>
                <a:schemeClr val="tx1"/>
              </a:solidFill>
            </a:endParaRPr>
          </a:p>
        </p:txBody>
      </p:sp>
    </p:spTree>
    <p:extLst>
      <p:ext uri="{BB962C8B-B14F-4D97-AF65-F5344CB8AC3E}">
        <p14:creationId xmlns:p14="http://schemas.microsoft.com/office/powerpoint/2010/main" val="5736508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ASHRAMA OR THE STAGES OF LIFE</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2400" b="1" i="1" dirty="0" err="1">
                <a:solidFill>
                  <a:schemeClr val="tx1"/>
                </a:solidFill>
              </a:rPr>
              <a:t>Vānaprasthāsharma</a:t>
            </a:r>
            <a:r>
              <a:rPr lang="en-IN" sz="2400" b="1" dirty="0">
                <a:solidFill>
                  <a:schemeClr val="tx1"/>
                </a:solidFill>
              </a:rPr>
              <a:t> or the Stage of Retirement from Active </a:t>
            </a:r>
            <a:r>
              <a:rPr lang="en-IN" sz="2400" b="1" dirty="0" smtClean="0">
                <a:solidFill>
                  <a:schemeClr val="tx1"/>
                </a:solidFill>
              </a:rPr>
              <a:t>Life</a:t>
            </a:r>
          </a:p>
          <a:p>
            <a:pPr lvl="1" algn="just">
              <a:buFont typeface="Arial" panose="020B0604020202020204" pitchFamily="34" charset="0"/>
              <a:buChar char="•"/>
            </a:pPr>
            <a:r>
              <a:rPr lang="en-IN" sz="3000" dirty="0" smtClean="0">
                <a:solidFill>
                  <a:schemeClr val="tx1"/>
                </a:solidFill>
              </a:rPr>
              <a:t>After </a:t>
            </a:r>
            <a:r>
              <a:rPr lang="en-IN" sz="3000" dirty="0">
                <a:solidFill>
                  <a:schemeClr val="tx1"/>
                </a:solidFill>
              </a:rPr>
              <a:t>discharging all the duties and obligations as a householder, the individual enters into the </a:t>
            </a:r>
            <a:r>
              <a:rPr lang="en-IN" sz="3000" b="1" i="1" dirty="0" err="1">
                <a:solidFill>
                  <a:schemeClr val="tx1"/>
                </a:solidFill>
              </a:rPr>
              <a:t>Vānaprastha</a:t>
            </a:r>
            <a:r>
              <a:rPr lang="en-IN" sz="3000" dirty="0">
                <a:solidFill>
                  <a:schemeClr val="tx1"/>
                </a:solidFill>
              </a:rPr>
              <a:t> stage.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It </a:t>
            </a:r>
            <a:r>
              <a:rPr lang="en-IN" sz="3000" dirty="0">
                <a:solidFill>
                  <a:schemeClr val="tx1"/>
                </a:solidFill>
              </a:rPr>
              <a:t>consists of the third quarter of person’s life.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In </a:t>
            </a:r>
            <a:r>
              <a:rPr lang="en-IN" sz="3000" dirty="0">
                <a:solidFill>
                  <a:schemeClr val="tx1"/>
                </a:solidFill>
              </a:rPr>
              <a:t>this phase, after retiring from active life, the individual dedicates himself to a life of spiritual contemplation. </a:t>
            </a:r>
            <a:endParaRPr lang="en-IN" sz="3000" dirty="0" smtClean="0">
              <a:solidFill>
                <a:schemeClr val="tx1"/>
              </a:solidFill>
            </a:endParaRPr>
          </a:p>
          <a:p>
            <a:pPr lvl="1" algn="just">
              <a:buFont typeface="Arial" panose="020B0604020202020204" pitchFamily="34" charset="0"/>
              <a:buChar char="•"/>
            </a:pPr>
            <a:r>
              <a:rPr lang="en-IN" sz="3000" dirty="0" smtClean="0">
                <a:solidFill>
                  <a:schemeClr val="tx1"/>
                </a:solidFill>
              </a:rPr>
              <a:t>He </a:t>
            </a:r>
            <a:r>
              <a:rPr lang="en-IN" sz="3000" dirty="0">
                <a:solidFill>
                  <a:schemeClr val="tx1"/>
                </a:solidFill>
              </a:rPr>
              <a:t>leaves his home and goes to the forest to become a hermit.</a:t>
            </a:r>
            <a:endParaRPr lang="en-IN" sz="3000" b="1" dirty="0" smtClean="0">
              <a:solidFill>
                <a:schemeClr val="tx1"/>
              </a:solidFill>
            </a:endParaRPr>
          </a:p>
        </p:txBody>
      </p:sp>
    </p:spTree>
    <p:extLst>
      <p:ext uri="{BB962C8B-B14F-4D97-AF65-F5344CB8AC3E}">
        <p14:creationId xmlns:p14="http://schemas.microsoft.com/office/powerpoint/2010/main" val="28804818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ASHRAMA OR THE STAGES OF LIFE</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marL="0" indent="0" algn="just">
              <a:buNone/>
            </a:pPr>
            <a:r>
              <a:rPr lang="en-IN" sz="2400" b="1" i="1" dirty="0" err="1">
                <a:solidFill>
                  <a:schemeClr val="tx1"/>
                </a:solidFill>
              </a:rPr>
              <a:t>Sanyāsāshrama</a:t>
            </a:r>
            <a:r>
              <a:rPr lang="en-IN" sz="2400" b="1" dirty="0">
                <a:solidFill>
                  <a:schemeClr val="tx1"/>
                </a:solidFill>
              </a:rPr>
              <a:t> or the Stage of Renunciation or Wandering </a:t>
            </a:r>
            <a:r>
              <a:rPr lang="en-IN" sz="2400" b="1" dirty="0" smtClean="0">
                <a:solidFill>
                  <a:schemeClr val="tx1"/>
                </a:solidFill>
              </a:rPr>
              <a:t>Mystic</a:t>
            </a:r>
          </a:p>
          <a:p>
            <a:pPr marL="0" indent="0" algn="just">
              <a:buNone/>
            </a:pPr>
            <a:r>
              <a:rPr lang="en-IN" sz="3200" dirty="0" smtClean="0">
                <a:solidFill>
                  <a:schemeClr val="tx1"/>
                </a:solidFill>
              </a:rPr>
              <a:t>This </a:t>
            </a:r>
            <a:r>
              <a:rPr lang="en-IN" sz="3200" dirty="0">
                <a:solidFill>
                  <a:schemeClr val="tx1"/>
                </a:solidFill>
              </a:rPr>
              <a:t>is the last stage of life. </a:t>
            </a:r>
            <a:endParaRPr lang="en-IN" sz="3200" dirty="0" smtClean="0">
              <a:solidFill>
                <a:schemeClr val="tx1"/>
              </a:solidFill>
            </a:endParaRPr>
          </a:p>
          <a:p>
            <a:pPr marL="0" indent="0" algn="just">
              <a:buNone/>
            </a:pPr>
            <a:r>
              <a:rPr lang="en-IN" sz="3200" dirty="0" smtClean="0">
                <a:solidFill>
                  <a:schemeClr val="tx1"/>
                </a:solidFill>
              </a:rPr>
              <a:t>Now </a:t>
            </a:r>
            <a:r>
              <a:rPr lang="en-IN" sz="3200" dirty="0">
                <a:solidFill>
                  <a:schemeClr val="tx1"/>
                </a:solidFill>
              </a:rPr>
              <a:t>the individual leaves his hermitage and becomes a homeless wanderer (</a:t>
            </a:r>
            <a:r>
              <a:rPr lang="en-IN" sz="3200" b="1" i="1" dirty="0" err="1">
                <a:solidFill>
                  <a:schemeClr val="tx1"/>
                </a:solidFill>
              </a:rPr>
              <a:t>sanyāsin</a:t>
            </a:r>
            <a:r>
              <a:rPr lang="en-IN" sz="3200" dirty="0">
                <a:solidFill>
                  <a:schemeClr val="tx1"/>
                </a:solidFill>
              </a:rPr>
              <a:t>) with all his earthly ties broken. </a:t>
            </a:r>
            <a:endParaRPr lang="en-IN" sz="3200" dirty="0" smtClean="0">
              <a:solidFill>
                <a:schemeClr val="tx1"/>
              </a:solidFill>
            </a:endParaRPr>
          </a:p>
          <a:p>
            <a:pPr marL="0" indent="0" algn="just">
              <a:buNone/>
            </a:pPr>
            <a:r>
              <a:rPr lang="en-IN" sz="3200" dirty="0" smtClean="0">
                <a:solidFill>
                  <a:schemeClr val="tx1"/>
                </a:solidFill>
              </a:rPr>
              <a:t>The </a:t>
            </a:r>
            <a:r>
              <a:rPr lang="en-IN" sz="3200" b="1" i="1" dirty="0" err="1">
                <a:solidFill>
                  <a:schemeClr val="tx1"/>
                </a:solidFill>
              </a:rPr>
              <a:t>sanyāsin</a:t>
            </a:r>
            <a:r>
              <a:rPr lang="en-IN" sz="3200" dirty="0">
                <a:solidFill>
                  <a:schemeClr val="tx1"/>
                </a:solidFill>
              </a:rPr>
              <a:t> aspires and acts to attain liberation only. </a:t>
            </a:r>
            <a:endParaRPr lang="en-IN" sz="3000" b="1" dirty="0" smtClean="0">
              <a:solidFill>
                <a:schemeClr val="tx1"/>
              </a:solidFill>
            </a:endParaRPr>
          </a:p>
        </p:txBody>
      </p:sp>
    </p:spTree>
    <p:extLst>
      <p:ext uri="{BB962C8B-B14F-4D97-AF65-F5344CB8AC3E}">
        <p14:creationId xmlns:p14="http://schemas.microsoft.com/office/powerpoint/2010/main" val="2686361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MARRIAGE</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3200" dirty="0">
                <a:solidFill>
                  <a:schemeClr val="tx1"/>
                </a:solidFill>
              </a:rPr>
              <a:t>Marriage or </a:t>
            </a:r>
            <a:r>
              <a:rPr lang="en-IN" sz="3200" b="1" i="1" dirty="0" err="1">
                <a:solidFill>
                  <a:schemeClr val="tx1"/>
                </a:solidFill>
              </a:rPr>
              <a:t>vivāha</a:t>
            </a:r>
            <a:r>
              <a:rPr lang="en-IN" sz="3200" dirty="0">
                <a:solidFill>
                  <a:schemeClr val="tx1"/>
                </a:solidFill>
              </a:rPr>
              <a:t> was a very important </a:t>
            </a:r>
            <a:r>
              <a:rPr lang="en-IN" sz="3200" b="1" i="1" dirty="0" err="1">
                <a:solidFill>
                  <a:schemeClr val="tx1"/>
                </a:solidFill>
              </a:rPr>
              <a:t>samskāra</a:t>
            </a:r>
            <a:r>
              <a:rPr lang="en-IN" sz="3200" dirty="0">
                <a:solidFill>
                  <a:schemeClr val="tx1"/>
                </a:solidFill>
              </a:rPr>
              <a:t> in ancient India. </a:t>
            </a:r>
            <a:endParaRPr lang="en-IN" sz="3200" dirty="0" smtClean="0">
              <a:solidFill>
                <a:schemeClr val="tx1"/>
              </a:solidFill>
            </a:endParaRPr>
          </a:p>
          <a:p>
            <a:pPr algn="just"/>
            <a:r>
              <a:rPr lang="en-IN" sz="3200" dirty="0" smtClean="0">
                <a:solidFill>
                  <a:schemeClr val="tx1"/>
                </a:solidFill>
              </a:rPr>
              <a:t>Marriage </a:t>
            </a:r>
            <a:r>
              <a:rPr lang="en-IN" sz="3200" dirty="0">
                <a:solidFill>
                  <a:schemeClr val="tx1"/>
                </a:solidFill>
              </a:rPr>
              <a:t>in ancient India had three main purposes: </a:t>
            </a:r>
            <a:endParaRPr lang="en-IN" sz="3200" dirty="0" smtClean="0">
              <a:solidFill>
                <a:schemeClr val="tx1"/>
              </a:solidFill>
            </a:endParaRPr>
          </a:p>
          <a:p>
            <a:pPr marL="971550" lvl="1" indent="-514350" algn="just">
              <a:buAutoNum type="arabicPeriod"/>
            </a:pPr>
            <a:r>
              <a:rPr lang="en-IN" sz="3000" dirty="0" smtClean="0">
                <a:solidFill>
                  <a:schemeClr val="tx1"/>
                </a:solidFill>
              </a:rPr>
              <a:t>Promotion </a:t>
            </a:r>
            <a:r>
              <a:rPr lang="en-IN" sz="3000" dirty="0">
                <a:solidFill>
                  <a:schemeClr val="tx1"/>
                </a:solidFill>
              </a:rPr>
              <a:t>of religion by performance of household sacrifices. </a:t>
            </a:r>
            <a:endParaRPr lang="en-IN" sz="3000" dirty="0" smtClean="0">
              <a:solidFill>
                <a:schemeClr val="tx1"/>
              </a:solidFill>
            </a:endParaRPr>
          </a:p>
          <a:p>
            <a:pPr marL="971550" lvl="1" indent="-514350" algn="just">
              <a:buAutoNum type="arabicPeriod"/>
            </a:pPr>
            <a:r>
              <a:rPr lang="en-IN" sz="3000" dirty="0" err="1" smtClean="0">
                <a:solidFill>
                  <a:schemeClr val="tx1"/>
                </a:solidFill>
              </a:rPr>
              <a:t>Progency</a:t>
            </a:r>
            <a:r>
              <a:rPr lang="en-IN" sz="3000" dirty="0" smtClean="0">
                <a:solidFill>
                  <a:schemeClr val="tx1"/>
                </a:solidFill>
              </a:rPr>
              <a:t> </a:t>
            </a:r>
            <a:r>
              <a:rPr lang="en-IN" sz="3000" dirty="0">
                <a:solidFill>
                  <a:schemeClr val="tx1"/>
                </a:solidFill>
              </a:rPr>
              <a:t>or the happy after life of father and his ancestors and continuation of family line or </a:t>
            </a:r>
            <a:r>
              <a:rPr lang="en-IN" sz="3000" b="1" i="1" dirty="0" err="1">
                <a:solidFill>
                  <a:schemeClr val="tx1"/>
                </a:solidFill>
              </a:rPr>
              <a:t>kula</a:t>
            </a:r>
            <a:r>
              <a:rPr lang="en-IN" sz="3000" dirty="0">
                <a:solidFill>
                  <a:schemeClr val="tx1"/>
                </a:solidFill>
              </a:rPr>
              <a:t>. </a:t>
            </a:r>
            <a:endParaRPr lang="en-IN" sz="3000" dirty="0" smtClean="0">
              <a:solidFill>
                <a:schemeClr val="tx1"/>
              </a:solidFill>
            </a:endParaRPr>
          </a:p>
          <a:p>
            <a:pPr marL="971550" lvl="1" indent="-514350" algn="just">
              <a:buAutoNum type="arabicPeriod"/>
            </a:pPr>
            <a:r>
              <a:rPr lang="en-IN" sz="3000" b="1" i="1" dirty="0" smtClean="0">
                <a:solidFill>
                  <a:schemeClr val="tx1"/>
                </a:solidFill>
              </a:rPr>
              <a:t>Rati</a:t>
            </a:r>
            <a:r>
              <a:rPr lang="en-IN" sz="3000" dirty="0" smtClean="0">
                <a:solidFill>
                  <a:schemeClr val="tx1"/>
                </a:solidFill>
              </a:rPr>
              <a:t> </a:t>
            </a:r>
            <a:r>
              <a:rPr lang="en-IN" sz="3000" dirty="0">
                <a:solidFill>
                  <a:schemeClr val="tx1"/>
                </a:solidFill>
              </a:rPr>
              <a:t>or </a:t>
            </a:r>
            <a:r>
              <a:rPr lang="en-IN" sz="3000" dirty="0" smtClean="0">
                <a:solidFill>
                  <a:schemeClr val="tx1"/>
                </a:solidFill>
              </a:rPr>
              <a:t> pleasure.</a:t>
            </a:r>
            <a:endParaRPr lang="en-IN" sz="2800" b="1" dirty="0" smtClean="0">
              <a:solidFill>
                <a:schemeClr val="tx1"/>
              </a:solidFill>
            </a:endParaRPr>
          </a:p>
        </p:txBody>
      </p:sp>
    </p:spTree>
    <p:extLst>
      <p:ext uri="{BB962C8B-B14F-4D97-AF65-F5344CB8AC3E}">
        <p14:creationId xmlns:p14="http://schemas.microsoft.com/office/powerpoint/2010/main" val="1024923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a:bodyPr>
          <a:lstStyle/>
          <a:p>
            <a:r>
              <a:rPr lang="en-IN" dirty="0" smtClean="0"/>
              <a:t>MARRIAGE</a:t>
            </a:r>
            <a:endParaRPr lang="en-IN" dirty="0"/>
          </a:p>
        </p:txBody>
      </p:sp>
      <p:sp>
        <p:nvSpPr>
          <p:cNvPr id="3" name="Content Placeholder 2"/>
          <p:cNvSpPr>
            <a:spLocks noGrp="1"/>
          </p:cNvSpPr>
          <p:nvPr>
            <p:ph idx="1"/>
          </p:nvPr>
        </p:nvSpPr>
        <p:spPr>
          <a:xfrm>
            <a:off x="1251678" y="1730476"/>
            <a:ext cx="10178322" cy="4729317"/>
          </a:xfrm>
        </p:spPr>
        <p:txBody>
          <a:bodyPr>
            <a:noAutofit/>
          </a:bodyPr>
          <a:lstStyle/>
          <a:p>
            <a:pPr algn="just"/>
            <a:r>
              <a:rPr lang="en-IN" sz="3200" dirty="0" smtClean="0">
                <a:solidFill>
                  <a:schemeClr val="tx1"/>
                </a:solidFill>
              </a:rPr>
              <a:t>Manu </a:t>
            </a:r>
            <a:r>
              <a:rPr lang="en-IN" sz="3200" dirty="0">
                <a:solidFill>
                  <a:schemeClr val="tx1"/>
                </a:solidFill>
              </a:rPr>
              <a:t>and other law givers have mentioned about eight forms of </a:t>
            </a:r>
            <a:r>
              <a:rPr lang="en-IN" sz="3200" dirty="0" smtClean="0">
                <a:solidFill>
                  <a:schemeClr val="tx1"/>
                </a:solidFill>
              </a:rPr>
              <a:t>marriage. </a:t>
            </a:r>
            <a:endParaRPr lang="en-IN" sz="3200" dirty="0">
              <a:solidFill>
                <a:schemeClr val="tx1"/>
              </a:solidFill>
            </a:endParaRPr>
          </a:p>
          <a:p>
            <a:pPr algn="just"/>
            <a:r>
              <a:rPr lang="en-IN" sz="3200" dirty="0">
                <a:solidFill>
                  <a:schemeClr val="tx1"/>
                </a:solidFill>
              </a:rPr>
              <a:t>Out of these eight forms of marriage the first four have been described as </a:t>
            </a:r>
            <a:r>
              <a:rPr lang="en-IN" sz="3200" b="1" i="1" dirty="0" err="1">
                <a:solidFill>
                  <a:schemeClr val="tx1"/>
                </a:solidFill>
              </a:rPr>
              <a:t>prashasta</a:t>
            </a:r>
            <a:r>
              <a:rPr lang="en-IN" sz="3200" b="1" i="1" dirty="0">
                <a:solidFill>
                  <a:schemeClr val="tx1"/>
                </a:solidFill>
              </a:rPr>
              <a:t> </a:t>
            </a:r>
            <a:r>
              <a:rPr lang="en-IN" sz="3200" dirty="0">
                <a:solidFill>
                  <a:schemeClr val="tx1"/>
                </a:solidFill>
              </a:rPr>
              <a:t>or approved or desirable marriage whereas the rest of the four forms have been considered to be </a:t>
            </a:r>
            <a:r>
              <a:rPr lang="en-IN" sz="3200" b="1" i="1" dirty="0" err="1">
                <a:solidFill>
                  <a:schemeClr val="tx1"/>
                </a:solidFill>
              </a:rPr>
              <a:t>aprashasta</a:t>
            </a:r>
            <a:r>
              <a:rPr lang="en-IN" sz="3200" dirty="0">
                <a:solidFill>
                  <a:schemeClr val="tx1"/>
                </a:solidFill>
              </a:rPr>
              <a:t> or disapproved or undesirable marriages. </a:t>
            </a:r>
            <a:endParaRPr lang="en-IN" sz="3200" b="1" dirty="0" smtClean="0">
              <a:solidFill>
                <a:schemeClr val="tx1"/>
              </a:solidFill>
            </a:endParaRPr>
          </a:p>
        </p:txBody>
      </p:sp>
    </p:spTree>
    <p:extLst>
      <p:ext uri="{BB962C8B-B14F-4D97-AF65-F5344CB8AC3E}">
        <p14:creationId xmlns:p14="http://schemas.microsoft.com/office/powerpoint/2010/main" val="11590128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a:t>MARRIAGE : </a:t>
            </a:r>
            <a:r>
              <a:rPr lang="en-IN" dirty="0" smtClean="0"/>
              <a:t>PRASHASTA </a:t>
            </a:r>
            <a:r>
              <a:rPr lang="en-IN" dirty="0"/>
              <a:t>or </a:t>
            </a:r>
            <a:r>
              <a:rPr lang="en-IN" dirty="0" smtClean="0"/>
              <a:t>desirable</a:t>
            </a:r>
            <a:endParaRPr lang="en-IN" dirty="0"/>
          </a:p>
        </p:txBody>
      </p:sp>
      <p:sp>
        <p:nvSpPr>
          <p:cNvPr id="3" name="Content Placeholder 2"/>
          <p:cNvSpPr>
            <a:spLocks noGrp="1"/>
          </p:cNvSpPr>
          <p:nvPr>
            <p:ph idx="1"/>
          </p:nvPr>
        </p:nvSpPr>
        <p:spPr>
          <a:xfrm>
            <a:off x="1251678" y="1327353"/>
            <a:ext cx="10178322" cy="5437241"/>
          </a:xfrm>
        </p:spPr>
        <p:txBody>
          <a:bodyPr>
            <a:noAutofit/>
          </a:bodyPr>
          <a:lstStyle/>
          <a:p>
            <a:pPr algn="just"/>
            <a:r>
              <a:rPr lang="en-IN" sz="3200" b="1" i="1" dirty="0">
                <a:solidFill>
                  <a:schemeClr val="tx1"/>
                </a:solidFill>
              </a:rPr>
              <a:t>Brahma </a:t>
            </a:r>
            <a:r>
              <a:rPr lang="en-IN" sz="3200" b="1" i="1" dirty="0" err="1">
                <a:solidFill>
                  <a:schemeClr val="tx1"/>
                </a:solidFill>
              </a:rPr>
              <a:t>Vivāha</a:t>
            </a:r>
            <a:r>
              <a:rPr lang="en-IN" sz="3200" dirty="0">
                <a:solidFill>
                  <a:schemeClr val="tx1"/>
                </a:solidFill>
              </a:rPr>
              <a:t>: This is considered to be the purest form of marriage. In this form of marriage the father of the bride offers his daughter to a man of character and learning. The daughter who is decked with ornaments and richly dressed is given as a gift to a man of good character and high learning. </a:t>
            </a:r>
            <a:endParaRPr lang="en-IN" sz="3200" dirty="0" smtClean="0">
              <a:solidFill>
                <a:schemeClr val="tx1"/>
              </a:solidFill>
            </a:endParaRPr>
          </a:p>
          <a:p>
            <a:pPr algn="just"/>
            <a:r>
              <a:rPr lang="en-IN" sz="3200" b="1" i="1" dirty="0" err="1">
                <a:solidFill>
                  <a:schemeClr val="tx1"/>
                </a:solidFill>
              </a:rPr>
              <a:t>Daiva</a:t>
            </a:r>
            <a:r>
              <a:rPr lang="en-IN" sz="3200" b="1" i="1" dirty="0">
                <a:solidFill>
                  <a:schemeClr val="tx1"/>
                </a:solidFill>
              </a:rPr>
              <a:t> </a:t>
            </a:r>
            <a:r>
              <a:rPr lang="en-IN" sz="3200" b="1" i="1" dirty="0" err="1">
                <a:solidFill>
                  <a:schemeClr val="tx1"/>
                </a:solidFill>
              </a:rPr>
              <a:t>Vivāha</a:t>
            </a:r>
            <a:r>
              <a:rPr lang="en-IN" sz="3200" dirty="0">
                <a:solidFill>
                  <a:schemeClr val="tx1"/>
                </a:solidFill>
              </a:rPr>
              <a:t>: In the </a:t>
            </a:r>
            <a:r>
              <a:rPr lang="en-IN" sz="3200" b="1" i="1" dirty="0" err="1">
                <a:solidFill>
                  <a:schemeClr val="tx1"/>
                </a:solidFill>
              </a:rPr>
              <a:t>daiva</a:t>
            </a:r>
            <a:r>
              <a:rPr lang="en-IN" sz="3200" dirty="0">
                <a:solidFill>
                  <a:schemeClr val="tx1"/>
                </a:solidFill>
              </a:rPr>
              <a:t> form of marriage the father offers her daughter as a </a:t>
            </a:r>
            <a:r>
              <a:rPr lang="en-IN" sz="3200" b="1" i="1" dirty="0" err="1">
                <a:solidFill>
                  <a:schemeClr val="tx1"/>
                </a:solidFill>
              </a:rPr>
              <a:t>dakshinā</a:t>
            </a:r>
            <a:r>
              <a:rPr lang="en-IN" sz="3200" dirty="0">
                <a:solidFill>
                  <a:schemeClr val="tx1"/>
                </a:solidFill>
              </a:rPr>
              <a:t> (sacrificial fee) to a young priest who officiates the </a:t>
            </a:r>
            <a:r>
              <a:rPr lang="en-IN" sz="3200" b="1" i="1" dirty="0" err="1">
                <a:solidFill>
                  <a:schemeClr val="tx1"/>
                </a:solidFill>
              </a:rPr>
              <a:t>yajña</a:t>
            </a:r>
            <a:r>
              <a:rPr lang="en-IN" sz="3200" dirty="0">
                <a:solidFill>
                  <a:schemeClr val="tx1"/>
                </a:solidFill>
              </a:rPr>
              <a:t> which is arranged by </a:t>
            </a:r>
            <a:r>
              <a:rPr lang="en-IN" sz="3200" dirty="0" smtClean="0">
                <a:solidFill>
                  <a:schemeClr val="tx1"/>
                </a:solidFill>
              </a:rPr>
              <a:t>him.</a:t>
            </a:r>
          </a:p>
        </p:txBody>
      </p:sp>
    </p:spTree>
    <p:extLst>
      <p:ext uri="{BB962C8B-B14F-4D97-AF65-F5344CB8AC3E}">
        <p14:creationId xmlns:p14="http://schemas.microsoft.com/office/powerpoint/2010/main" val="2900741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a:t>MARRIAGE : </a:t>
            </a:r>
            <a:r>
              <a:rPr lang="en-IN" dirty="0" smtClean="0"/>
              <a:t>PRASHASTA </a:t>
            </a:r>
            <a:r>
              <a:rPr lang="en-IN" dirty="0"/>
              <a:t>or </a:t>
            </a:r>
            <a:r>
              <a:rPr lang="en-IN" dirty="0" smtClean="0"/>
              <a:t>desirable</a:t>
            </a:r>
            <a:endParaRPr lang="en-IN" dirty="0"/>
          </a:p>
        </p:txBody>
      </p:sp>
      <p:sp>
        <p:nvSpPr>
          <p:cNvPr id="3" name="Content Placeholder 2"/>
          <p:cNvSpPr>
            <a:spLocks noGrp="1"/>
          </p:cNvSpPr>
          <p:nvPr>
            <p:ph idx="1"/>
          </p:nvPr>
        </p:nvSpPr>
        <p:spPr>
          <a:xfrm>
            <a:off x="1251678" y="1327353"/>
            <a:ext cx="10178322" cy="5338918"/>
          </a:xfrm>
        </p:spPr>
        <p:txBody>
          <a:bodyPr>
            <a:noAutofit/>
          </a:bodyPr>
          <a:lstStyle/>
          <a:p>
            <a:pPr algn="just"/>
            <a:r>
              <a:rPr lang="en-IN" sz="3600" b="1" i="1" dirty="0" err="1" smtClean="0">
                <a:solidFill>
                  <a:schemeClr val="tx1"/>
                </a:solidFill>
              </a:rPr>
              <a:t>Ārsa</a:t>
            </a:r>
            <a:r>
              <a:rPr lang="en-IN" sz="3600" b="1" i="1" dirty="0" smtClean="0">
                <a:solidFill>
                  <a:schemeClr val="tx1"/>
                </a:solidFill>
              </a:rPr>
              <a:t> </a:t>
            </a:r>
            <a:r>
              <a:rPr lang="en-IN" sz="3600" b="1" i="1" dirty="0" err="1">
                <a:solidFill>
                  <a:schemeClr val="tx1"/>
                </a:solidFill>
              </a:rPr>
              <a:t>Vivāha</a:t>
            </a:r>
            <a:r>
              <a:rPr lang="en-IN" sz="3600" dirty="0">
                <a:solidFill>
                  <a:schemeClr val="tx1"/>
                </a:solidFill>
              </a:rPr>
              <a:t>: In </a:t>
            </a:r>
            <a:r>
              <a:rPr lang="en-IN" sz="3600" b="1" i="1" dirty="0" err="1">
                <a:solidFill>
                  <a:schemeClr val="tx1"/>
                </a:solidFill>
              </a:rPr>
              <a:t>ārsa</a:t>
            </a:r>
            <a:r>
              <a:rPr lang="en-IN" sz="3600" b="1" i="1" dirty="0">
                <a:solidFill>
                  <a:schemeClr val="tx1"/>
                </a:solidFill>
              </a:rPr>
              <a:t> </a:t>
            </a:r>
            <a:r>
              <a:rPr lang="en-IN" sz="3600" b="1" i="1" dirty="0" err="1">
                <a:solidFill>
                  <a:schemeClr val="tx1"/>
                </a:solidFill>
              </a:rPr>
              <a:t>vivāha</a:t>
            </a:r>
            <a:r>
              <a:rPr lang="en-IN" sz="3600" b="1" i="1" dirty="0">
                <a:solidFill>
                  <a:schemeClr val="tx1"/>
                </a:solidFill>
              </a:rPr>
              <a:t> </a:t>
            </a:r>
            <a:r>
              <a:rPr lang="en-IN" sz="3600" dirty="0">
                <a:solidFill>
                  <a:schemeClr val="tx1"/>
                </a:solidFill>
              </a:rPr>
              <a:t>father of the bride gives his daughter to the bridegroom after receiving a cow and a bull or two pairs of these animals from the bridegroom. </a:t>
            </a:r>
            <a:endParaRPr lang="en-IN" sz="3600" dirty="0" smtClean="0">
              <a:solidFill>
                <a:schemeClr val="tx1"/>
              </a:solidFill>
            </a:endParaRPr>
          </a:p>
          <a:p>
            <a:pPr algn="just"/>
            <a:r>
              <a:rPr lang="en-IN" sz="3600" b="1" i="1" dirty="0" err="1" smtClean="0">
                <a:solidFill>
                  <a:schemeClr val="tx1"/>
                </a:solidFill>
              </a:rPr>
              <a:t>Prajāpatya</a:t>
            </a:r>
            <a:r>
              <a:rPr lang="en-IN" sz="3600" b="1" i="1" dirty="0" smtClean="0">
                <a:solidFill>
                  <a:schemeClr val="tx1"/>
                </a:solidFill>
              </a:rPr>
              <a:t> </a:t>
            </a:r>
            <a:r>
              <a:rPr lang="en-IN" sz="3600" b="1" i="1" dirty="0" err="1">
                <a:solidFill>
                  <a:schemeClr val="tx1"/>
                </a:solidFill>
              </a:rPr>
              <a:t>Vivāha</a:t>
            </a:r>
            <a:r>
              <a:rPr lang="en-IN" sz="3600" dirty="0">
                <a:solidFill>
                  <a:schemeClr val="tx1"/>
                </a:solidFill>
              </a:rPr>
              <a:t>: In this type of marriage, the father offers the girl to the bridegroom. But neither does he offer any dowry nor does he demand bride-price. </a:t>
            </a:r>
            <a:endParaRPr lang="en-IN" sz="3600" b="1" dirty="0" smtClean="0">
              <a:solidFill>
                <a:schemeClr val="tx1"/>
              </a:solidFill>
            </a:endParaRPr>
          </a:p>
        </p:txBody>
      </p:sp>
    </p:spTree>
    <p:extLst>
      <p:ext uri="{BB962C8B-B14F-4D97-AF65-F5344CB8AC3E}">
        <p14:creationId xmlns:p14="http://schemas.microsoft.com/office/powerpoint/2010/main" val="1534302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MARRIAGE : APRASHASTA or undesirable</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3600" b="1" i="1" dirty="0" err="1">
                <a:solidFill>
                  <a:schemeClr val="tx1"/>
                </a:solidFill>
              </a:rPr>
              <a:t>Asura</a:t>
            </a:r>
            <a:r>
              <a:rPr lang="en-IN" sz="3600" b="1" i="1" dirty="0">
                <a:solidFill>
                  <a:schemeClr val="tx1"/>
                </a:solidFill>
              </a:rPr>
              <a:t> </a:t>
            </a:r>
            <a:r>
              <a:rPr lang="en-IN" sz="3600" b="1" i="1" dirty="0" err="1">
                <a:solidFill>
                  <a:schemeClr val="tx1"/>
                </a:solidFill>
              </a:rPr>
              <a:t>Vivāha</a:t>
            </a:r>
            <a:r>
              <a:rPr lang="en-IN" sz="3600" dirty="0">
                <a:solidFill>
                  <a:schemeClr val="tx1"/>
                </a:solidFill>
              </a:rPr>
              <a:t>: This is a form of marriage by purchase in which the bridegroom has to give money to the father or kinsman of the bride. </a:t>
            </a:r>
            <a:endParaRPr lang="en-IN" sz="3600" dirty="0" smtClean="0">
              <a:solidFill>
                <a:schemeClr val="tx1"/>
              </a:solidFill>
            </a:endParaRPr>
          </a:p>
          <a:p>
            <a:pPr algn="just"/>
            <a:r>
              <a:rPr lang="en-IN" sz="3600" b="1" i="1" dirty="0" err="1" smtClean="0">
                <a:solidFill>
                  <a:schemeClr val="tx1"/>
                </a:solidFill>
              </a:rPr>
              <a:t>Gandharva</a:t>
            </a:r>
            <a:r>
              <a:rPr lang="en-IN" sz="3600" b="1" i="1" dirty="0" smtClean="0">
                <a:solidFill>
                  <a:schemeClr val="tx1"/>
                </a:solidFill>
              </a:rPr>
              <a:t> </a:t>
            </a:r>
            <a:r>
              <a:rPr lang="en-IN" sz="3600" b="1" i="1" dirty="0" err="1">
                <a:solidFill>
                  <a:schemeClr val="tx1"/>
                </a:solidFill>
              </a:rPr>
              <a:t>Vivāha</a:t>
            </a:r>
            <a:r>
              <a:rPr lang="en-IN" sz="3600" dirty="0">
                <a:solidFill>
                  <a:schemeClr val="tx1"/>
                </a:solidFill>
              </a:rPr>
              <a:t>: This was a marriage by consent of the boy and the girl. Mutual love and consent of the bride and bridegroom was the only condition required to bring about the union. </a:t>
            </a:r>
            <a:endParaRPr lang="en-IN" sz="3600" dirty="0" smtClean="0">
              <a:solidFill>
                <a:schemeClr val="tx1"/>
              </a:solidFill>
            </a:endParaRPr>
          </a:p>
        </p:txBody>
      </p:sp>
    </p:spTree>
    <p:extLst>
      <p:ext uri="{BB962C8B-B14F-4D97-AF65-F5344CB8AC3E}">
        <p14:creationId xmlns:p14="http://schemas.microsoft.com/office/powerpoint/2010/main" val="26133503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MARRIAGE : APRASHASTA or undesirable</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3600" b="1" i="1" dirty="0" smtClean="0">
                <a:solidFill>
                  <a:schemeClr val="tx1"/>
                </a:solidFill>
              </a:rPr>
              <a:t>Rakshasa </a:t>
            </a:r>
            <a:r>
              <a:rPr lang="en-IN" sz="3600" b="1" i="1" dirty="0" err="1" smtClean="0">
                <a:solidFill>
                  <a:schemeClr val="tx1"/>
                </a:solidFill>
              </a:rPr>
              <a:t>Vivāha</a:t>
            </a:r>
            <a:r>
              <a:rPr lang="en-IN" sz="3600" dirty="0">
                <a:solidFill>
                  <a:schemeClr val="tx1"/>
                </a:solidFill>
              </a:rPr>
              <a:t>: This is a form of marriage by </a:t>
            </a:r>
            <a:r>
              <a:rPr lang="en-IN" sz="3600" dirty="0" smtClean="0">
                <a:solidFill>
                  <a:schemeClr val="tx1"/>
                </a:solidFill>
              </a:rPr>
              <a:t>forcibly abducting the girl &amp; injuring the kinsman. Then getting married.</a:t>
            </a:r>
          </a:p>
          <a:p>
            <a:pPr algn="just"/>
            <a:r>
              <a:rPr lang="en-IN" sz="3600" b="1" i="1" dirty="0" err="1" smtClean="0">
                <a:solidFill>
                  <a:schemeClr val="tx1"/>
                </a:solidFill>
              </a:rPr>
              <a:t>Paishaach</a:t>
            </a:r>
            <a:r>
              <a:rPr lang="en-IN" sz="3600" b="1" i="1" dirty="0" smtClean="0">
                <a:solidFill>
                  <a:schemeClr val="tx1"/>
                </a:solidFill>
              </a:rPr>
              <a:t> </a:t>
            </a:r>
            <a:r>
              <a:rPr lang="en-IN" sz="3600" b="1" i="1" dirty="0" err="1">
                <a:solidFill>
                  <a:schemeClr val="tx1"/>
                </a:solidFill>
              </a:rPr>
              <a:t>Vivāha</a:t>
            </a:r>
            <a:r>
              <a:rPr lang="en-IN" sz="3600" dirty="0">
                <a:solidFill>
                  <a:schemeClr val="tx1"/>
                </a:solidFill>
              </a:rPr>
              <a:t>: This was a marriage  in which a man seduces a woman by stealth, while she is either </a:t>
            </a:r>
            <a:r>
              <a:rPr lang="en-IN" sz="3600" dirty="0" smtClean="0">
                <a:solidFill>
                  <a:schemeClr val="tx1"/>
                </a:solidFill>
              </a:rPr>
              <a:t>intoxicated </a:t>
            </a:r>
            <a:r>
              <a:rPr lang="en-IN" sz="3600" dirty="0">
                <a:solidFill>
                  <a:schemeClr val="tx1"/>
                </a:solidFill>
              </a:rPr>
              <a:t>or intellectually disorder and then forces her to marry him.</a:t>
            </a:r>
            <a:endParaRPr lang="en-IN" sz="5400" dirty="0" smtClean="0">
              <a:solidFill>
                <a:schemeClr val="tx1"/>
              </a:solidFill>
            </a:endParaRPr>
          </a:p>
        </p:txBody>
      </p:sp>
    </p:spTree>
    <p:extLst>
      <p:ext uri="{BB962C8B-B14F-4D97-AF65-F5344CB8AC3E}">
        <p14:creationId xmlns:p14="http://schemas.microsoft.com/office/powerpoint/2010/main" val="3359020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a:solidFill>
                  <a:schemeClr val="tx1"/>
                </a:solidFill>
              </a:rPr>
              <a:t>First reference of </a:t>
            </a:r>
            <a:r>
              <a:rPr lang="en-IN" sz="2800" b="1" i="1" dirty="0" err="1">
                <a:solidFill>
                  <a:schemeClr val="tx1"/>
                </a:solidFill>
              </a:rPr>
              <a:t>varna</a:t>
            </a:r>
            <a:r>
              <a:rPr lang="en-IN" sz="2800" dirty="0">
                <a:solidFill>
                  <a:schemeClr val="tx1"/>
                </a:solidFill>
              </a:rPr>
              <a:t> is seen in the </a:t>
            </a:r>
            <a:r>
              <a:rPr lang="en-IN" sz="2800" b="1" i="1" dirty="0">
                <a:solidFill>
                  <a:schemeClr val="tx1"/>
                </a:solidFill>
              </a:rPr>
              <a:t>Rig Veda</a:t>
            </a:r>
            <a:r>
              <a:rPr lang="en-IN" sz="2800" dirty="0">
                <a:solidFill>
                  <a:schemeClr val="tx1"/>
                </a:solidFill>
              </a:rPr>
              <a:t>. </a:t>
            </a:r>
            <a:endParaRPr lang="en-IN" sz="2800" dirty="0" smtClean="0">
              <a:solidFill>
                <a:schemeClr val="tx1"/>
              </a:solidFill>
            </a:endParaRPr>
          </a:p>
          <a:p>
            <a:pPr algn="just"/>
            <a:r>
              <a:rPr lang="en-IN" sz="2800" dirty="0" smtClean="0">
                <a:solidFill>
                  <a:schemeClr val="tx1"/>
                </a:solidFill>
              </a:rPr>
              <a:t>The </a:t>
            </a:r>
            <a:r>
              <a:rPr lang="en-IN" sz="2800" dirty="0">
                <a:solidFill>
                  <a:schemeClr val="tx1"/>
                </a:solidFill>
              </a:rPr>
              <a:t>tenth chapter of </a:t>
            </a:r>
            <a:r>
              <a:rPr lang="en-IN" sz="2800" b="1" i="1" dirty="0" smtClean="0">
                <a:solidFill>
                  <a:schemeClr val="tx1"/>
                </a:solidFill>
              </a:rPr>
              <a:t>Rig Veda </a:t>
            </a:r>
            <a:r>
              <a:rPr lang="en-IN" sz="2800" dirty="0">
                <a:solidFill>
                  <a:schemeClr val="tx1"/>
                </a:solidFill>
              </a:rPr>
              <a:t>called </a:t>
            </a:r>
            <a:r>
              <a:rPr lang="en-IN" sz="2800" b="1" i="1" dirty="0" err="1" smtClean="0">
                <a:solidFill>
                  <a:schemeClr val="tx1"/>
                </a:solidFill>
              </a:rPr>
              <a:t>Purusasukta</a:t>
            </a:r>
            <a:r>
              <a:rPr lang="en-IN" sz="2800" dirty="0" smtClean="0">
                <a:solidFill>
                  <a:schemeClr val="tx1"/>
                </a:solidFill>
              </a:rPr>
              <a:t> </a:t>
            </a:r>
            <a:r>
              <a:rPr lang="en-IN" sz="2800" dirty="0">
                <a:solidFill>
                  <a:schemeClr val="tx1"/>
                </a:solidFill>
              </a:rPr>
              <a:t>mentions the organic theory of the origin of </a:t>
            </a:r>
            <a:r>
              <a:rPr lang="en-IN" sz="2800" b="1" i="1" dirty="0" err="1">
                <a:solidFill>
                  <a:schemeClr val="tx1"/>
                </a:solidFill>
              </a:rPr>
              <a:t>varnas</a:t>
            </a:r>
            <a:r>
              <a:rPr lang="en-IN" sz="2800" dirty="0">
                <a:solidFill>
                  <a:schemeClr val="tx1"/>
                </a:solidFill>
              </a:rPr>
              <a:t> according to which </a:t>
            </a:r>
            <a:r>
              <a:rPr lang="en-IN" sz="2800" b="1" i="1" dirty="0" err="1">
                <a:solidFill>
                  <a:schemeClr val="tx1"/>
                </a:solidFill>
              </a:rPr>
              <a:t>varnas</a:t>
            </a:r>
            <a:r>
              <a:rPr lang="en-IN" sz="2800" dirty="0">
                <a:solidFill>
                  <a:schemeClr val="tx1"/>
                </a:solidFill>
              </a:rPr>
              <a:t> originated from the different organs of the </a:t>
            </a:r>
            <a:r>
              <a:rPr lang="en-IN" sz="2800" b="1" i="1" dirty="0" err="1" smtClean="0">
                <a:solidFill>
                  <a:schemeClr val="tx1"/>
                </a:solidFill>
              </a:rPr>
              <a:t>Prajapati</a:t>
            </a:r>
            <a:r>
              <a:rPr lang="en-IN" sz="2800" dirty="0" smtClean="0">
                <a:solidFill>
                  <a:schemeClr val="tx1"/>
                </a:solidFill>
              </a:rPr>
              <a:t> </a:t>
            </a:r>
            <a:r>
              <a:rPr lang="en-IN" sz="2800" dirty="0">
                <a:solidFill>
                  <a:schemeClr val="tx1"/>
                </a:solidFill>
              </a:rPr>
              <a:t>or </a:t>
            </a:r>
            <a:r>
              <a:rPr lang="en-IN" sz="2800" dirty="0" smtClean="0">
                <a:solidFill>
                  <a:schemeClr val="tx1"/>
                </a:solidFill>
              </a:rPr>
              <a:t> </a:t>
            </a:r>
            <a:r>
              <a:rPr lang="en-IN" sz="2800" dirty="0">
                <a:solidFill>
                  <a:schemeClr val="tx1"/>
                </a:solidFill>
              </a:rPr>
              <a:t>the creator. </a:t>
            </a:r>
            <a:endParaRPr lang="en-IN" sz="2800" dirty="0" smtClean="0">
              <a:solidFill>
                <a:schemeClr val="tx1"/>
              </a:solidFill>
            </a:endParaRPr>
          </a:p>
          <a:p>
            <a:pPr algn="just"/>
            <a:r>
              <a:rPr lang="en-IN" sz="2800" dirty="0" err="1" smtClean="0">
                <a:solidFill>
                  <a:schemeClr val="tx1"/>
                </a:solidFill>
              </a:rPr>
              <a:t>Manusmriti</a:t>
            </a:r>
            <a:r>
              <a:rPr lang="en-IN" sz="2800" dirty="0" smtClean="0">
                <a:solidFill>
                  <a:schemeClr val="tx1"/>
                </a:solidFill>
              </a:rPr>
              <a:t> </a:t>
            </a:r>
            <a:r>
              <a:rPr lang="en-IN" sz="2800" dirty="0">
                <a:solidFill>
                  <a:schemeClr val="tx1"/>
                </a:solidFill>
              </a:rPr>
              <a:t>also mentions that God created various </a:t>
            </a:r>
            <a:r>
              <a:rPr lang="en-IN" sz="2800" b="1" i="1" dirty="0" err="1">
                <a:solidFill>
                  <a:schemeClr val="tx1"/>
                </a:solidFill>
              </a:rPr>
              <a:t>varnas</a:t>
            </a:r>
            <a:r>
              <a:rPr lang="en-IN" sz="2800" dirty="0">
                <a:solidFill>
                  <a:schemeClr val="tx1"/>
                </a:solidFill>
              </a:rPr>
              <a:t> from his various organs. </a:t>
            </a:r>
            <a:endParaRPr lang="en-IN" sz="2800" dirty="0" smtClean="0">
              <a:solidFill>
                <a:schemeClr val="tx1"/>
              </a:solidFill>
            </a:endParaRPr>
          </a:p>
          <a:p>
            <a:pPr algn="just"/>
            <a:r>
              <a:rPr lang="en-IN" sz="2800" dirty="0" smtClean="0">
                <a:solidFill>
                  <a:schemeClr val="tx1"/>
                </a:solidFill>
              </a:rPr>
              <a:t>He </a:t>
            </a:r>
            <a:r>
              <a:rPr lang="en-IN" sz="2800" dirty="0">
                <a:solidFill>
                  <a:schemeClr val="tx1"/>
                </a:solidFill>
              </a:rPr>
              <a:t>created </a:t>
            </a:r>
            <a:r>
              <a:rPr lang="en-IN" sz="2800" b="1" i="1" dirty="0" err="1">
                <a:solidFill>
                  <a:schemeClr val="tx1"/>
                </a:solidFill>
              </a:rPr>
              <a:t>brahmins</a:t>
            </a:r>
            <a:r>
              <a:rPr lang="en-IN" sz="2800" dirty="0">
                <a:solidFill>
                  <a:schemeClr val="tx1"/>
                </a:solidFill>
              </a:rPr>
              <a:t> from his mouth, </a:t>
            </a:r>
            <a:r>
              <a:rPr lang="en-IN" sz="2800" b="1" i="1" dirty="0" err="1">
                <a:solidFill>
                  <a:schemeClr val="tx1"/>
                </a:solidFill>
              </a:rPr>
              <a:t>kshatriyas</a:t>
            </a:r>
            <a:r>
              <a:rPr lang="en-IN" sz="2800" dirty="0">
                <a:solidFill>
                  <a:schemeClr val="tx1"/>
                </a:solidFill>
              </a:rPr>
              <a:t> from his arms, </a:t>
            </a:r>
            <a:r>
              <a:rPr lang="en-IN" sz="2800" b="1" i="1" dirty="0" err="1">
                <a:solidFill>
                  <a:schemeClr val="tx1"/>
                </a:solidFill>
              </a:rPr>
              <a:t>vaishyas</a:t>
            </a:r>
            <a:r>
              <a:rPr lang="en-IN" sz="2800" dirty="0">
                <a:solidFill>
                  <a:schemeClr val="tx1"/>
                </a:solidFill>
              </a:rPr>
              <a:t> from his thighs and </a:t>
            </a:r>
            <a:r>
              <a:rPr lang="en-IN" sz="2800" b="1" i="1" dirty="0" err="1">
                <a:solidFill>
                  <a:schemeClr val="tx1"/>
                </a:solidFill>
              </a:rPr>
              <a:t>shudras</a:t>
            </a:r>
            <a:r>
              <a:rPr lang="en-IN" sz="2800" dirty="0">
                <a:solidFill>
                  <a:schemeClr val="tx1"/>
                </a:solidFill>
              </a:rPr>
              <a:t> from his legs. Though logically this explanation cannot be accepted</a:t>
            </a:r>
            <a:endParaRPr lang="en-IN" sz="2800" b="1" dirty="0" smtClean="0">
              <a:solidFill>
                <a:schemeClr val="tx1"/>
              </a:solidFill>
            </a:endParaRPr>
          </a:p>
        </p:txBody>
      </p:sp>
    </p:spTree>
    <p:extLst>
      <p:ext uri="{BB962C8B-B14F-4D97-AF65-F5344CB8AC3E}">
        <p14:creationId xmlns:p14="http://schemas.microsoft.com/office/powerpoint/2010/main" val="5592213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2800" b="1" dirty="0">
                <a:solidFill>
                  <a:schemeClr val="tx1"/>
                </a:solidFill>
              </a:rPr>
              <a:t>Brahmins</a:t>
            </a:r>
            <a:r>
              <a:rPr lang="en-IN" sz="2800" dirty="0">
                <a:solidFill>
                  <a:schemeClr val="tx1"/>
                </a:solidFill>
              </a:rPr>
              <a:t> </a:t>
            </a:r>
            <a:endParaRPr lang="en-IN" sz="2800" dirty="0" smtClean="0">
              <a:solidFill>
                <a:schemeClr val="tx1"/>
              </a:solidFill>
            </a:endParaRPr>
          </a:p>
          <a:p>
            <a:pPr algn="just"/>
            <a:r>
              <a:rPr lang="en-IN" sz="2800" b="1" i="1" dirty="0" smtClean="0">
                <a:solidFill>
                  <a:schemeClr val="tx1"/>
                </a:solidFill>
              </a:rPr>
              <a:t>Brahmins</a:t>
            </a:r>
            <a:r>
              <a:rPr lang="en-IN" sz="2800" dirty="0" smtClean="0">
                <a:solidFill>
                  <a:schemeClr val="tx1"/>
                </a:solidFill>
              </a:rPr>
              <a:t> </a:t>
            </a:r>
            <a:r>
              <a:rPr lang="en-IN" sz="2800" dirty="0">
                <a:solidFill>
                  <a:schemeClr val="tx1"/>
                </a:solidFill>
              </a:rPr>
              <a:t>were at the top of </a:t>
            </a:r>
            <a:r>
              <a:rPr lang="en-IN" sz="2800" b="1" i="1" dirty="0" err="1">
                <a:solidFill>
                  <a:schemeClr val="tx1"/>
                </a:solidFill>
              </a:rPr>
              <a:t>varna</a:t>
            </a:r>
            <a:r>
              <a:rPr lang="en-IN" sz="2800" dirty="0">
                <a:solidFill>
                  <a:schemeClr val="tx1"/>
                </a:solidFill>
              </a:rPr>
              <a:t> hierarchy. </a:t>
            </a:r>
            <a:endParaRPr lang="en-IN" sz="2800" dirty="0" smtClean="0">
              <a:solidFill>
                <a:schemeClr val="tx1"/>
              </a:solidFill>
            </a:endParaRPr>
          </a:p>
          <a:p>
            <a:pPr algn="just"/>
            <a:r>
              <a:rPr lang="en-IN" sz="2800" dirty="0" smtClean="0">
                <a:solidFill>
                  <a:schemeClr val="tx1"/>
                </a:solidFill>
              </a:rPr>
              <a:t>They </a:t>
            </a:r>
            <a:r>
              <a:rPr lang="en-IN" sz="2800" dirty="0">
                <a:solidFill>
                  <a:schemeClr val="tx1"/>
                </a:solidFill>
              </a:rPr>
              <a:t>were believed to possess great spiritual powers. </a:t>
            </a:r>
            <a:endParaRPr lang="en-IN" sz="2800" dirty="0" smtClean="0">
              <a:solidFill>
                <a:schemeClr val="tx1"/>
              </a:solidFill>
            </a:endParaRPr>
          </a:p>
          <a:p>
            <a:pPr algn="just"/>
            <a:r>
              <a:rPr lang="en-IN" sz="2800" dirty="0" smtClean="0">
                <a:solidFill>
                  <a:schemeClr val="tx1"/>
                </a:solidFill>
              </a:rPr>
              <a:t>Thus </a:t>
            </a:r>
            <a:r>
              <a:rPr lang="en-IN" sz="2800" dirty="0">
                <a:solidFill>
                  <a:schemeClr val="tx1"/>
                </a:solidFill>
              </a:rPr>
              <a:t>they had a divine existence. </a:t>
            </a:r>
            <a:endParaRPr lang="en-IN" sz="2800" dirty="0" smtClean="0">
              <a:solidFill>
                <a:schemeClr val="tx1"/>
              </a:solidFill>
            </a:endParaRPr>
          </a:p>
          <a:p>
            <a:pPr algn="just"/>
            <a:r>
              <a:rPr lang="en-IN" sz="2800" dirty="0" smtClean="0">
                <a:solidFill>
                  <a:schemeClr val="tx1"/>
                </a:solidFill>
              </a:rPr>
              <a:t>In </a:t>
            </a:r>
            <a:r>
              <a:rPr lang="en-IN" sz="2800" dirty="0">
                <a:solidFill>
                  <a:schemeClr val="tx1"/>
                </a:solidFill>
              </a:rPr>
              <a:t>law, they claimed great privileges. </a:t>
            </a:r>
            <a:endParaRPr lang="en-IN" sz="2800" dirty="0" smtClean="0">
              <a:solidFill>
                <a:schemeClr val="tx1"/>
              </a:solidFill>
            </a:endParaRPr>
          </a:p>
          <a:p>
            <a:pPr algn="just"/>
            <a:r>
              <a:rPr lang="en-IN" sz="2800" dirty="0" smtClean="0">
                <a:solidFill>
                  <a:schemeClr val="tx1"/>
                </a:solidFill>
              </a:rPr>
              <a:t>Normally </a:t>
            </a:r>
            <a:r>
              <a:rPr lang="en-IN" sz="2800" b="1" i="1" dirty="0" err="1">
                <a:solidFill>
                  <a:schemeClr val="tx1"/>
                </a:solidFill>
              </a:rPr>
              <a:t>brahmins</a:t>
            </a:r>
            <a:r>
              <a:rPr lang="en-IN" sz="2800" dirty="0">
                <a:solidFill>
                  <a:schemeClr val="tx1"/>
                </a:solidFill>
              </a:rPr>
              <a:t> were exempt from execution, torture and corporal punishment. </a:t>
            </a:r>
            <a:endParaRPr lang="en-IN" sz="2800" dirty="0" smtClean="0">
              <a:solidFill>
                <a:schemeClr val="tx1"/>
              </a:solidFill>
            </a:endParaRPr>
          </a:p>
          <a:p>
            <a:pPr algn="just"/>
            <a:r>
              <a:rPr lang="en-IN" sz="2800" dirty="0" smtClean="0">
                <a:solidFill>
                  <a:schemeClr val="tx1"/>
                </a:solidFill>
              </a:rPr>
              <a:t>The </a:t>
            </a:r>
            <a:r>
              <a:rPr lang="en-IN" sz="2800" dirty="0">
                <a:solidFill>
                  <a:schemeClr val="tx1"/>
                </a:solidFill>
              </a:rPr>
              <a:t>main functions prescribed for </a:t>
            </a:r>
            <a:r>
              <a:rPr lang="en-IN" sz="2800" b="1" i="1" dirty="0" err="1">
                <a:solidFill>
                  <a:schemeClr val="tx1"/>
                </a:solidFill>
              </a:rPr>
              <a:t>brahmins</a:t>
            </a:r>
            <a:r>
              <a:rPr lang="en-IN" sz="2800" dirty="0">
                <a:solidFill>
                  <a:schemeClr val="tx1"/>
                </a:solidFill>
              </a:rPr>
              <a:t> were learning, teaching and priesthood.</a:t>
            </a:r>
            <a:endParaRPr lang="en-IN" sz="2800" b="1" dirty="0" smtClean="0">
              <a:solidFill>
                <a:schemeClr val="tx1"/>
              </a:solidFill>
            </a:endParaRPr>
          </a:p>
        </p:txBody>
      </p:sp>
    </p:spTree>
    <p:extLst>
      <p:ext uri="{BB962C8B-B14F-4D97-AF65-F5344CB8AC3E}">
        <p14:creationId xmlns:p14="http://schemas.microsoft.com/office/powerpoint/2010/main" val="7604656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2800" b="1" dirty="0">
                <a:solidFill>
                  <a:schemeClr val="tx1"/>
                </a:solidFill>
              </a:rPr>
              <a:t>Kshatriya</a:t>
            </a:r>
            <a:r>
              <a:rPr lang="en-IN" sz="2800" dirty="0">
                <a:solidFill>
                  <a:schemeClr val="tx1"/>
                </a:solidFill>
              </a:rPr>
              <a:t> </a:t>
            </a:r>
            <a:endParaRPr lang="en-IN" sz="2800" dirty="0" smtClean="0">
              <a:solidFill>
                <a:schemeClr val="tx1"/>
              </a:solidFill>
            </a:endParaRPr>
          </a:p>
          <a:p>
            <a:pPr lvl="1" algn="just">
              <a:buFont typeface="Wingdings" panose="05000000000000000000" pitchFamily="2" charset="2"/>
              <a:buChar char="ü"/>
            </a:pPr>
            <a:r>
              <a:rPr lang="en-IN" sz="2400" dirty="0" smtClean="0">
                <a:solidFill>
                  <a:schemeClr val="tx1"/>
                </a:solidFill>
              </a:rPr>
              <a:t>The </a:t>
            </a:r>
            <a:r>
              <a:rPr lang="en-IN" sz="2400" dirty="0">
                <a:solidFill>
                  <a:schemeClr val="tx1"/>
                </a:solidFill>
              </a:rPr>
              <a:t>second class was the ruling class described as </a:t>
            </a:r>
            <a:r>
              <a:rPr lang="en-IN" sz="2400" b="1" i="1" dirty="0" err="1">
                <a:solidFill>
                  <a:schemeClr val="tx1"/>
                </a:solidFill>
              </a:rPr>
              <a:t>kshatriya</a:t>
            </a:r>
            <a:r>
              <a:rPr lang="en-IN" sz="2400" dirty="0">
                <a:solidFill>
                  <a:schemeClr val="tx1"/>
                </a:solidFill>
              </a:rPr>
              <a:t> or </a:t>
            </a:r>
            <a:r>
              <a:rPr lang="en-IN" sz="2400" b="1" i="1" dirty="0" err="1">
                <a:solidFill>
                  <a:schemeClr val="tx1"/>
                </a:solidFill>
              </a:rPr>
              <a:t>rājanya</a:t>
            </a:r>
            <a:r>
              <a:rPr lang="en-IN" sz="2400" dirty="0">
                <a:solidFill>
                  <a:schemeClr val="tx1"/>
                </a:solidFill>
              </a:rPr>
              <a:t>. </a:t>
            </a:r>
            <a:endParaRPr lang="en-IN" sz="2400" dirty="0" smtClean="0">
              <a:solidFill>
                <a:schemeClr val="tx1"/>
              </a:solidFill>
            </a:endParaRPr>
          </a:p>
          <a:p>
            <a:pPr lvl="1" algn="just">
              <a:buFont typeface="Wingdings" panose="05000000000000000000" pitchFamily="2" charset="2"/>
              <a:buChar char="ü"/>
            </a:pPr>
            <a:r>
              <a:rPr lang="en-IN" sz="2400" b="1" i="1" dirty="0" smtClean="0">
                <a:solidFill>
                  <a:schemeClr val="tx1"/>
                </a:solidFill>
              </a:rPr>
              <a:t>Kshatriyas</a:t>
            </a:r>
            <a:r>
              <a:rPr lang="en-IN" sz="2400" dirty="0" smtClean="0">
                <a:solidFill>
                  <a:schemeClr val="tx1"/>
                </a:solidFill>
              </a:rPr>
              <a:t> </a:t>
            </a:r>
            <a:r>
              <a:rPr lang="en-IN" sz="2400" dirty="0">
                <a:solidFill>
                  <a:schemeClr val="tx1"/>
                </a:solidFill>
              </a:rPr>
              <a:t>represented heroism, courage and strength</a:t>
            </a:r>
            <a:r>
              <a:rPr lang="en-IN" sz="2400" dirty="0" smtClean="0">
                <a:solidFill>
                  <a:schemeClr val="tx1"/>
                </a:solidFill>
              </a:rPr>
              <a:t>.</a:t>
            </a:r>
          </a:p>
          <a:p>
            <a:pPr lvl="1" algn="just">
              <a:buFont typeface="Wingdings" panose="05000000000000000000" pitchFamily="2" charset="2"/>
              <a:buChar char="ü"/>
            </a:pPr>
            <a:r>
              <a:rPr lang="en-IN" sz="2400" dirty="0" smtClean="0">
                <a:solidFill>
                  <a:schemeClr val="tx1"/>
                </a:solidFill>
              </a:rPr>
              <a:t> </a:t>
            </a:r>
            <a:r>
              <a:rPr lang="en-IN" sz="2400" dirty="0">
                <a:solidFill>
                  <a:schemeClr val="tx1"/>
                </a:solidFill>
              </a:rPr>
              <a:t>They constituted the warrior class. </a:t>
            </a:r>
            <a:endParaRPr lang="en-IN" sz="2400" dirty="0" smtClean="0">
              <a:solidFill>
                <a:schemeClr val="tx1"/>
              </a:solidFill>
            </a:endParaRPr>
          </a:p>
          <a:p>
            <a:pPr lvl="1" algn="just">
              <a:buFont typeface="Wingdings" panose="05000000000000000000" pitchFamily="2" charset="2"/>
              <a:buChar char="ü"/>
            </a:pPr>
            <a:r>
              <a:rPr lang="en-IN" sz="2400" dirty="0" smtClean="0">
                <a:solidFill>
                  <a:schemeClr val="tx1"/>
                </a:solidFill>
              </a:rPr>
              <a:t>The </a:t>
            </a:r>
            <a:r>
              <a:rPr lang="en-IN" sz="2400" dirty="0">
                <a:solidFill>
                  <a:schemeClr val="tx1"/>
                </a:solidFill>
              </a:rPr>
              <a:t>duty of </a:t>
            </a:r>
            <a:r>
              <a:rPr lang="en-IN" sz="2400" b="1" i="1" dirty="0" err="1">
                <a:solidFill>
                  <a:schemeClr val="tx1"/>
                </a:solidFill>
              </a:rPr>
              <a:t>kshatriyas</a:t>
            </a:r>
            <a:r>
              <a:rPr lang="en-IN" sz="2400" dirty="0">
                <a:solidFill>
                  <a:schemeClr val="tx1"/>
                </a:solidFill>
              </a:rPr>
              <a:t> was protection which had both internal and external aspects. </a:t>
            </a:r>
            <a:endParaRPr lang="en-IN" sz="2400" dirty="0" smtClean="0">
              <a:solidFill>
                <a:schemeClr val="tx1"/>
              </a:solidFill>
            </a:endParaRPr>
          </a:p>
          <a:p>
            <a:pPr lvl="1" algn="just">
              <a:buFont typeface="Wingdings" panose="05000000000000000000" pitchFamily="2" charset="2"/>
              <a:buChar char="ü"/>
            </a:pPr>
            <a:r>
              <a:rPr lang="en-IN" sz="2400" dirty="0" smtClean="0">
                <a:solidFill>
                  <a:schemeClr val="tx1"/>
                </a:solidFill>
              </a:rPr>
              <a:t>External </a:t>
            </a:r>
            <a:r>
              <a:rPr lang="en-IN" sz="2400" dirty="0">
                <a:solidFill>
                  <a:schemeClr val="tx1"/>
                </a:solidFill>
              </a:rPr>
              <a:t>protection meant to protect the society from external invasion where as internal protection meant governance in peace and protection from anarchy. </a:t>
            </a:r>
            <a:endParaRPr lang="en-IN" sz="2400" dirty="0" smtClean="0">
              <a:solidFill>
                <a:schemeClr val="tx1"/>
              </a:solidFill>
            </a:endParaRPr>
          </a:p>
          <a:p>
            <a:pPr lvl="1" algn="just">
              <a:buFont typeface="Wingdings" panose="05000000000000000000" pitchFamily="2" charset="2"/>
              <a:buChar char="ü"/>
            </a:pPr>
            <a:r>
              <a:rPr lang="en-IN" sz="2400" b="1" i="1" dirty="0" smtClean="0">
                <a:solidFill>
                  <a:schemeClr val="tx1"/>
                </a:solidFill>
              </a:rPr>
              <a:t>Kshatriyas</a:t>
            </a:r>
            <a:r>
              <a:rPr lang="en-IN" sz="2400" dirty="0" smtClean="0">
                <a:solidFill>
                  <a:schemeClr val="tx1"/>
                </a:solidFill>
              </a:rPr>
              <a:t> </a:t>
            </a:r>
            <a:r>
              <a:rPr lang="en-IN" sz="2400" dirty="0">
                <a:solidFill>
                  <a:schemeClr val="tx1"/>
                </a:solidFill>
              </a:rPr>
              <a:t>had the right to possess arms.</a:t>
            </a:r>
            <a:endParaRPr lang="en-IN" sz="2400" b="1" dirty="0" smtClean="0">
              <a:solidFill>
                <a:schemeClr val="tx1"/>
              </a:solidFill>
            </a:endParaRPr>
          </a:p>
        </p:txBody>
      </p:sp>
    </p:spTree>
    <p:extLst>
      <p:ext uri="{BB962C8B-B14F-4D97-AF65-F5344CB8AC3E}">
        <p14:creationId xmlns:p14="http://schemas.microsoft.com/office/powerpoint/2010/main" val="5271220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3200" b="1" dirty="0" err="1" smtClean="0">
                <a:solidFill>
                  <a:schemeClr val="tx1"/>
                </a:solidFill>
              </a:rPr>
              <a:t>Vaishyas</a:t>
            </a:r>
            <a:endParaRPr lang="en-IN" sz="3200" b="1" dirty="0" smtClean="0">
              <a:solidFill>
                <a:schemeClr val="tx1"/>
              </a:solidFill>
            </a:endParaRPr>
          </a:p>
          <a:p>
            <a:pPr lvl="1" algn="just">
              <a:buFont typeface="Wingdings" panose="05000000000000000000" pitchFamily="2" charset="2"/>
              <a:buChar char="ü"/>
            </a:pPr>
            <a:r>
              <a:rPr lang="en-IN" sz="2800" dirty="0" smtClean="0">
                <a:solidFill>
                  <a:schemeClr val="tx1"/>
                </a:solidFill>
              </a:rPr>
              <a:t> </a:t>
            </a:r>
            <a:r>
              <a:rPr lang="en-IN" sz="2800" b="1" i="1" dirty="0" err="1">
                <a:solidFill>
                  <a:schemeClr val="tx1"/>
                </a:solidFill>
              </a:rPr>
              <a:t>Vaishyas</a:t>
            </a:r>
            <a:r>
              <a:rPr lang="en-IN" sz="2800" dirty="0">
                <a:solidFill>
                  <a:schemeClr val="tx1"/>
                </a:solidFill>
              </a:rPr>
              <a:t> represented the trading and commercial class. </a:t>
            </a:r>
            <a:endParaRPr lang="en-IN" sz="2800" dirty="0" smtClean="0">
              <a:solidFill>
                <a:schemeClr val="tx1"/>
              </a:solidFill>
            </a:endParaRPr>
          </a:p>
          <a:p>
            <a:pPr lvl="1" algn="just">
              <a:buFont typeface="Wingdings" panose="05000000000000000000" pitchFamily="2" charset="2"/>
              <a:buChar char="ü"/>
            </a:pPr>
            <a:r>
              <a:rPr lang="en-IN" sz="2800" dirty="0" smtClean="0">
                <a:solidFill>
                  <a:schemeClr val="tx1"/>
                </a:solidFill>
              </a:rPr>
              <a:t>Though </a:t>
            </a:r>
            <a:r>
              <a:rPr lang="en-IN" sz="2800" dirty="0">
                <a:solidFill>
                  <a:schemeClr val="tx1"/>
                </a:solidFill>
              </a:rPr>
              <a:t>they were entitled to the services of the priesthood and to the ceremony of </a:t>
            </a:r>
            <a:r>
              <a:rPr lang="en-IN" sz="2800" b="1" i="1" dirty="0" err="1">
                <a:solidFill>
                  <a:schemeClr val="tx1"/>
                </a:solidFill>
              </a:rPr>
              <a:t>yajñopavīta</a:t>
            </a:r>
            <a:r>
              <a:rPr lang="en-IN" sz="2800" dirty="0">
                <a:solidFill>
                  <a:schemeClr val="tx1"/>
                </a:solidFill>
              </a:rPr>
              <a:t>, they were third in the social hierarchy. </a:t>
            </a:r>
            <a:endParaRPr lang="en-IN" sz="2800" dirty="0" smtClean="0">
              <a:solidFill>
                <a:schemeClr val="tx1"/>
              </a:solidFill>
            </a:endParaRPr>
          </a:p>
          <a:p>
            <a:pPr lvl="1" algn="just">
              <a:buFont typeface="Wingdings" panose="05000000000000000000" pitchFamily="2" charset="2"/>
              <a:buChar char="ü"/>
            </a:pPr>
            <a:r>
              <a:rPr lang="en-IN" sz="2800" dirty="0" smtClean="0">
                <a:solidFill>
                  <a:schemeClr val="tx1"/>
                </a:solidFill>
              </a:rPr>
              <a:t>According </a:t>
            </a:r>
            <a:r>
              <a:rPr lang="en-IN" sz="2800" dirty="0">
                <a:solidFill>
                  <a:schemeClr val="tx1"/>
                </a:solidFill>
              </a:rPr>
              <a:t>to Manu </a:t>
            </a:r>
            <a:r>
              <a:rPr lang="en-IN" sz="2800" dirty="0" smtClean="0">
                <a:solidFill>
                  <a:schemeClr val="tx1"/>
                </a:solidFill>
              </a:rPr>
              <a:t> </a:t>
            </a:r>
            <a:r>
              <a:rPr lang="en-IN" sz="2800" dirty="0">
                <a:solidFill>
                  <a:schemeClr val="tx1"/>
                </a:solidFill>
              </a:rPr>
              <a:t>the main task of the </a:t>
            </a:r>
            <a:r>
              <a:rPr lang="en-IN" sz="2800" b="1" i="1" dirty="0" err="1">
                <a:solidFill>
                  <a:schemeClr val="tx1"/>
                </a:solidFill>
              </a:rPr>
              <a:t>vaishya</a:t>
            </a:r>
            <a:r>
              <a:rPr lang="en-IN" sz="2800" dirty="0">
                <a:solidFill>
                  <a:schemeClr val="tx1"/>
                </a:solidFill>
              </a:rPr>
              <a:t> was to keep and maintain cattle. </a:t>
            </a:r>
            <a:endParaRPr lang="en-IN" sz="2800" dirty="0" smtClean="0">
              <a:solidFill>
                <a:schemeClr val="tx1"/>
              </a:solidFill>
            </a:endParaRPr>
          </a:p>
          <a:p>
            <a:pPr lvl="1" algn="just">
              <a:buFont typeface="Wingdings" panose="05000000000000000000" pitchFamily="2" charset="2"/>
              <a:buChar char="ü"/>
            </a:pPr>
            <a:r>
              <a:rPr lang="en-IN" sz="2800" dirty="0" smtClean="0">
                <a:solidFill>
                  <a:schemeClr val="tx1"/>
                </a:solidFill>
              </a:rPr>
              <a:t>But </a:t>
            </a:r>
            <a:r>
              <a:rPr lang="en-IN" sz="2800" dirty="0">
                <a:solidFill>
                  <a:schemeClr val="tx1"/>
                </a:solidFill>
              </a:rPr>
              <a:t>it seems that later on </a:t>
            </a:r>
            <a:r>
              <a:rPr lang="en-IN" sz="2800" b="1" i="1" dirty="0" err="1">
                <a:solidFill>
                  <a:schemeClr val="tx1"/>
                </a:solidFill>
              </a:rPr>
              <a:t>vaishyas</a:t>
            </a:r>
            <a:r>
              <a:rPr lang="en-IN" sz="2800" dirty="0">
                <a:solidFill>
                  <a:schemeClr val="tx1"/>
                </a:solidFill>
              </a:rPr>
              <a:t> </a:t>
            </a:r>
            <a:r>
              <a:rPr lang="en-IN" sz="2800" dirty="0" smtClean="0">
                <a:solidFill>
                  <a:schemeClr val="tx1"/>
                </a:solidFill>
              </a:rPr>
              <a:t> </a:t>
            </a:r>
            <a:r>
              <a:rPr lang="en-IN" sz="2800" dirty="0">
                <a:solidFill>
                  <a:schemeClr val="tx1"/>
                </a:solidFill>
              </a:rPr>
              <a:t>became economically a very important class of society. </a:t>
            </a:r>
            <a:endParaRPr lang="en-IN" sz="2800" dirty="0" smtClean="0">
              <a:solidFill>
                <a:schemeClr val="tx1"/>
              </a:solidFill>
            </a:endParaRPr>
          </a:p>
          <a:p>
            <a:pPr marL="457200" lvl="1" indent="0" algn="just">
              <a:buNone/>
            </a:pPr>
            <a:endParaRPr lang="en-IN" sz="2800" b="1" dirty="0" smtClean="0">
              <a:solidFill>
                <a:schemeClr val="tx1"/>
              </a:solidFill>
            </a:endParaRPr>
          </a:p>
        </p:txBody>
      </p:sp>
    </p:spTree>
    <p:extLst>
      <p:ext uri="{BB962C8B-B14F-4D97-AF65-F5344CB8AC3E}">
        <p14:creationId xmlns:p14="http://schemas.microsoft.com/office/powerpoint/2010/main" val="25581655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3600" b="1" dirty="0" err="1" smtClean="0">
                <a:solidFill>
                  <a:schemeClr val="tx1"/>
                </a:solidFill>
              </a:rPr>
              <a:t>Vaishyas</a:t>
            </a:r>
            <a:endParaRPr lang="en-IN" sz="3600" b="1" dirty="0" smtClean="0">
              <a:solidFill>
                <a:schemeClr val="tx1"/>
              </a:solidFill>
            </a:endParaRPr>
          </a:p>
          <a:p>
            <a:pPr lvl="1" algn="just">
              <a:buFont typeface="Wingdings" panose="05000000000000000000" pitchFamily="2" charset="2"/>
              <a:buChar char="ü"/>
            </a:pPr>
            <a:r>
              <a:rPr lang="en-IN" sz="3200" dirty="0" smtClean="0">
                <a:solidFill>
                  <a:schemeClr val="tx1"/>
                </a:solidFill>
              </a:rPr>
              <a:t>The </a:t>
            </a:r>
            <a:r>
              <a:rPr lang="en-IN" sz="3200" dirty="0">
                <a:solidFill>
                  <a:schemeClr val="tx1"/>
                </a:solidFill>
              </a:rPr>
              <a:t>ideal </a:t>
            </a:r>
            <a:r>
              <a:rPr lang="en-IN" sz="3200" b="1" i="1" dirty="0" err="1">
                <a:solidFill>
                  <a:schemeClr val="tx1"/>
                </a:solidFill>
              </a:rPr>
              <a:t>vaishya</a:t>
            </a:r>
            <a:r>
              <a:rPr lang="en-IN" sz="3200" dirty="0">
                <a:solidFill>
                  <a:schemeClr val="tx1"/>
                </a:solidFill>
              </a:rPr>
              <a:t> possessed the expert knowledge of jewels, metals, cloth, threads, spices, perfumes etc. </a:t>
            </a:r>
            <a:endParaRPr lang="en-IN" sz="3200" dirty="0" smtClean="0">
              <a:solidFill>
                <a:schemeClr val="tx1"/>
              </a:solidFill>
            </a:endParaRPr>
          </a:p>
          <a:p>
            <a:pPr lvl="1" algn="just">
              <a:buFont typeface="Wingdings" panose="05000000000000000000" pitchFamily="2" charset="2"/>
              <a:buChar char="ü"/>
            </a:pPr>
            <a:r>
              <a:rPr lang="en-IN" sz="3200" dirty="0" smtClean="0">
                <a:solidFill>
                  <a:schemeClr val="tx1"/>
                </a:solidFill>
              </a:rPr>
              <a:t>In </a:t>
            </a:r>
            <a:r>
              <a:rPr lang="en-IN" sz="3200" dirty="0">
                <a:solidFill>
                  <a:schemeClr val="tx1"/>
                </a:solidFill>
              </a:rPr>
              <a:t>this sense </a:t>
            </a:r>
            <a:r>
              <a:rPr lang="en-IN" sz="3200" b="1" i="1" dirty="0" err="1">
                <a:solidFill>
                  <a:schemeClr val="tx1"/>
                </a:solidFill>
              </a:rPr>
              <a:t>vaishyas</a:t>
            </a:r>
            <a:r>
              <a:rPr lang="en-IN" sz="3200" dirty="0">
                <a:solidFill>
                  <a:schemeClr val="tx1"/>
                </a:solidFill>
              </a:rPr>
              <a:t> were the ancient Indian businessmen. </a:t>
            </a:r>
            <a:endParaRPr lang="en-IN" sz="3200" dirty="0" smtClean="0">
              <a:solidFill>
                <a:schemeClr val="tx1"/>
              </a:solidFill>
            </a:endParaRPr>
          </a:p>
          <a:p>
            <a:pPr lvl="1" algn="just">
              <a:buFont typeface="Wingdings" panose="05000000000000000000" pitchFamily="2" charset="2"/>
              <a:buChar char="ü"/>
            </a:pPr>
            <a:r>
              <a:rPr lang="en-IN" sz="3200" dirty="0" smtClean="0">
                <a:solidFill>
                  <a:schemeClr val="tx1"/>
                </a:solidFill>
              </a:rPr>
              <a:t>In </a:t>
            </a:r>
            <a:r>
              <a:rPr lang="en-IN" sz="3200" b="1" i="1" dirty="0" err="1">
                <a:solidFill>
                  <a:schemeClr val="tx1"/>
                </a:solidFill>
              </a:rPr>
              <a:t>brahmanic</a:t>
            </a:r>
            <a:r>
              <a:rPr lang="en-IN" sz="3200" dirty="0">
                <a:solidFill>
                  <a:schemeClr val="tx1"/>
                </a:solidFill>
              </a:rPr>
              <a:t> literature, </a:t>
            </a:r>
            <a:r>
              <a:rPr lang="en-IN" sz="3200" b="1" i="1" dirty="0" err="1">
                <a:solidFill>
                  <a:schemeClr val="tx1"/>
                </a:solidFill>
              </a:rPr>
              <a:t>vaishyas</a:t>
            </a:r>
            <a:r>
              <a:rPr lang="en-IN" sz="3200" dirty="0">
                <a:solidFill>
                  <a:schemeClr val="tx1"/>
                </a:solidFill>
              </a:rPr>
              <a:t> are given few rights and humble status but </a:t>
            </a:r>
            <a:r>
              <a:rPr lang="en-IN" sz="3200" b="1" i="1" dirty="0">
                <a:solidFill>
                  <a:schemeClr val="tx1"/>
                </a:solidFill>
              </a:rPr>
              <a:t>Buddhist</a:t>
            </a:r>
            <a:r>
              <a:rPr lang="en-IN" sz="3200" dirty="0">
                <a:solidFill>
                  <a:schemeClr val="tx1"/>
                </a:solidFill>
              </a:rPr>
              <a:t> and </a:t>
            </a:r>
            <a:r>
              <a:rPr lang="en-IN" sz="3200" b="1" i="1" dirty="0" err="1">
                <a:solidFill>
                  <a:schemeClr val="tx1"/>
                </a:solidFill>
              </a:rPr>
              <a:t>Jaina</a:t>
            </a:r>
            <a:r>
              <a:rPr lang="en-IN" sz="3200" dirty="0">
                <a:solidFill>
                  <a:schemeClr val="tx1"/>
                </a:solidFill>
              </a:rPr>
              <a:t> literature mention many wealthy merchants living a luxurious life.</a:t>
            </a:r>
            <a:endParaRPr lang="en-IN" sz="3200" b="1" dirty="0" smtClean="0">
              <a:solidFill>
                <a:schemeClr val="tx1"/>
              </a:solidFill>
            </a:endParaRPr>
          </a:p>
        </p:txBody>
      </p:sp>
    </p:spTree>
    <p:extLst>
      <p:ext uri="{BB962C8B-B14F-4D97-AF65-F5344CB8AC3E}">
        <p14:creationId xmlns:p14="http://schemas.microsoft.com/office/powerpoint/2010/main" val="17664561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3200" b="1" dirty="0">
                <a:solidFill>
                  <a:schemeClr val="tx1"/>
                </a:solidFill>
              </a:rPr>
              <a:t>Shudras</a:t>
            </a:r>
            <a:r>
              <a:rPr lang="en-IN" sz="3200" dirty="0">
                <a:solidFill>
                  <a:schemeClr val="tx1"/>
                </a:solidFill>
              </a:rPr>
              <a:t> </a:t>
            </a:r>
            <a:endParaRPr lang="en-IN" sz="3200" dirty="0" smtClean="0">
              <a:solidFill>
                <a:schemeClr val="tx1"/>
              </a:solidFill>
            </a:endParaRPr>
          </a:p>
          <a:p>
            <a:pPr lvl="1" algn="just">
              <a:buFont typeface="Wingdings" panose="05000000000000000000" pitchFamily="2" charset="2"/>
              <a:buChar char="ü"/>
            </a:pPr>
            <a:r>
              <a:rPr lang="en-IN" sz="3000" dirty="0" smtClean="0">
                <a:solidFill>
                  <a:schemeClr val="tx1"/>
                </a:solidFill>
              </a:rPr>
              <a:t>Shudras </a:t>
            </a:r>
            <a:r>
              <a:rPr lang="en-IN" sz="3000" dirty="0">
                <a:solidFill>
                  <a:schemeClr val="tx1"/>
                </a:solidFill>
              </a:rPr>
              <a:t>were at the bottom of the social hierarchy. </a:t>
            </a:r>
            <a:endParaRPr lang="en-IN" sz="3000" dirty="0" smtClean="0">
              <a:solidFill>
                <a:schemeClr val="tx1"/>
              </a:solidFill>
            </a:endParaRPr>
          </a:p>
          <a:p>
            <a:pPr lvl="1" algn="just">
              <a:buFont typeface="Wingdings" panose="05000000000000000000" pitchFamily="2" charset="2"/>
              <a:buChar char="ü"/>
            </a:pPr>
            <a:r>
              <a:rPr lang="en-IN" sz="3000" dirty="0" smtClean="0">
                <a:solidFill>
                  <a:schemeClr val="tx1"/>
                </a:solidFill>
              </a:rPr>
              <a:t>They </a:t>
            </a:r>
            <a:r>
              <a:rPr lang="en-IN" sz="3000" dirty="0">
                <a:solidFill>
                  <a:schemeClr val="tx1"/>
                </a:solidFill>
              </a:rPr>
              <a:t>pursued the task of serving the other three </a:t>
            </a:r>
            <a:r>
              <a:rPr lang="en-IN" sz="3000" b="1" i="1" dirty="0" err="1">
                <a:solidFill>
                  <a:schemeClr val="tx1"/>
                </a:solidFill>
              </a:rPr>
              <a:t>varnas</a:t>
            </a:r>
            <a:r>
              <a:rPr lang="en-IN" sz="3000" dirty="0">
                <a:solidFill>
                  <a:schemeClr val="tx1"/>
                </a:solidFill>
              </a:rPr>
              <a:t>. </a:t>
            </a:r>
            <a:endParaRPr lang="en-IN" sz="3000" dirty="0" smtClean="0">
              <a:solidFill>
                <a:schemeClr val="tx1"/>
              </a:solidFill>
            </a:endParaRPr>
          </a:p>
          <a:p>
            <a:pPr lvl="1" algn="just">
              <a:buFont typeface="Wingdings" panose="05000000000000000000" pitchFamily="2" charset="2"/>
              <a:buChar char="ü"/>
            </a:pPr>
            <a:r>
              <a:rPr lang="en-IN" sz="3000" dirty="0" smtClean="0">
                <a:solidFill>
                  <a:schemeClr val="tx1"/>
                </a:solidFill>
              </a:rPr>
              <a:t>They </a:t>
            </a:r>
            <a:r>
              <a:rPr lang="en-IN" sz="3000" dirty="0">
                <a:solidFill>
                  <a:schemeClr val="tx1"/>
                </a:solidFill>
              </a:rPr>
              <a:t>were deprived of various rights. </a:t>
            </a:r>
            <a:endParaRPr lang="en-IN" sz="3000" dirty="0" smtClean="0">
              <a:solidFill>
                <a:schemeClr val="tx1"/>
              </a:solidFill>
            </a:endParaRPr>
          </a:p>
          <a:p>
            <a:pPr lvl="1" algn="just">
              <a:buFont typeface="Wingdings" panose="05000000000000000000" pitchFamily="2" charset="2"/>
              <a:buChar char="ü"/>
            </a:pPr>
            <a:r>
              <a:rPr lang="en-IN" sz="3000" dirty="0" smtClean="0">
                <a:solidFill>
                  <a:schemeClr val="tx1"/>
                </a:solidFill>
              </a:rPr>
              <a:t>They </a:t>
            </a:r>
            <a:r>
              <a:rPr lang="en-IN" sz="3000" dirty="0">
                <a:solidFill>
                  <a:schemeClr val="tx1"/>
                </a:solidFill>
              </a:rPr>
              <a:t>were in fact second class </a:t>
            </a:r>
            <a:r>
              <a:rPr lang="en-IN" sz="3000" dirty="0" smtClean="0">
                <a:solidFill>
                  <a:schemeClr val="tx1"/>
                </a:solidFill>
              </a:rPr>
              <a:t>citizens of the </a:t>
            </a:r>
            <a:r>
              <a:rPr lang="en-IN" sz="3000" dirty="0">
                <a:solidFill>
                  <a:schemeClr val="tx1"/>
                </a:solidFill>
              </a:rPr>
              <a:t>society. </a:t>
            </a:r>
            <a:endParaRPr lang="en-IN" sz="3000" dirty="0" smtClean="0">
              <a:solidFill>
                <a:schemeClr val="tx1"/>
              </a:solidFill>
            </a:endParaRPr>
          </a:p>
        </p:txBody>
      </p:sp>
    </p:spTree>
    <p:extLst>
      <p:ext uri="{BB962C8B-B14F-4D97-AF65-F5344CB8AC3E}">
        <p14:creationId xmlns:p14="http://schemas.microsoft.com/office/powerpoint/2010/main" val="2156501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VARNA VYAVASTHA : FOUR CLASS CLASSIFICATION</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3200" b="1" dirty="0">
                <a:solidFill>
                  <a:schemeClr val="tx1"/>
                </a:solidFill>
              </a:rPr>
              <a:t>Shudras</a:t>
            </a:r>
            <a:r>
              <a:rPr lang="en-IN" sz="3200" dirty="0">
                <a:solidFill>
                  <a:schemeClr val="tx1"/>
                </a:solidFill>
              </a:rPr>
              <a:t> </a:t>
            </a:r>
            <a:endParaRPr lang="en-IN" sz="3200" dirty="0" smtClean="0">
              <a:solidFill>
                <a:schemeClr val="tx1"/>
              </a:solidFill>
            </a:endParaRPr>
          </a:p>
          <a:p>
            <a:pPr lvl="1" algn="just">
              <a:buFont typeface="Wingdings" panose="05000000000000000000" pitchFamily="2" charset="2"/>
              <a:buChar char="ü"/>
            </a:pPr>
            <a:r>
              <a:rPr lang="en-IN" sz="2800" dirty="0" smtClean="0">
                <a:solidFill>
                  <a:schemeClr val="tx1"/>
                </a:solidFill>
              </a:rPr>
              <a:t>Text </a:t>
            </a:r>
            <a:r>
              <a:rPr lang="en-IN" sz="2800" dirty="0">
                <a:solidFill>
                  <a:schemeClr val="tx1"/>
                </a:solidFill>
              </a:rPr>
              <a:t>maintains that </a:t>
            </a:r>
            <a:r>
              <a:rPr lang="en-IN" sz="2800" b="1" i="1" dirty="0" err="1">
                <a:solidFill>
                  <a:schemeClr val="tx1"/>
                </a:solidFill>
              </a:rPr>
              <a:t>shudras</a:t>
            </a:r>
            <a:r>
              <a:rPr lang="en-IN" sz="2800" dirty="0">
                <a:solidFill>
                  <a:schemeClr val="tx1"/>
                </a:solidFill>
              </a:rPr>
              <a:t> were of two types— ‘not excluded’ or </a:t>
            </a:r>
            <a:r>
              <a:rPr lang="en-IN" sz="2800" b="1" i="1" dirty="0" err="1">
                <a:solidFill>
                  <a:schemeClr val="tx1"/>
                </a:solidFill>
              </a:rPr>
              <a:t>anirvāsita</a:t>
            </a:r>
            <a:r>
              <a:rPr lang="en-IN" sz="2800" dirty="0">
                <a:solidFill>
                  <a:schemeClr val="tx1"/>
                </a:solidFill>
              </a:rPr>
              <a:t> and ‘excluded’ or </a:t>
            </a:r>
            <a:r>
              <a:rPr lang="en-IN" sz="2800" b="1" i="1" dirty="0" err="1">
                <a:solidFill>
                  <a:schemeClr val="tx1"/>
                </a:solidFill>
              </a:rPr>
              <a:t>nirvāsita</a:t>
            </a:r>
            <a:r>
              <a:rPr lang="en-IN" sz="2800" b="1" i="1" dirty="0">
                <a:solidFill>
                  <a:schemeClr val="tx1"/>
                </a:solidFill>
              </a:rPr>
              <a:t>.</a:t>
            </a:r>
            <a:r>
              <a:rPr lang="en-IN" sz="2800" dirty="0">
                <a:solidFill>
                  <a:schemeClr val="tx1"/>
                </a:solidFill>
              </a:rPr>
              <a:t> </a:t>
            </a:r>
            <a:endParaRPr lang="en-IN" sz="2800" dirty="0" smtClean="0">
              <a:solidFill>
                <a:schemeClr val="tx1"/>
              </a:solidFill>
            </a:endParaRPr>
          </a:p>
          <a:p>
            <a:pPr lvl="1" algn="just">
              <a:buFont typeface="Wingdings" panose="05000000000000000000" pitchFamily="2" charset="2"/>
              <a:buChar char="ü"/>
            </a:pPr>
            <a:r>
              <a:rPr lang="en-IN" sz="2800" dirty="0" smtClean="0">
                <a:solidFill>
                  <a:schemeClr val="tx1"/>
                </a:solidFill>
              </a:rPr>
              <a:t>The </a:t>
            </a:r>
            <a:r>
              <a:rPr lang="en-IN" sz="2800" dirty="0">
                <a:solidFill>
                  <a:schemeClr val="tx1"/>
                </a:solidFill>
              </a:rPr>
              <a:t>distinction was made on the basis of the customs of the </a:t>
            </a:r>
            <a:r>
              <a:rPr lang="en-IN" sz="2800" b="1" i="1" dirty="0" err="1">
                <a:solidFill>
                  <a:schemeClr val="tx1"/>
                </a:solidFill>
              </a:rPr>
              <a:t>shudra</a:t>
            </a:r>
            <a:r>
              <a:rPr lang="en-IN" sz="2800" dirty="0">
                <a:solidFill>
                  <a:schemeClr val="tx1"/>
                </a:solidFill>
              </a:rPr>
              <a:t> group and the profession followed by the members of the group. </a:t>
            </a:r>
            <a:endParaRPr lang="en-IN" sz="2800" dirty="0" smtClean="0">
              <a:solidFill>
                <a:schemeClr val="tx1"/>
              </a:solidFill>
            </a:endParaRPr>
          </a:p>
          <a:p>
            <a:pPr lvl="1" algn="just">
              <a:buFont typeface="Wingdings" panose="05000000000000000000" pitchFamily="2" charset="2"/>
              <a:buChar char="ü"/>
            </a:pPr>
            <a:r>
              <a:rPr lang="en-IN" sz="2800" b="1" i="1" dirty="0" err="1" smtClean="0">
                <a:solidFill>
                  <a:schemeClr val="tx1"/>
                </a:solidFill>
              </a:rPr>
              <a:t>Anirvāsita</a:t>
            </a:r>
            <a:r>
              <a:rPr lang="en-IN" sz="2800" b="1" i="1" dirty="0" smtClean="0">
                <a:solidFill>
                  <a:schemeClr val="tx1"/>
                </a:solidFill>
              </a:rPr>
              <a:t> </a:t>
            </a:r>
            <a:r>
              <a:rPr lang="en-IN" sz="2800" b="1" i="1" dirty="0" err="1">
                <a:solidFill>
                  <a:schemeClr val="tx1"/>
                </a:solidFill>
              </a:rPr>
              <a:t>shudras</a:t>
            </a:r>
            <a:r>
              <a:rPr lang="en-IN" sz="2800" b="1" i="1" dirty="0">
                <a:solidFill>
                  <a:schemeClr val="tx1"/>
                </a:solidFill>
              </a:rPr>
              <a:t> </a:t>
            </a:r>
            <a:r>
              <a:rPr lang="en-IN" sz="2800" dirty="0">
                <a:solidFill>
                  <a:schemeClr val="tx1"/>
                </a:solidFill>
              </a:rPr>
              <a:t>were the part of Indian </a:t>
            </a:r>
            <a:r>
              <a:rPr lang="en-IN" sz="2800" b="1" i="1" dirty="0" err="1">
                <a:solidFill>
                  <a:schemeClr val="tx1"/>
                </a:solidFill>
              </a:rPr>
              <a:t>varna</a:t>
            </a:r>
            <a:r>
              <a:rPr lang="en-IN" sz="2800" dirty="0">
                <a:solidFill>
                  <a:schemeClr val="tx1"/>
                </a:solidFill>
              </a:rPr>
              <a:t> system where as </a:t>
            </a:r>
            <a:r>
              <a:rPr lang="en-IN" sz="2800" b="1" i="1" dirty="0" err="1">
                <a:solidFill>
                  <a:schemeClr val="tx1"/>
                </a:solidFill>
              </a:rPr>
              <a:t>nirvāsita</a:t>
            </a:r>
            <a:r>
              <a:rPr lang="en-IN" sz="2800" dirty="0">
                <a:solidFill>
                  <a:schemeClr val="tx1"/>
                </a:solidFill>
              </a:rPr>
              <a:t> </a:t>
            </a:r>
            <a:r>
              <a:rPr lang="en-IN" sz="2800" b="1" i="1" dirty="0" err="1">
                <a:solidFill>
                  <a:schemeClr val="tx1"/>
                </a:solidFill>
              </a:rPr>
              <a:t>shudras</a:t>
            </a:r>
            <a:r>
              <a:rPr lang="en-IN" sz="2800" dirty="0">
                <a:solidFill>
                  <a:schemeClr val="tx1"/>
                </a:solidFill>
              </a:rPr>
              <a:t> were quite outside the pale of Hindu society and virtually indistinguishable from the strata of people known as untouchables.</a:t>
            </a:r>
            <a:endParaRPr lang="en-IN" sz="2800" b="1" dirty="0" smtClean="0">
              <a:solidFill>
                <a:schemeClr val="tx1"/>
              </a:solidFill>
            </a:endParaRPr>
          </a:p>
        </p:txBody>
      </p:sp>
    </p:spTree>
    <p:extLst>
      <p:ext uri="{BB962C8B-B14F-4D97-AF65-F5344CB8AC3E}">
        <p14:creationId xmlns:p14="http://schemas.microsoft.com/office/powerpoint/2010/main" val="3183234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800" dirty="0">
                <a:solidFill>
                  <a:schemeClr val="tx1"/>
                </a:solidFill>
              </a:rPr>
              <a:t>The gender perspective looks at the impact of gender on people's opportunities, social roles and interactions. </a:t>
            </a:r>
            <a:endParaRPr lang="en-IN" sz="2800" dirty="0" smtClean="0">
              <a:solidFill>
                <a:schemeClr val="tx1"/>
              </a:solidFill>
            </a:endParaRPr>
          </a:p>
          <a:p>
            <a:pPr algn="just"/>
            <a:r>
              <a:rPr lang="en-IN" sz="2800" dirty="0" smtClean="0">
                <a:solidFill>
                  <a:schemeClr val="tx1"/>
                </a:solidFill>
              </a:rPr>
              <a:t>Successful </a:t>
            </a:r>
            <a:r>
              <a:rPr lang="en-IN" sz="2800" dirty="0">
                <a:solidFill>
                  <a:schemeClr val="tx1"/>
                </a:solidFill>
              </a:rPr>
              <a:t>implementation of the policy, programme and project goals of international and national organizations is directly affected by the impact of gender and, in turn, influences the process of social development. </a:t>
            </a:r>
            <a:endParaRPr lang="en-IN" sz="2800" dirty="0" smtClean="0">
              <a:solidFill>
                <a:schemeClr val="tx1"/>
              </a:solidFill>
            </a:endParaRPr>
          </a:p>
          <a:p>
            <a:pPr algn="just"/>
            <a:r>
              <a:rPr lang="en-IN" sz="2800" dirty="0" smtClean="0">
                <a:solidFill>
                  <a:schemeClr val="tx1"/>
                </a:solidFill>
              </a:rPr>
              <a:t>Gender </a:t>
            </a:r>
            <a:r>
              <a:rPr lang="en-IN" sz="2800" dirty="0">
                <a:solidFill>
                  <a:schemeClr val="tx1"/>
                </a:solidFill>
              </a:rPr>
              <a:t>is an integral component of every aspect of the economic, social, daily and private lives of individuals and societies, and of the different roles ascribed by society to men and women.</a:t>
            </a:r>
            <a:endParaRPr lang="en-IN" sz="3600" b="1" dirty="0" smtClean="0">
              <a:solidFill>
                <a:schemeClr val="tx1"/>
              </a:solidFill>
            </a:endParaRPr>
          </a:p>
        </p:txBody>
      </p:sp>
    </p:spTree>
    <p:extLst>
      <p:ext uri="{BB962C8B-B14F-4D97-AF65-F5344CB8AC3E}">
        <p14:creationId xmlns:p14="http://schemas.microsoft.com/office/powerpoint/2010/main" val="38651322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algn="just"/>
            <a:r>
              <a:rPr lang="en-IN" sz="2400" dirty="0">
                <a:solidFill>
                  <a:schemeClr val="tx1"/>
                </a:solidFill>
              </a:rPr>
              <a:t>Planners and policy-makers must be mindful of the major aspects of socially ascribed gender functions and the specific needs of men and women. If development policies are to be sustainable, they must consider existing gender disparities </a:t>
            </a:r>
            <a:r>
              <a:rPr lang="en-IN" sz="2400" dirty="0" smtClean="0">
                <a:solidFill>
                  <a:schemeClr val="tx1"/>
                </a:solidFill>
              </a:rPr>
              <a:t>in</a:t>
            </a:r>
          </a:p>
          <a:p>
            <a:pPr lvl="1" algn="just"/>
            <a:r>
              <a:rPr lang="en-IN" sz="2000" dirty="0" smtClean="0">
                <a:solidFill>
                  <a:schemeClr val="tx1"/>
                </a:solidFill>
              </a:rPr>
              <a:t>Employment</a:t>
            </a:r>
            <a:r>
              <a:rPr lang="en-IN" sz="2000" dirty="0">
                <a:solidFill>
                  <a:schemeClr val="tx1"/>
                </a:solidFill>
              </a:rPr>
              <a:t>.</a:t>
            </a:r>
            <a:endParaRPr lang="en-IN" sz="2000" dirty="0" smtClean="0">
              <a:solidFill>
                <a:schemeClr val="tx1"/>
              </a:solidFill>
            </a:endParaRPr>
          </a:p>
          <a:p>
            <a:pPr lvl="1" algn="just"/>
            <a:r>
              <a:rPr lang="en-IN" sz="2000" dirty="0" smtClean="0">
                <a:solidFill>
                  <a:schemeClr val="tx1"/>
                </a:solidFill>
              </a:rPr>
              <a:t>Poverty</a:t>
            </a:r>
            <a:r>
              <a:rPr lang="en-IN" sz="2000" dirty="0">
                <a:solidFill>
                  <a:schemeClr val="tx1"/>
                </a:solidFill>
              </a:rPr>
              <a:t>.</a:t>
            </a:r>
            <a:endParaRPr lang="en-IN" sz="2000" dirty="0" smtClean="0">
              <a:solidFill>
                <a:schemeClr val="tx1"/>
              </a:solidFill>
            </a:endParaRPr>
          </a:p>
          <a:p>
            <a:pPr lvl="1" algn="just"/>
            <a:r>
              <a:rPr lang="en-IN" sz="2000" dirty="0" smtClean="0">
                <a:solidFill>
                  <a:schemeClr val="tx1"/>
                </a:solidFill>
              </a:rPr>
              <a:t>Health</a:t>
            </a:r>
            <a:r>
              <a:rPr lang="en-IN" sz="2000" dirty="0">
                <a:solidFill>
                  <a:schemeClr val="tx1"/>
                </a:solidFill>
              </a:rPr>
              <a:t>.</a:t>
            </a:r>
            <a:endParaRPr lang="en-IN" sz="2000" dirty="0" smtClean="0">
              <a:solidFill>
                <a:schemeClr val="tx1"/>
              </a:solidFill>
            </a:endParaRPr>
          </a:p>
          <a:p>
            <a:pPr lvl="1" algn="just"/>
            <a:r>
              <a:rPr lang="en-IN" sz="2000" dirty="0" smtClean="0">
                <a:solidFill>
                  <a:schemeClr val="tx1"/>
                </a:solidFill>
              </a:rPr>
              <a:t>Education</a:t>
            </a:r>
            <a:r>
              <a:rPr lang="en-IN" sz="2000" dirty="0">
                <a:solidFill>
                  <a:schemeClr val="tx1"/>
                </a:solidFill>
              </a:rPr>
              <a:t>.</a:t>
            </a:r>
            <a:endParaRPr lang="en-IN" sz="2000" dirty="0" smtClean="0">
              <a:solidFill>
                <a:schemeClr val="tx1"/>
              </a:solidFill>
            </a:endParaRPr>
          </a:p>
          <a:p>
            <a:pPr lvl="1" algn="just"/>
            <a:r>
              <a:rPr lang="en-IN" sz="2000" dirty="0">
                <a:solidFill>
                  <a:schemeClr val="tx1"/>
                </a:solidFill>
              </a:rPr>
              <a:t>E</a:t>
            </a:r>
            <a:r>
              <a:rPr lang="en-IN" sz="2000" dirty="0" smtClean="0">
                <a:solidFill>
                  <a:schemeClr val="tx1"/>
                </a:solidFill>
              </a:rPr>
              <a:t>nvironment</a:t>
            </a:r>
            <a:r>
              <a:rPr lang="en-IN" sz="2000" dirty="0">
                <a:solidFill>
                  <a:schemeClr val="tx1"/>
                </a:solidFill>
              </a:rPr>
              <a:t>.</a:t>
            </a:r>
            <a:endParaRPr lang="en-IN" sz="2000" dirty="0" smtClean="0">
              <a:solidFill>
                <a:schemeClr val="tx1"/>
              </a:solidFill>
            </a:endParaRPr>
          </a:p>
          <a:p>
            <a:pPr lvl="1" algn="just"/>
            <a:r>
              <a:rPr lang="en-IN" sz="2000" dirty="0">
                <a:solidFill>
                  <a:schemeClr val="tx1"/>
                </a:solidFill>
              </a:rPr>
              <a:t>P</a:t>
            </a:r>
            <a:r>
              <a:rPr lang="en-IN" sz="2000" dirty="0" smtClean="0">
                <a:solidFill>
                  <a:schemeClr val="tx1"/>
                </a:solidFill>
              </a:rPr>
              <a:t>ublic </a:t>
            </a:r>
            <a:r>
              <a:rPr lang="en-IN" sz="2000" dirty="0">
                <a:solidFill>
                  <a:schemeClr val="tx1"/>
                </a:solidFill>
              </a:rPr>
              <a:t>life and decision-making bodies</a:t>
            </a:r>
            <a:r>
              <a:rPr lang="en-IN" sz="2000" dirty="0" smtClean="0">
                <a:solidFill>
                  <a:schemeClr val="tx1"/>
                </a:solidFill>
              </a:rPr>
              <a:t>.</a:t>
            </a:r>
          </a:p>
        </p:txBody>
      </p:sp>
    </p:spTree>
    <p:extLst>
      <p:ext uri="{BB962C8B-B14F-4D97-AF65-F5344CB8AC3E}">
        <p14:creationId xmlns:p14="http://schemas.microsoft.com/office/powerpoint/2010/main" val="30118187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2800" b="1" dirty="0" smtClean="0">
                <a:solidFill>
                  <a:schemeClr val="tx1"/>
                </a:solidFill>
              </a:rPr>
              <a:t>Employment / Work</a:t>
            </a:r>
          </a:p>
          <a:p>
            <a:pPr algn="just"/>
            <a:r>
              <a:rPr lang="en-IN" sz="2400" dirty="0" smtClean="0">
                <a:solidFill>
                  <a:schemeClr val="tx1"/>
                </a:solidFill>
              </a:rPr>
              <a:t>Households </a:t>
            </a:r>
            <a:r>
              <a:rPr lang="en-IN" sz="2400" dirty="0">
                <a:solidFill>
                  <a:schemeClr val="tx1"/>
                </a:solidFill>
              </a:rPr>
              <a:t>in all societies differentiate various household activities and responsibilities by gender. For women, production and reproduction are two interlinked activities, and much of the work women do, although productive, is unpaid. Men have always played a minor role in domestic work; societies tending to assume that they have paid work outside the home.</a:t>
            </a:r>
          </a:p>
          <a:p>
            <a:pPr algn="just"/>
            <a:r>
              <a:rPr lang="en-IN" sz="2400" dirty="0">
                <a:solidFill>
                  <a:schemeClr val="tx1"/>
                </a:solidFill>
              </a:rPr>
              <a:t>Gender disparities in access to economic resources, including credit, land and economic power-sharing, directly affect women's potential for achieving the kind of economic autonomy they need to provide a better quality of life for themselves and their </a:t>
            </a:r>
            <a:r>
              <a:rPr lang="en-IN" sz="2400" dirty="0" smtClean="0">
                <a:solidFill>
                  <a:schemeClr val="tx1"/>
                </a:solidFill>
              </a:rPr>
              <a:t>dependants. Limited </a:t>
            </a:r>
            <a:r>
              <a:rPr lang="en-IN" sz="2400" dirty="0">
                <a:solidFill>
                  <a:schemeClr val="tx1"/>
                </a:solidFill>
              </a:rPr>
              <a:t>access to agricultural inputs, especially for food crops, severely curtails women's potential productivity.</a:t>
            </a:r>
          </a:p>
          <a:p>
            <a:pPr algn="just"/>
            <a:endParaRPr lang="en-IN" sz="2400" dirty="0" smtClean="0">
              <a:solidFill>
                <a:schemeClr val="tx1"/>
              </a:solidFill>
            </a:endParaRPr>
          </a:p>
        </p:txBody>
      </p:sp>
    </p:spTree>
    <p:extLst>
      <p:ext uri="{BB962C8B-B14F-4D97-AF65-F5344CB8AC3E}">
        <p14:creationId xmlns:p14="http://schemas.microsoft.com/office/powerpoint/2010/main" val="28492736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2800" b="1" dirty="0" smtClean="0">
                <a:solidFill>
                  <a:schemeClr val="tx1"/>
                </a:solidFill>
              </a:rPr>
              <a:t>Poverty</a:t>
            </a:r>
          </a:p>
          <a:p>
            <a:pPr algn="just"/>
            <a:r>
              <a:rPr lang="en-IN" dirty="0">
                <a:solidFill>
                  <a:schemeClr val="tx1"/>
                </a:solidFill>
              </a:rPr>
              <a:t>Poverty can be defined as the combination of uncertain or non-existent income and a lack of access to the resources needed to ensure sustainable living conditions. </a:t>
            </a:r>
            <a:endParaRPr lang="en-IN" dirty="0" smtClean="0">
              <a:solidFill>
                <a:schemeClr val="tx1"/>
              </a:solidFill>
            </a:endParaRPr>
          </a:p>
          <a:p>
            <a:pPr algn="just"/>
            <a:r>
              <a:rPr lang="en-IN" dirty="0" smtClean="0">
                <a:solidFill>
                  <a:schemeClr val="tx1"/>
                </a:solidFill>
              </a:rPr>
              <a:t>It </a:t>
            </a:r>
            <a:r>
              <a:rPr lang="en-IN" dirty="0">
                <a:solidFill>
                  <a:schemeClr val="tx1"/>
                </a:solidFill>
              </a:rPr>
              <a:t>often goes hand-in-hand with hunger, malnourishment, poor health, high mortality and morbidity rates, insufficient education and precarious and unhealthy housing</a:t>
            </a:r>
            <a:r>
              <a:rPr lang="en-IN" dirty="0" smtClean="0">
                <a:solidFill>
                  <a:schemeClr val="tx1"/>
                </a:solidFill>
              </a:rPr>
              <a:t>.</a:t>
            </a:r>
          </a:p>
          <a:p>
            <a:pPr algn="just"/>
            <a:r>
              <a:rPr lang="en-IN" dirty="0">
                <a:solidFill>
                  <a:schemeClr val="tx1"/>
                </a:solidFill>
              </a:rPr>
              <a:t>In rural areas, where services and job opportunities are even fewer than in urban areas, poverty is also more acute. The situation is worse for women, who are less likely to have access to production factors, services and resources such as credit, land, inheritance, education, information, extension services, technology and farm inputs, as well as a say in decision-making</a:t>
            </a:r>
            <a:r>
              <a:rPr lang="en-IN" dirty="0" smtClean="0">
                <a:solidFill>
                  <a:schemeClr val="tx1"/>
                </a:solidFill>
              </a:rPr>
              <a:t>.</a:t>
            </a:r>
          </a:p>
          <a:p>
            <a:pPr algn="just"/>
            <a:r>
              <a:rPr lang="en-IN" dirty="0" smtClean="0">
                <a:solidFill>
                  <a:schemeClr val="tx1"/>
                </a:solidFill>
              </a:rPr>
              <a:t>Another </a:t>
            </a:r>
            <a:r>
              <a:rPr lang="en-IN" dirty="0">
                <a:solidFill>
                  <a:schemeClr val="tx1"/>
                </a:solidFill>
              </a:rPr>
              <a:t>reason for the persistence of female poverty is gender vulnerability within the home. When poor families cannot afford to send all of their children to school, parents favour investing in the boy-children, keeping the girls at home to help with domestic work or some income-generating activity.</a:t>
            </a:r>
          </a:p>
          <a:p>
            <a:pPr algn="just"/>
            <a:endParaRPr lang="en-IN" sz="2400" dirty="0" smtClean="0">
              <a:solidFill>
                <a:schemeClr val="tx1"/>
              </a:solidFill>
            </a:endParaRPr>
          </a:p>
        </p:txBody>
      </p:sp>
    </p:spTree>
    <p:extLst>
      <p:ext uri="{BB962C8B-B14F-4D97-AF65-F5344CB8AC3E}">
        <p14:creationId xmlns:p14="http://schemas.microsoft.com/office/powerpoint/2010/main" val="11270235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3600" b="1" dirty="0" smtClean="0">
                <a:solidFill>
                  <a:schemeClr val="tx1"/>
                </a:solidFill>
              </a:rPr>
              <a:t>Health &amp; Nutrition</a:t>
            </a:r>
          </a:p>
          <a:p>
            <a:pPr algn="just"/>
            <a:r>
              <a:rPr lang="en-IN" sz="2400" dirty="0">
                <a:solidFill>
                  <a:schemeClr val="tx1"/>
                </a:solidFill>
              </a:rPr>
              <a:t>Biologically, men and women have different health needs, but lifestyles and socially ascribed roles arising from prevailing social and cultural patterns also play a part in the health picture. </a:t>
            </a:r>
            <a:endParaRPr lang="en-IN" sz="2400" dirty="0" smtClean="0">
              <a:solidFill>
                <a:schemeClr val="tx1"/>
              </a:solidFill>
            </a:endParaRPr>
          </a:p>
          <a:p>
            <a:pPr algn="just"/>
            <a:r>
              <a:rPr lang="en-IN" sz="2400" dirty="0" smtClean="0">
                <a:solidFill>
                  <a:schemeClr val="tx1"/>
                </a:solidFill>
              </a:rPr>
              <a:t>Men </a:t>
            </a:r>
            <a:r>
              <a:rPr lang="en-IN" sz="2400" dirty="0">
                <a:solidFill>
                  <a:schemeClr val="tx1"/>
                </a:solidFill>
              </a:rPr>
              <a:t>are more likely to be the victims of occupational diseases, accidents at work, smoking, alcohol and other forms of substance abuse. </a:t>
            </a:r>
            <a:endParaRPr lang="en-IN" sz="2400" dirty="0" smtClean="0">
              <a:solidFill>
                <a:schemeClr val="tx1"/>
              </a:solidFill>
            </a:endParaRPr>
          </a:p>
          <a:p>
            <a:pPr algn="just"/>
            <a:r>
              <a:rPr lang="en-IN" sz="2400" dirty="0" smtClean="0">
                <a:solidFill>
                  <a:schemeClr val="tx1"/>
                </a:solidFill>
              </a:rPr>
              <a:t>Men</a:t>
            </a:r>
            <a:r>
              <a:rPr lang="en-IN" sz="2400" baseline="30000" dirty="0" smtClean="0">
                <a:solidFill>
                  <a:schemeClr val="tx1"/>
                </a:solidFill>
              </a:rPr>
              <a:t> </a:t>
            </a:r>
            <a:r>
              <a:rPr lang="en-IN" sz="2400" dirty="0" smtClean="0">
                <a:solidFill>
                  <a:schemeClr val="tx1"/>
                </a:solidFill>
              </a:rPr>
              <a:t>have </a:t>
            </a:r>
            <a:r>
              <a:rPr lang="en-IN" sz="2400" dirty="0">
                <a:solidFill>
                  <a:schemeClr val="tx1"/>
                </a:solidFill>
              </a:rPr>
              <a:t>a higher incidence of cancer and of cardiovascular lesions and diseases (the principal cause of male mortality). </a:t>
            </a:r>
            <a:endParaRPr lang="en-IN" sz="2400" dirty="0" smtClean="0">
              <a:solidFill>
                <a:schemeClr val="tx1"/>
              </a:solidFill>
            </a:endParaRPr>
          </a:p>
          <a:p>
            <a:pPr algn="just"/>
            <a:r>
              <a:rPr lang="en-IN" sz="2400" dirty="0" smtClean="0">
                <a:solidFill>
                  <a:schemeClr val="tx1"/>
                </a:solidFill>
              </a:rPr>
              <a:t>Women's </a:t>
            </a:r>
            <a:r>
              <a:rPr lang="en-IN" sz="2400" dirty="0">
                <a:solidFill>
                  <a:schemeClr val="tx1"/>
                </a:solidFill>
              </a:rPr>
              <a:t>health risks, which are mainly linked to reproduction, make them more vulnerable during pregnancy to </a:t>
            </a:r>
            <a:r>
              <a:rPr lang="en-IN" sz="2400" dirty="0" smtClean="0">
                <a:solidFill>
                  <a:schemeClr val="tx1"/>
                </a:solidFill>
              </a:rPr>
              <a:t>anaemia, </a:t>
            </a:r>
            <a:r>
              <a:rPr lang="en-IN" sz="2400" dirty="0">
                <a:solidFill>
                  <a:schemeClr val="tx1"/>
                </a:solidFill>
              </a:rPr>
              <a:t>malnutrition, hepatitis, malaria, diabetes and other illnesses.</a:t>
            </a:r>
            <a:endParaRPr lang="en-IN" sz="3200" dirty="0" smtClean="0">
              <a:solidFill>
                <a:schemeClr val="tx1"/>
              </a:solidFill>
            </a:endParaRPr>
          </a:p>
        </p:txBody>
      </p:sp>
    </p:spTree>
    <p:extLst>
      <p:ext uri="{BB962C8B-B14F-4D97-AF65-F5344CB8AC3E}">
        <p14:creationId xmlns:p14="http://schemas.microsoft.com/office/powerpoint/2010/main" val="9403556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3600" b="1" dirty="0" smtClean="0">
                <a:solidFill>
                  <a:schemeClr val="tx1"/>
                </a:solidFill>
              </a:rPr>
              <a:t>Education</a:t>
            </a:r>
          </a:p>
          <a:p>
            <a:pPr algn="just"/>
            <a:r>
              <a:rPr lang="en-IN" dirty="0">
                <a:solidFill>
                  <a:schemeClr val="tx1"/>
                </a:solidFill>
              </a:rPr>
              <a:t>The increasingly competitive labour market demands ever-higher levels of education. People without it are at a growing disadvantage</a:t>
            </a:r>
            <a:r>
              <a:rPr lang="en-IN" dirty="0" smtClean="0">
                <a:solidFill>
                  <a:schemeClr val="tx1"/>
                </a:solidFill>
              </a:rPr>
              <a:t>.</a:t>
            </a:r>
          </a:p>
          <a:p>
            <a:pPr algn="just"/>
            <a:r>
              <a:rPr lang="en-IN" dirty="0" smtClean="0">
                <a:solidFill>
                  <a:schemeClr val="tx1"/>
                </a:solidFill>
              </a:rPr>
              <a:t>At </a:t>
            </a:r>
            <a:r>
              <a:rPr lang="en-IN" dirty="0">
                <a:solidFill>
                  <a:schemeClr val="tx1"/>
                </a:solidFill>
              </a:rPr>
              <a:t>the same time, there is broad consensus that education can, in times of change, move marginalized, excluded people into the mainstream. </a:t>
            </a:r>
            <a:endParaRPr lang="en-IN" dirty="0" smtClean="0">
              <a:solidFill>
                <a:schemeClr val="tx1"/>
              </a:solidFill>
            </a:endParaRPr>
          </a:p>
          <a:p>
            <a:pPr algn="just"/>
            <a:r>
              <a:rPr lang="en-IN" dirty="0" smtClean="0">
                <a:solidFill>
                  <a:schemeClr val="tx1"/>
                </a:solidFill>
              </a:rPr>
              <a:t>Despite </a:t>
            </a:r>
            <a:r>
              <a:rPr lang="en-IN" dirty="0">
                <a:solidFill>
                  <a:schemeClr val="tx1"/>
                </a:solidFill>
              </a:rPr>
              <a:t>this, socio-cultural barriers and prejudices that restrict women's access to education persist in a number of societies.</a:t>
            </a:r>
          </a:p>
          <a:p>
            <a:pPr algn="just"/>
            <a:r>
              <a:rPr lang="en-IN" dirty="0">
                <a:solidFill>
                  <a:schemeClr val="tx1"/>
                </a:solidFill>
              </a:rPr>
              <a:t>More women than men are illiterate; and the lower a country's literacy rate, the wider the gap between the two sexes. </a:t>
            </a:r>
            <a:endParaRPr lang="en-IN" dirty="0" smtClean="0">
              <a:solidFill>
                <a:schemeClr val="tx1"/>
              </a:solidFill>
            </a:endParaRPr>
          </a:p>
          <a:p>
            <a:pPr algn="just"/>
            <a:r>
              <a:rPr lang="en-IN" dirty="0" smtClean="0">
                <a:solidFill>
                  <a:schemeClr val="tx1"/>
                </a:solidFill>
              </a:rPr>
              <a:t>The </a:t>
            </a:r>
            <a:r>
              <a:rPr lang="en-IN" dirty="0">
                <a:solidFill>
                  <a:schemeClr val="tx1"/>
                </a:solidFill>
              </a:rPr>
              <a:t>United Nations Educational, Scientific and Cultural Organization (UNESCO) estimates that 41 percent of women in developing countries are illiterate, compared with 20 percent of men.</a:t>
            </a:r>
          </a:p>
          <a:p>
            <a:pPr marL="0" indent="0" algn="just">
              <a:buNone/>
            </a:pPr>
            <a:endParaRPr lang="en-IN" sz="3600" b="1" dirty="0" smtClean="0">
              <a:solidFill>
                <a:schemeClr val="tx1"/>
              </a:solidFill>
            </a:endParaRPr>
          </a:p>
        </p:txBody>
      </p:sp>
    </p:spTree>
    <p:extLst>
      <p:ext uri="{BB962C8B-B14F-4D97-AF65-F5344CB8AC3E}">
        <p14:creationId xmlns:p14="http://schemas.microsoft.com/office/powerpoint/2010/main" val="14630032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4000" b="1" dirty="0" smtClean="0">
                <a:solidFill>
                  <a:schemeClr val="tx1"/>
                </a:solidFill>
              </a:rPr>
              <a:t>Environment</a:t>
            </a:r>
          </a:p>
          <a:p>
            <a:pPr algn="just"/>
            <a:r>
              <a:rPr lang="en-IN" sz="2400" dirty="0">
                <a:solidFill>
                  <a:schemeClr val="tx1"/>
                </a:solidFill>
              </a:rPr>
              <a:t>The impact of environmental degradation is gender-differentiated in terms of workloads and the quality of life; women are the first to be affected by the depletion of natural resources. </a:t>
            </a:r>
            <a:endParaRPr lang="en-IN" sz="2400" dirty="0" smtClean="0">
              <a:solidFill>
                <a:schemeClr val="tx1"/>
              </a:solidFill>
            </a:endParaRPr>
          </a:p>
          <a:p>
            <a:pPr algn="just"/>
            <a:r>
              <a:rPr lang="en-IN" sz="2400" dirty="0" smtClean="0">
                <a:solidFill>
                  <a:schemeClr val="tx1"/>
                </a:solidFill>
              </a:rPr>
              <a:t>In </a:t>
            </a:r>
            <a:r>
              <a:rPr lang="en-IN" sz="2400" dirty="0">
                <a:solidFill>
                  <a:schemeClr val="tx1"/>
                </a:solidFill>
              </a:rPr>
              <a:t>rural areas in most developing countries, women are responsible for the daily management and use of natural resources, as well as providing for the family by raising food crops, gathering forest products and fetching wood and water. </a:t>
            </a:r>
            <a:endParaRPr lang="en-IN" sz="2400" dirty="0" smtClean="0">
              <a:solidFill>
                <a:schemeClr val="tx1"/>
              </a:solidFill>
            </a:endParaRPr>
          </a:p>
          <a:p>
            <a:pPr algn="just"/>
            <a:r>
              <a:rPr lang="en-IN" sz="2400" dirty="0" smtClean="0">
                <a:solidFill>
                  <a:schemeClr val="tx1"/>
                </a:solidFill>
              </a:rPr>
              <a:t>Widespread </a:t>
            </a:r>
            <a:r>
              <a:rPr lang="en-IN" sz="2400" dirty="0">
                <a:solidFill>
                  <a:schemeClr val="tx1"/>
                </a:solidFill>
              </a:rPr>
              <a:t>and growing deforestation and the drying-up of water sources force women to range ever further afield, spending more time and energy in producing and finding essential commodities and making it even harder for them to engage in more productive, more lucrative activities.</a:t>
            </a:r>
            <a:endParaRPr lang="en-IN" sz="4000" b="1" dirty="0" smtClean="0">
              <a:solidFill>
                <a:schemeClr val="tx1"/>
              </a:solidFill>
            </a:endParaRPr>
          </a:p>
          <a:p>
            <a:pPr marL="0" indent="0" algn="just">
              <a:buNone/>
            </a:pPr>
            <a:endParaRPr lang="en-IN" sz="4000" b="1" dirty="0" smtClean="0">
              <a:solidFill>
                <a:schemeClr val="tx1"/>
              </a:solidFill>
            </a:endParaRPr>
          </a:p>
        </p:txBody>
      </p:sp>
    </p:spTree>
    <p:extLst>
      <p:ext uri="{BB962C8B-B14F-4D97-AF65-F5344CB8AC3E}">
        <p14:creationId xmlns:p14="http://schemas.microsoft.com/office/powerpoint/2010/main" val="15334745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269434"/>
          </a:xfrm>
        </p:spPr>
        <p:txBody>
          <a:bodyPr>
            <a:normAutofit fontScale="90000"/>
          </a:bodyPr>
          <a:lstStyle/>
          <a:p>
            <a:r>
              <a:rPr lang="en-IN" dirty="0" smtClean="0"/>
              <a:t>UNDERSTANDING GENDER AS A SOCIAL CATEGORY</a:t>
            </a:r>
            <a:endParaRPr lang="en-IN" dirty="0"/>
          </a:p>
        </p:txBody>
      </p:sp>
      <p:sp>
        <p:nvSpPr>
          <p:cNvPr id="3" name="Content Placeholder 2"/>
          <p:cNvSpPr>
            <a:spLocks noGrp="1"/>
          </p:cNvSpPr>
          <p:nvPr>
            <p:ph idx="1"/>
          </p:nvPr>
        </p:nvSpPr>
        <p:spPr>
          <a:xfrm>
            <a:off x="1251678" y="1651819"/>
            <a:ext cx="10178322" cy="4729317"/>
          </a:xfrm>
        </p:spPr>
        <p:txBody>
          <a:bodyPr>
            <a:noAutofit/>
          </a:bodyPr>
          <a:lstStyle/>
          <a:p>
            <a:pPr marL="0" indent="0" algn="just">
              <a:buNone/>
            </a:pPr>
            <a:r>
              <a:rPr lang="en-IN" sz="4400" b="1" dirty="0" smtClean="0">
                <a:solidFill>
                  <a:schemeClr val="tx1"/>
                </a:solidFill>
              </a:rPr>
              <a:t>Policy making</a:t>
            </a:r>
          </a:p>
          <a:p>
            <a:pPr algn="just"/>
            <a:r>
              <a:rPr lang="en-IN" sz="2400" dirty="0">
                <a:solidFill>
                  <a:schemeClr val="tx1"/>
                </a:solidFill>
              </a:rPr>
              <a:t>Gender inequality is a persistent feature of the public and policy-making spheres. </a:t>
            </a:r>
            <a:endParaRPr lang="en-IN" sz="2400" dirty="0" smtClean="0">
              <a:solidFill>
                <a:schemeClr val="tx1"/>
              </a:solidFill>
            </a:endParaRPr>
          </a:p>
          <a:p>
            <a:pPr algn="just"/>
            <a:r>
              <a:rPr lang="en-IN" sz="2400" dirty="0" smtClean="0">
                <a:solidFill>
                  <a:schemeClr val="tx1"/>
                </a:solidFill>
              </a:rPr>
              <a:t>Women </a:t>
            </a:r>
            <a:r>
              <a:rPr lang="en-IN" sz="2400" dirty="0">
                <a:solidFill>
                  <a:schemeClr val="tx1"/>
                </a:solidFill>
              </a:rPr>
              <a:t>continue to be under-represented in governments, legislative bodies and many other crucial sectors affecting public opinion, such as the mass media, the arts, religion and culture. </a:t>
            </a:r>
            <a:endParaRPr lang="en-IN" sz="2400" dirty="0" smtClean="0">
              <a:solidFill>
                <a:schemeClr val="tx1"/>
              </a:solidFill>
            </a:endParaRPr>
          </a:p>
          <a:p>
            <a:pPr algn="just"/>
            <a:r>
              <a:rPr lang="en-IN" sz="2400" dirty="0" smtClean="0">
                <a:solidFill>
                  <a:schemeClr val="tx1"/>
                </a:solidFill>
              </a:rPr>
              <a:t>Worldwide</a:t>
            </a:r>
            <a:r>
              <a:rPr lang="en-IN" sz="2400" dirty="0">
                <a:solidFill>
                  <a:schemeClr val="tx1"/>
                </a:solidFill>
              </a:rPr>
              <a:t>, there are only 16 countries in which more than 15 percent of ministerial posts are held by women, and in 59 countries there are no women ministers at </a:t>
            </a:r>
            <a:r>
              <a:rPr lang="en-IN" sz="2400" dirty="0" smtClean="0">
                <a:solidFill>
                  <a:schemeClr val="tx1"/>
                </a:solidFill>
              </a:rPr>
              <a:t>all.</a:t>
            </a:r>
            <a:endParaRPr lang="en-IN" sz="2400" baseline="30000" dirty="0" smtClean="0">
              <a:solidFill>
                <a:schemeClr val="tx1"/>
              </a:solidFill>
            </a:endParaRPr>
          </a:p>
          <a:p>
            <a:pPr algn="just"/>
            <a:r>
              <a:rPr lang="en-IN" sz="2400" baseline="30000" dirty="0">
                <a:solidFill>
                  <a:schemeClr val="tx1"/>
                </a:solidFill>
              </a:rPr>
              <a:t> </a:t>
            </a:r>
            <a:r>
              <a:rPr lang="en-IN" sz="2400" dirty="0">
                <a:solidFill>
                  <a:schemeClr val="tx1"/>
                </a:solidFill>
              </a:rPr>
              <a:t>Although women have the right to vote in nearly every country in the world, there are very few women in </a:t>
            </a:r>
            <a:r>
              <a:rPr lang="en-IN" sz="2400" dirty="0" smtClean="0">
                <a:solidFill>
                  <a:schemeClr val="tx1"/>
                </a:solidFill>
              </a:rPr>
              <a:t>government.</a:t>
            </a:r>
            <a:endParaRPr lang="en-IN" sz="4400" b="1" dirty="0" smtClean="0">
              <a:solidFill>
                <a:schemeClr val="tx1"/>
              </a:solidFill>
            </a:endParaRPr>
          </a:p>
        </p:txBody>
      </p:sp>
    </p:spTree>
    <p:extLst>
      <p:ext uri="{BB962C8B-B14F-4D97-AF65-F5344CB8AC3E}">
        <p14:creationId xmlns:p14="http://schemas.microsoft.com/office/powerpoint/2010/main" val="3509278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981201"/>
            <a:ext cx="10178322" cy="4675238"/>
          </a:xfrm>
        </p:spPr>
        <p:txBody>
          <a:bodyPr>
            <a:noAutofit/>
          </a:bodyPr>
          <a:lstStyle/>
          <a:p>
            <a:r>
              <a:rPr lang="en-IN" sz="2800" dirty="0">
                <a:solidFill>
                  <a:schemeClr val="tx1"/>
                </a:solidFill>
              </a:rPr>
              <a:t>1848: </a:t>
            </a:r>
            <a:r>
              <a:rPr lang="en-IN" sz="2800" b="1" dirty="0" err="1" smtClean="0">
                <a:solidFill>
                  <a:schemeClr val="tx1"/>
                </a:solidFill>
              </a:rPr>
              <a:t>Savitribai</a:t>
            </a:r>
            <a:r>
              <a:rPr lang="en-IN" sz="2800" b="1" dirty="0" smtClean="0">
                <a:solidFill>
                  <a:schemeClr val="tx1"/>
                </a:solidFill>
              </a:rPr>
              <a:t> </a:t>
            </a:r>
            <a:r>
              <a:rPr lang="en-IN" sz="2800" b="1" dirty="0" err="1" smtClean="0">
                <a:solidFill>
                  <a:schemeClr val="tx1"/>
                </a:solidFill>
              </a:rPr>
              <a:t>Phule</a:t>
            </a:r>
            <a:r>
              <a:rPr lang="en-IN" sz="2800" dirty="0" smtClean="0">
                <a:solidFill>
                  <a:schemeClr val="tx1"/>
                </a:solidFill>
              </a:rPr>
              <a:t>, </a:t>
            </a:r>
            <a:r>
              <a:rPr lang="en-IN" sz="2800" dirty="0">
                <a:solidFill>
                  <a:schemeClr val="tx1"/>
                </a:solidFill>
              </a:rPr>
              <a:t>along with her </a:t>
            </a:r>
            <a:r>
              <a:rPr lang="en-IN" sz="2800" dirty="0" smtClean="0">
                <a:solidFill>
                  <a:schemeClr val="tx1"/>
                </a:solidFill>
              </a:rPr>
              <a:t>husband </a:t>
            </a:r>
            <a:r>
              <a:rPr lang="en-IN" sz="2800" b="1" dirty="0" err="1" smtClean="0">
                <a:solidFill>
                  <a:schemeClr val="tx1"/>
                </a:solidFill>
              </a:rPr>
              <a:t>Jyotirao</a:t>
            </a:r>
            <a:r>
              <a:rPr lang="en-IN" sz="2800" b="1" dirty="0" smtClean="0">
                <a:solidFill>
                  <a:schemeClr val="tx1"/>
                </a:solidFill>
              </a:rPr>
              <a:t> </a:t>
            </a:r>
            <a:r>
              <a:rPr lang="en-IN" sz="2800" b="1" dirty="0" err="1" smtClean="0">
                <a:solidFill>
                  <a:schemeClr val="tx1"/>
                </a:solidFill>
              </a:rPr>
              <a:t>Phule</a:t>
            </a:r>
            <a:r>
              <a:rPr lang="en-IN" sz="2800" dirty="0" smtClean="0">
                <a:solidFill>
                  <a:schemeClr val="tx1"/>
                </a:solidFill>
              </a:rPr>
              <a:t>, </a:t>
            </a:r>
            <a:r>
              <a:rPr lang="en-IN" sz="2800" dirty="0">
                <a:solidFill>
                  <a:schemeClr val="tx1"/>
                </a:solidFill>
              </a:rPr>
              <a:t>opened a school for girls in Pune, India. </a:t>
            </a:r>
            <a:r>
              <a:rPr lang="en-IN" sz="2800" b="1" dirty="0" err="1">
                <a:solidFill>
                  <a:schemeClr val="tx1"/>
                </a:solidFill>
              </a:rPr>
              <a:t>Savitribai</a:t>
            </a:r>
            <a:r>
              <a:rPr lang="en-IN" sz="2800" b="1" dirty="0">
                <a:solidFill>
                  <a:schemeClr val="tx1"/>
                </a:solidFill>
              </a:rPr>
              <a:t> </a:t>
            </a:r>
            <a:r>
              <a:rPr lang="en-IN" sz="2800" b="1" dirty="0" err="1">
                <a:solidFill>
                  <a:schemeClr val="tx1"/>
                </a:solidFill>
              </a:rPr>
              <a:t>Phule</a:t>
            </a:r>
            <a:r>
              <a:rPr lang="en-IN" sz="2800" b="1" dirty="0">
                <a:solidFill>
                  <a:schemeClr val="tx1"/>
                </a:solidFill>
              </a:rPr>
              <a:t> </a:t>
            </a:r>
            <a:r>
              <a:rPr lang="en-IN" sz="2800" dirty="0">
                <a:solidFill>
                  <a:schemeClr val="tx1"/>
                </a:solidFill>
              </a:rPr>
              <a:t>became the first woman teacher in India.</a:t>
            </a:r>
          </a:p>
          <a:p>
            <a:r>
              <a:rPr lang="en-IN" sz="2800" dirty="0">
                <a:solidFill>
                  <a:schemeClr val="tx1"/>
                </a:solidFill>
              </a:rPr>
              <a:t>1879: </a:t>
            </a:r>
            <a:r>
              <a:rPr lang="en-IN" sz="2800" b="1" dirty="0">
                <a:solidFill>
                  <a:schemeClr val="tx1"/>
                </a:solidFill>
              </a:rPr>
              <a:t>John Elliot </a:t>
            </a:r>
            <a:r>
              <a:rPr lang="en-IN" sz="2800" b="1" dirty="0" smtClean="0">
                <a:solidFill>
                  <a:schemeClr val="tx1"/>
                </a:solidFill>
              </a:rPr>
              <a:t>Bethune</a:t>
            </a:r>
            <a:r>
              <a:rPr lang="en-IN" sz="2800" dirty="0">
                <a:solidFill>
                  <a:schemeClr val="tx1"/>
                </a:solidFill>
              </a:rPr>
              <a:t> established the Bethune School in 1849, which developed into the Bethune College in 1879, thus becoming the first women's college in India.</a:t>
            </a:r>
          </a:p>
          <a:p>
            <a:r>
              <a:rPr lang="en-IN" sz="2800" dirty="0">
                <a:solidFill>
                  <a:schemeClr val="tx1"/>
                </a:solidFill>
              </a:rPr>
              <a:t>1883: </a:t>
            </a:r>
            <a:r>
              <a:rPr lang="en-IN" sz="2800" b="1" dirty="0" err="1" smtClean="0">
                <a:solidFill>
                  <a:schemeClr val="tx1"/>
                </a:solidFill>
              </a:rPr>
              <a:t>Chandramukhi</a:t>
            </a:r>
            <a:r>
              <a:rPr lang="en-IN" sz="2800" b="1" dirty="0" smtClean="0">
                <a:solidFill>
                  <a:schemeClr val="tx1"/>
                </a:solidFill>
              </a:rPr>
              <a:t> </a:t>
            </a:r>
            <a:r>
              <a:rPr lang="en-IN" sz="2800" b="1" dirty="0" err="1" smtClean="0">
                <a:solidFill>
                  <a:schemeClr val="tx1"/>
                </a:solidFill>
              </a:rPr>
              <a:t>Basu</a:t>
            </a:r>
            <a:r>
              <a:rPr lang="en-IN" sz="2800" dirty="0">
                <a:solidFill>
                  <a:schemeClr val="tx1"/>
                </a:solidFill>
              </a:rPr>
              <a:t> and </a:t>
            </a:r>
            <a:r>
              <a:rPr lang="en-IN" sz="2800" b="1" dirty="0" err="1">
                <a:solidFill>
                  <a:schemeClr val="tx1"/>
                </a:solidFill>
              </a:rPr>
              <a:t>Kadambini</a:t>
            </a:r>
            <a:r>
              <a:rPr lang="en-IN" sz="2800" b="1" dirty="0">
                <a:solidFill>
                  <a:schemeClr val="tx1"/>
                </a:solidFill>
              </a:rPr>
              <a:t> </a:t>
            </a:r>
            <a:r>
              <a:rPr lang="en-IN" sz="2800" b="1" dirty="0" err="1">
                <a:solidFill>
                  <a:schemeClr val="tx1"/>
                </a:solidFill>
              </a:rPr>
              <a:t>Ganguly</a:t>
            </a:r>
            <a:r>
              <a:rPr lang="en-IN" sz="2800" b="1" dirty="0">
                <a:solidFill>
                  <a:schemeClr val="tx1"/>
                </a:solidFill>
              </a:rPr>
              <a:t> </a:t>
            </a:r>
            <a:r>
              <a:rPr lang="en-IN" sz="2800" dirty="0">
                <a:solidFill>
                  <a:schemeClr val="tx1"/>
                </a:solidFill>
              </a:rPr>
              <a:t>became the first female graduates of India and the British Empire.</a:t>
            </a:r>
          </a:p>
          <a:p>
            <a:endParaRPr lang="en-IN" sz="2800" dirty="0">
              <a:solidFill>
                <a:schemeClr val="tx1"/>
              </a:solidFill>
            </a:endParaRPr>
          </a:p>
        </p:txBody>
      </p:sp>
    </p:spTree>
    <p:extLst>
      <p:ext uri="{BB962C8B-B14F-4D97-AF65-F5344CB8AC3E}">
        <p14:creationId xmlns:p14="http://schemas.microsoft.com/office/powerpoint/2010/main" val="10718373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981201"/>
            <a:ext cx="10178322" cy="4675238"/>
          </a:xfrm>
        </p:spPr>
        <p:txBody>
          <a:bodyPr>
            <a:noAutofit/>
          </a:bodyPr>
          <a:lstStyle/>
          <a:p>
            <a:pPr algn="just"/>
            <a:r>
              <a:rPr lang="en-IN" sz="2800" dirty="0" smtClean="0">
                <a:solidFill>
                  <a:schemeClr val="tx1"/>
                </a:solidFill>
              </a:rPr>
              <a:t>1886</a:t>
            </a:r>
            <a:r>
              <a:rPr lang="en-IN" sz="2800" dirty="0">
                <a:solidFill>
                  <a:schemeClr val="tx1"/>
                </a:solidFill>
              </a:rPr>
              <a:t>:  </a:t>
            </a:r>
            <a:r>
              <a:rPr lang="en-IN" sz="2800" b="1" dirty="0" err="1">
                <a:solidFill>
                  <a:schemeClr val="tx1"/>
                </a:solidFill>
              </a:rPr>
              <a:t>Kadambini</a:t>
            </a:r>
            <a:r>
              <a:rPr lang="en-IN" sz="2800" b="1" dirty="0">
                <a:solidFill>
                  <a:schemeClr val="tx1"/>
                </a:solidFill>
              </a:rPr>
              <a:t> </a:t>
            </a:r>
            <a:r>
              <a:rPr lang="en-IN" sz="2800" b="1" dirty="0" err="1">
                <a:solidFill>
                  <a:schemeClr val="tx1"/>
                </a:solidFill>
              </a:rPr>
              <a:t>Ganguly</a:t>
            </a:r>
            <a:r>
              <a:rPr lang="en-IN" sz="2800" b="1" dirty="0">
                <a:solidFill>
                  <a:schemeClr val="tx1"/>
                </a:solidFill>
              </a:rPr>
              <a:t> </a:t>
            </a:r>
            <a:r>
              <a:rPr lang="en-IN" sz="2800" dirty="0">
                <a:solidFill>
                  <a:schemeClr val="tx1"/>
                </a:solidFill>
              </a:rPr>
              <a:t> and </a:t>
            </a:r>
            <a:r>
              <a:rPr lang="en-IN" sz="2800" b="1" dirty="0" err="1">
                <a:solidFill>
                  <a:schemeClr val="tx1"/>
                </a:solidFill>
              </a:rPr>
              <a:t>Anandi</a:t>
            </a:r>
            <a:r>
              <a:rPr lang="en-IN" sz="2800" b="1" dirty="0">
                <a:solidFill>
                  <a:schemeClr val="tx1"/>
                </a:solidFill>
              </a:rPr>
              <a:t> Gopal Joshi</a:t>
            </a:r>
            <a:r>
              <a:rPr lang="en-IN" sz="2800" dirty="0">
                <a:solidFill>
                  <a:schemeClr val="tx1"/>
                </a:solidFill>
              </a:rPr>
              <a:t> became the first women from India to be trained in Western medicine.</a:t>
            </a:r>
          </a:p>
          <a:p>
            <a:pPr algn="just"/>
            <a:r>
              <a:rPr lang="en-IN" sz="2800" dirty="0">
                <a:solidFill>
                  <a:schemeClr val="tx1"/>
                </a:solidFill>
              </a:rPr>
              <a:t>1898: Sister </a:t>
            </a:r>
            <a:r>
              <a:rPr lang="en-IN" sz="2800" dirty="0" err="1">
                <a:solidFill>
                  <a:schemeClr val="tx1"/>
                </a:solidFill>
              </a:rPr>
              <a:t>Nivedita</a:t>
            </a:r>
            <a:r>
              <a:rPr lang="en-IN" sz="2800" dirty="0">
                <a:solidFill>
                  <a:schemeClr val="tx1"/>
                </a:solidFill>
              </a:rPr>
              <a:t> Girls' School was </a:t>
            </a:r>
            <a:r>
              <a:rPr lang="en-IN" sz="2800" dirty="0" smtClean="0">
                <a:solidFill>
                  <a:schemeClr val="tx1"/>
                </a:solidFill>
              </a:rPr>
              <a:t>inaugurated.</a:t>
            </a:r>
            <a:endParaRPr lang="en-IN" sz="2800" dirty="0">
              <a:solidFill>
                <a:schemeClr val="tx1"/>
              </a:solidFill>
            </a:endParaRPr>
          </a:p>
          <a:p>
            <a:pPr algn="just"/>
            <a:r>
              <a:rPr lang="en-IN" sz="2800" dirty="0">
                <a:solidFill>
                  <a:schemeClr val="tx1"/>
                </a:solidFill>
              </a:rPr>
              <a:t>1905: </a:t>
            </a:r>
            <a:r>
              <a:rPr lang="en-IN" sz="2800" b="1" dirty="0">
                <a:solidFill>
                  <a:schemeClr val="tx1"/>
                </a:solidFill>
              </a:rPr>
              <a:t>Suzanne RD Tata</a:t>
            </a:r>
            <a:r>
              <a:rPr lang="en-IN" sz="2800" dirty="0">
                <a:solidFill>
                  <a:schemeClr val="tx1"/>
                </a:solidFill>
              </a:rPr>
              <a:t> becomes the first Indian woman to drive a car</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1916: The first women's university, SNDT Women's University, was founded on 2 June 1916 by the social reformer </a:t>
            </a:r>
            <a:r>
              <a:rPr lang="en-IN" sz="2800" b="1" dirty="0" err="1" smtClean="0">
                <a:solidFill>
                  <a:schemeClr val="tx1"/>
                </a:solidFill>
              </a:rPr>
              <a:t>Dhondo</a:t>
            </a:r>
            <a:r>
              <a:rPr lang="en-IN" sz="2800" b="1" dirty="0" smtClean="0">
                <a:solidFill>
                  <a:schemeClr val="tx1"/>
                </a:solidFill>
              </a:rPr>
              <a:t> </a:t>
            </a:r>
            <a:r>
              <a:rPr lang="en-IN" sz="2800" b="1" dirty="0" err="1" smtClean="0">
                <a:solidFill>
                  <a:schemeClr val="tx1"/>
                </a:solidFill>
              </a:rPr>
              <a:t>Keshav</a:t>
            </a:r>
            <a:r>
              <a:rPr lang="en-IN" sz="2800" b="1" dirty="0" smtClean="0">
                <a:solidFill>
                  <a:schemeClr val="tx1"/>
                </a:solidFill>
              </a:rPr>
              <a:t> </a:t>
            </a:r>
            <a:r>
              <a:rPr lang="en-IN" sz="2800" b="1" dirty="0" err="1" smtClean="0">
                <a:solidFill>
                  <a:schemeClr val="tx1"/>
                </a:solidFill>
              </a:rPr>
              <a:t>Karve</a:t>
            </a:r>
            <a:r>
              <a:rPr lang="en-IN" sz="2800" b="1" dirty="0">
                <a:solidFill>
                  <a:schemeClr val="tx1"/>
                </a:solidFill>
              </a:rPr>
              <a:t> </a:t>
            </a:r>
            <a:r>
              <a:rPr lang="en-IN" sz="2800" dirty="0">
                <a:solidFill>
                  <a:schemeClr val="tx1"/>
                </a:solidFill>
              </a:rPr>
              <a:t>with just five students.</a:t>
            </a:r>
          </a:p>
          <a:p>
            <a:pPr algn="just"/>
            <a:endParaRPr lang="en-IN" sz="2800" dirty="0">
              <a:solidFill>
                <a:schemeClr val="tx1"/>
              </a:solidFill>
            </a:endParaRPr>
          </a:p>
        </p:txBody>
      </p:sp>
    </p:spTree>
    <p:extLst>
      <p:ext uri="{BB962C8B-B14F-4D97-AF65-F5344CB8AC3E}">
        <p14:creationId xmlns:p14="http://schemas.microsoft.com/office/powerpoint/2010/main" val="21177134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880244"/>
          </a:xfrm>
        </p:spPr>
        <p:txBody>
          <a:bodyPr>
            <a:noAutofit/>
          </a:bodyPr>
          <a:lstStyle/>
          <a:p>
            <a:pPr algn="just"/>
            <a:r>
              <a:rPr lang="en-IN" sz="2800" dirty="0">
                <a:solidFill>
                  <a:schemeClr val="tx1"/>
                </a:solidFill>
              </a:rPr>
              <a:t>1917: </a:t>
            </a:r>
            <a:r>
              <a:rPr lang="en-IN" sz="2800" b="1" dirty="0">
                <a:solidFill>
                  <a:schemeClr val="tx1"/>
                </a:solidFill>
              </a:rPr>
              <a:t>Annie Besant</a:t>
            </a:r>
            <a:r>
              <a:rPr lang="en-IN" sz="2800" dirty="0">
                <a:solidFill>
                  <a:schemeClr val="tx1"/>
                </a:solidFill>
              </a:rPr>
              <a:t> became the first female president of the Indian National Congress.</a:t>
            </a:r>
          </a:p>
          <a:p>
            <a:pPr algn="just"/>
            <a:r>
              <a:rPr lang="en-IN" sz="2800" dirty="0">
                <a:solidFill>
                  <a:schemeClr val="tx1"/>
                </a:solidFill>
              </a:rPr>
              <a:t>1919: For her distinguished social service, </a:t>
            </a:r>
            <a:r>
              <a:rPr lang="en-IN" sz="2800" b="1" dirty="0" err="1" smtClean="0">
                <a:solidFill>
                  <a:schemeClr val="tx1"/>
                </a:solidFill>
              </a:rPr>
              <a:t>Pandita</a:t>
            </a:r>
            <a:r>
              <a:rPr lang="en-IN" sz="2800" b="1" dirty="0" smtClean="0">
                <a:solidFill>
                  <a:schemeClr val="tx1"/>
                </a:solidFill>
              </a:rPr>
              <a:t> </a:t>
            </a:r>
            <a:r>
              <a:rPr lang="en-IN" sz="2800" b="1" dirty="0" err="1" smtClean="0">
                <a:solidFill>
                  <a:schemeClr val="tx1"/>
                </a:solidFill>
              </a:rPr>
              <a:t>Ramabai</a:t>
            </a:r>
            <a:r>
              <a:rPr lang="en-IN" sz="2800" dirty="0">
                <a:solidFill>
                  <a:schemeClr val="tx1"/>
                </a:solidFill>
              </a:rPr>
              <a:t> became the first Indian woman to be awarded </a:t>
            </a:r>
            <a:r>
              <a:rPr lang="en-IN" sz="2800" dirty="0" smtClean="0">
                <a:solidFill>
                  <a:schemeClr val="tx1"/>
                </a:solidFill>
              </a:rPr>
              <a:t>the </a:t>
            </a:r>
            <a:r>
              <a:rPr lang="en-IN" sz="2800" dirty="0" err="1" smtClean="0">
                <a:solidFill>
                  <a:schemeClr val="tx1"/>
                </a:solidFill>
              </a:rPr>
              <a:t>Kaisar</a:t>
            </a:r>
            <a:r>
              <a:rPr lang="en-IN" sz="2800" dirty="0" smtClean="0">
                <a:solidFill>
                  <a:schemeClr val="tx1"/>
                </a:solidFill>
              </a:rPr>
              <a:t>-</a:t>
            </a:r>
            <a:r>
              <a:rPr lang="en-IN" sz="2800" dirty="0" err="1" smtClean="0">
                <a:solidFill>
                  <a:schemeClr val="tx1"/>
                </a:solidFill>
              </a:rPr>
              <a:t>i</a:t>
            </a:r>
            <a:r>
              <a:rPr lang="en-IN" sz="2800" dirty="0" smtClean="0">
                <a:solidFill>
                  <a:schemeClr val="tx1"/>
                </a:solidFill>
              </a:rPr>
              <a:t>-Hind Medal</a:t>
            </a:r>
            <a:r>
              <a:rPr lang="en-IN" sz="2800" dirty="0">
                <a:solidFill>
                  <a:schemeClr val="tx1"/>
                </a:solidFill>
              </a:rPr>
              <a:t> by the British Raj.</a:t>
            </a:r>
          </a:p>
          <a:p>
            <a:pPr algn="just"/>
            <a:r>
              <a:rPr lang="en-IN" sz="2800" dirty="0">
                <a:solidFill>
                  <a:schemeClr val="tx1"/>
                </a:solidFill>
              </a:rPr>
              <a:t>1925: </a:t>
            </a:r>
            <a:r>
              <a:rPr lang="en-IN" sz="2800" b="1" dirty="0" err="1" smtClean="0">
                <a:solidFill>
                  <a:schemeClr val="tx1"/>
                </a:solidFill>
              </a:rPr>
              <a:t>Sarojini</a:t>
            </a:r>
            <a:r>
              <a:rPr lang="en-IN" sz="2800" b="1" dirty="0" smtClean="0">
                <a:solidFill>
                  <a:schemeClr val="tx1"/>
                </a:solidFill>
              </a:rPr>
              <a:t> Naidu</a:t>
            </a:r>
            <a:r>
              <a:rPr lang="en-IN" sz="2800" dirty="0">
                <a:solidFill>
                  <a:schemeClr val="tx1"/>
                </a:solidFill>
              </a:rPr>
              <a:t> became the first Indian born female president of the Indian National Congress.</a:t>
            </a:r>
          </a:p>
          <a:p>
            <a:pPr algn="just"/>
            <a:r>
              <a:rPr lang="en-IN" sz="2800" dirty="0">
                <a:solidFill>
                  <a:schemeClr val="tx1"/>
                </a:solidFill>
              </a:rPr>
              <a:t>1927: The All India Women's Conference was founded.</a:t>
            </a:r>
          </a:p>
          <a:p>
            <a:pPr marL="0" indent="0" algn="just">
              <a:buNone/>
            </a:pPr>
            <a:endParaRPr lang="en-IN" sz="2400" dirty="0">
              <a:solidFill>
                <a:schemeClr val="tx1"/>
              </a:solidFill>
            </a:endParaRPr>
          </a:p>
        </p:txBody>
      </p:sp>
    </p:spTree>
    <p:extLst>
      <p:ext uri="{BB962C8B-B14F-4D97-AF65-F5344CB8AC3E}">
        <p14:creationId xmlns:p14="http://schemas.microsoft.com/office/powerpoint/2010/main" val="18147826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880244"/>
          </a:xfrm>
        </p:spPr>
        <p:txBody>
          <a:bodyPr>
            <a:noAutofit/>
          </a:bodyPr>
          <a:lstStyle/>
          <a:p>
            <a:pPr algn="just"/>
            <a:r>
              <a:rPr lang="en-IN" sz="2800" dirty="0" smtClean="0">
                <a:solidFill>
                  <a:schemeClr val="tx1"/>
                </a:solidFill>
              </a:rPr>
              <a:t>1936</a:t>
            </a:r>
            <a:r>
              <a:rPr lang="en-IN" sz="2800" dirty="0">
                <a:solidFill>
                  <a:schemeClr val="tx1"/>
                </a:solidFill>
              </a:rPr>
              <a:t>: </a:t>
            </a:r>
            <a:r>
              <a:rPr lang="en-IN" sz="2800" b="1" dirty="0" err="1" smtClean="0">
                <a:solidFill>
                  <a:schemeClr val="tx1"/>
                </a:solidFill>
              </a:rPr>
              <a:t>Sarla</a:t>
            </a:r>
            <a:r>
              <a:rPr lang="en-IN" sz="2800" b="1" dirty="0" smtClean="0">
                <a:solidFill>
                  <a:schemeClr val="tx1"/>
                </a:solidFill>
              </a:rPr>
              <a:t> </a:t>
            </a:r>
            <a:r>
              <a:rPr lang="en-IN" sz="2800" b="1" dirty="0" err="1" smtClean="0">
                <a:solidFill>
                  <a:schemeClr val="tx1"/>
                </a:solidFill>
              </a:rPr>
              <a:t>Thakral</a:t>
            </a:r>
            <a:r>
              <a:rPr lang="en-IN" sz="2800" dirty="0">
                <a:solidFill>
                  <a:schemeClr val="tx1"/>
                </a:solidFill>
              </a:rPr>
              <a:t> became the first Indian woman to fly an aircraft</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1944: </a:t>
            </a:r>
            <a:r>
              <a:rPr lang="en-IN" sz="2800" b="1" dirty="0" err="1" smtClean="0">
                <a:solidFill>
                  <a:schemeClr val="tx1"/>
                </a:solidFill>
              </a:rPr>
              <a:t>Asima</a:t>
            </a:r>
            <a:r>
              <a:rPr lang="en-IN" sz="2800" b="1" dirty="0" smtClean="0">
                <a:solidFill>
                  <a:schemeClr val="tx1"/>
                </a:solidFill>
              </a:rPr>
              <a:t> Chatterjee</a:t>
            </a:r>
            <a:r>
              <a:rPr lang="en-IN" sz="2800" dirty="0">
                <a:solidFill>
                  <a:schemeClr val="tx1"/>
                </a:solidFill>
              </a:rPr>
              <a:t> became the first Indian woman to be conferred the Doctorate of Science by an Indian university.</a:t>
            </a:r>
          </a:p>
          <a:p>
            <a:pPr algn="just"/>
            <a:r>
              <a:rPr lang="en-IN" sz="2800" dirty="0">
                <a:solidFill>
                  <a:schemeClr val="tx1"/>
                </a:solidFill>
              </a:rPr>
              <a:t>1947: On 15 August 1947, following independence, </a:t>
            </a:r>
            <a:r>
              <a:rPr lang="en-IN" sz="2800" b="1" dirty="0" err="1">
                <a:solidFill>
                  <a:schemeClr val="tx1"/>
                </a:solidFill>
              </a:rPr>
              <a:t>Sarojini</a:t>
            </a:r>
            <a:r>
              <a:rPr lang="en-IN" sz="2800" b="1" dirty="0">
                <a:solidFill>
                  <a:schemeClr val="tx1"/>
                </a:solidFill>
              </a:rPr>
              <a:t> Naidu </a:t>
            </a:r>
            <a:r>
              <a:rPr lang="en-IN" sz="2800" dirty="0">
                <a:solidFill>
                  <a:schemeClr val="tx1"/>
                </a:solidFill>
              </a:rPr>
              <a:t>became the governor of the United Provinces, and in the process became India's first woman governor. On the same day, </a:t>
            </a:r>
            <a:r>
              <a:rPr lang="en-IN" sz="2800" dirty="0" smtClean="0">
                <a:solidFill>
                  <a:schemeClr val="tx1"/>
                </a:solidFill>
              </a:rPr>
              <a:t> </a:t>
            </a:r>
            <a:r>
              <a:rPr lang="en-IN" sz="2800" b="1" dirty="0" err="1" smtClean="0">
                <a:solidFill>
                  <a:schemeClr val="tx1"/>
                </a:solidFill>
              </a:rPr>
              <a:t>Amrit</a:t>
            </a:r>
            <a:r>
              <a:rPr lang="en-IN" sz="2800" b="1" dirty="0" smtClean="0">
                <a:solidFill>
                  <a:schemeClr val="tx1"/>
                </a:solidFill>
              </a:rPr>
              <a:t> Kaur</a:t>
            </a:r>
            <a:r>
              <a:rPr lang="en-IN" sz="2800" dirty="0">
                <a:solidFill>
                  <a:schemeClr val="tx1"/>
                </a:solidFill>
              </a:rPr>
              <a:t> assumed office as the first female Cabinet minister of India in the country's first cabinet.</a:t>
            </a:r>
          </a:p>
          <a:p>
            <a:pPr algn="just"/>
            <a:endParaRPr lang="en-IN" sz="2400" dirty="0">
              <a:solidFill>
                <a:schemeClr val="tx1"/>
              </a:solidFill>
            </a:endParaRPr>
          </a:p>
        </p:txBody>
      </p:sp>
    </p:spTree>
    <p:extLst>
      <p:ext uri="{BB962C8B-B14F-4D97-AF65-F5344CB8AC3E}">
        <p14:creationId xmlns:p14="http://schemas.microsoft.com/office/powerpoint/2010/main" val="8367029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5067057"/>
          </a:xfrm>
        </p:spPr>
        <p:txBody>
          <a:bodyPr>
            <a:noAutofit/>
          </a:bodyPr>
          <a:lstStyle/>
          <a:p>
            <a:pPr algn="just"/>
            <a:r>
              <a:rPr lang="en-IN" sz="2800" dirty="0">
                <a:solidFill>
                  <a:schemeClr val="tx1"/>
                </a:solidFill>
              </a:rPr>
              <a:t>1951: </a:t>
            </a:r>
            <a:r>
              <a:rPr lang="en-IN" sz="2800" b="1" smtClean="0">
                <a:solidFill>
                  <a:schemeClr val="tx1"/>
                </a:solidFill>
              </a:rPr>
              <a:t>Prema </a:t>
            </a:r>
            <a:r>
              <a:rPr lang="en-IN" sz="2800" b="1" dirty="0" err="1">
                <a:solidFill>
                  <a:schemeClr val="tx1"/>
                </a:solidFill>
              </a:rPr>
              <a:t>Mathur</a:t>
            </a:r>
            <a:r>
              <a:rPr lang="en-IN" sz="2800" b="1" dirty="0">
                <a:solidFill>
                  <a:schemeClr val="tx1"/>
                </a:solidFill>
              </a:rPr>
              <a:t> </a:t>
            </a:r>
            <a:r>
              <a:rPr lang="en-IN" sz="2800" dirty="0">
                <a:solidFill>
                  <a:schemeClr val="tx1"/>
                </a:solidFill>
              </a:rPr>
              <a:t>of the Deccan Airways becomes the first Indian woman commercial pilot.</a:t>
            </a:r>
          </a:p>
          <a:p>
            <a:pPr algn="just"/>
            <a:r>
              <a:rPr lang="en-IN" sz="2800" dirty="0">
                <a:solidFill>
                  <a:schemeClr val="tx1"/>
                </a:solidFill>
              </a:rPr>
              <a:t>1953: </a:t>
            </a:r>
            <a:r>
              <a:rPr lang="en-IN" sz="2800" b="1" dirty="0" err="1" smtClean="0">
                <a:solidFill>
                  <a:schemeClr val="tx1"/>
                </a:solidFill>
              </a:rPr>
              <a:t>Vijaya</a:t>
            </a:r>
            <a:r>
              <a:rPr lang="en-IN" sz="2800" b="1" dirty="0" smtClean="0">
                <a:solidFill>
                  <a:schemeClr val="tx1"/>
                </a:solidFill>
              </a:rPr>
              <a:t> Lakshmi </a:t>
            </a:r>
            <a:r>
              <a:rPr lang="en-IN" sz="2800" b="1" dirty="0" err="1" smtClean="0">
                <a:solidFill>
                  <a:schemeClr val="tx1"/>
                </a:solidFill>
              </a:rPr>
              <a:t>Pandit</a:t>
            </a:r>
            <a:r>
              <a:rPr lang="en-IN" sz="2800" dirty="0">
                <a:solidFill>
                  <a:schemeClr val="tx1"/>
                </a:solidFill>
              </a:rPr>
              <a:t> became the first woman (and first Indian) president of the United Nations General Assembly</a:t>
            </a:r>
          </a:p>
          <a:p>
            <a:pPr algn="just"/>
            <a:r>
              <a:rPr lang="en-IN" sz="2800" dirty="0">
                <a:solidFill>
                  <a:schemeClr val="tx1"/>
                </a:solidFill>
              </a:rPr>
              <a:t>1959: </a:t>
            </a:r>
            <a:r>
              <a:rPr lang="en-IN" sz="2800" b="1" dirty="0">
                <a:solidFill>
                  <a:schemeClr val="tx1"/>
                </a:solidFill>
              </a:rPr>
              <a:t>Anna </a:t>
            </a:r>
            <a:r>
              <a:rPr lang="en-IN" sz="2800" b="1" dirty="0" err="1">
                <a:solidFill>
                  <a:schemeClr val="tx1"/>
                </a:solidFill>
              </a:rPr>
              <a:t>Chandy</a:t>
            </a:r>
            <a:r>
              <a:rPr lang="en-IN" sz="2800" dirty="0">
                <a:solidFill>
                  <a:schemeClr val="tx1"/>
                </a:solidFill>
              </a:rPr>
              <a:t> becomes the first Indian woman judge of a High Court (Kerala High Court</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1963: </a:t>
            </a:r>
            <a:r>
              <a:rPr lang="en-IN" sz="2800" b="1" dirty="0" err="1" smtClean="0">
                <a:solidFill>
                  <a:schemeClr val="tx1"/>
                </a:solidFill>
              </a:rPr>
              <a:t>Sucheta</a:t>
            </a:r>
            <a:r>
              <a:rPr lang="en-IN" sz="2800" b="1" dirty="0" smtClean="0">
                <a:solidFill>
                  <a:schemeClr val="tx1"/>
                </a:solidFill>
              </a:rPr>
              <a:t> </a:t>
            </a:r>
            <a:r>
              <a:rPr lang="en-IN" sz="2800" b="1" dirty="0" err="1" smtClean="0">
                <a:solidFill>
                  <a:schemeClr val="tx1"/>
                </a:solidFill>
              </a:rPr>
              <a:t>Kriplani</a:t>
            </a:r>
            <a:r>
              <a:rPr lang="en-IN" sz="2800" dirty="0">
                <a:solidFill>
                  <a:schemeClr val="tx1"/>
                </a:solidFill>
              </a:rPr>
              <a:t> became the Chief Minister of Uttar Pradesh, the first woman to hold that position in any Indian state.</a:t>
            </a:r>
          </a:p>
          <a:p>
            <a:pPr marL="0" indent="0" algn="just">
              <a:buNone/>
            </a:pPr>
            <a:endParaRPr lang="en-IN" sz="2400" dirty="0">
              <a:solidFill>
                <a:schemeClr val="tx1"/>
              </a:solidFill>
            </a:endParaRPr>
          </a:p>
        </p:txBody>
      </p:sp>
    </p:spTree>
    <p:extLst>
      <p:ext uri="{BB962C8B-B14F-4D97-AF65-F5344CB8AC3E}">
        <p14:creationId xmlns:p14="http://schemas.microsoft.com/office/powerpoint/2010/main" val="24601574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5067057"/>
          </a:xfrm>
        </p:spPr>
        <p:txBody>
          <a:bodyPr>
            <a:noAutofit/>
          </a:bodyPr>
          <a:lstStyle/>
          <a:p>
            <a:pPr algn="just"/>
            <a:r>
              <a:rPr lang="en-IN" sz="2800" dirty="0" smtClean="0">
                <a:solidFill>
                  <a:schemeClr val="tx1"/>
                </a:solidFill>
              </a:rPr>
              <a:t>1966</a:t>
            </a:r>
            <a:r>
              <a:rPr lang="en-IN" sz="2800" dirty="0">
                <a:solidFill>
                  <a:schemeClr val="tx1"/>
                </a:solidFill>
              </a:rPr>
              <a:t>: </a:t>
            </a:r>
            <a:r>
              <a:rPr lang="en-IN" sz="2800" b="1" dirty="0">
                <a:solidFill>
                  <a:schemeClr val="tx1"/>
                </a:solidFill>
              </a:rPr>
              <a:t>Captain </a:t>
            </a:r>
            <a:r>
              <a:rPr lang="en-IN" sz="2800" b="1" dirty="0" err="1">
                <a:solidFill>
                  <a:schemeClr val="tx1"/>
                </a:solidFill>
              </a:rPr>
              <a:t>Durga</a:t>
            </a:r>
            <a:r>
              <a:rPr lang="en-IN" sz="2800" b="1" dirty="0">
                <a:solidFill>
                  <a:schemeClr val="tx1"/>
                </a:solidFill>
              </a:rPr>
              <a:t> Banerjee </a:t>
            </a:r>
            <a:r>
              <a:rPr lang="en-IN" sz="2800" dirty="0">
                <a:solidFill>
                  <a:schemeClr val="tx1"/>
                </a:solidFill>
              </a:rPr>
              <a:t>becomes the first Indian woman pilot of the state airline, Indian Airlines.</a:t>
            </a:r>
          </a:p>
          <a:p>
            <a:pPr algn="just"/>
            <a:r>
              <a:rPr lang="en-IN" sz="2800" dirty="0">
                <a:solidFill>
                  <a:schemeClr val="tx1"/>
                </a:solidFill>
              </a:rPr>
              <a:t>1966: </a:t>
            </a:r>
            <a:r>
              <a:rPr lang="en-IN" sz="2800" b="1" dirty="0" err="1" smtClean="0">
                <a:solidFill>
                  <a:schemeClr val="tx1"/>
                </a:solidFill>
              </a:rPr>
              <a:t>Kamaladevi</a:t>
            </a:r>
            <a:r>
              <a:rPr lang="en-IN" sz="2800" b="1" dirty="0" smtClean="0">
                <a:solidFill>
                  <a:schemeClr val="tx1"/>
                </a:solidFill>
              </a:rPr>
              <a:t> Chattopadhyay</a:t>
            </a:r>
            <a:r>
              <a:rPr lang="en-IN" sz="2800" dirty="0">
                <a:solidFill>
                  <a:schemeClr val="tx1"/>
                </a:solidFill>
              </a:rPr>
              <a:t> wins Ramon Magsaysay award for community leadership.</a:t>
            </a:r>
          </a:p>
          <a:p>
            <a:pPr algn="just"/>
            <a:r>
              <a:rPr lang="en-IN" sz="2800" dirty="0">
                <a:solidFill>
                  <a:schemeClr val="tx1"/>
                </a:solidFill>
              </a:rPr>
              <a:t>1966: </a:t>
            </a:r>
            <a:r>
              <a:rPr lang="en-IN" sz="2800" b="1" dirty="0">
                <a:solidFill>
                  <a:schemeClr val="tx1"/>
                </a:solidFill>
              </a:rPr>
              <a:t>Indira Gandhi</a:t>
            </a:r>
            <a:r>
              <a:rPr lang="en-IN" sz="2800" dirty="0">
                <a:solidFill>
                  <a:schemeClr val="tx1"/>
                </a:solidFill>
              </a:rPr>
              <a:t> becomes the first woman Prime Minister of India</a:t>
            </a:r>
          </a:p>
          <a:p>
            <a:pPr algn="just"/>
            <a:r>
              <a:rPr lang="en-IN" sz="2800" dirty="0">
                <a:solidFill>
                  <a:schemeClr val="tx1"/>
                </a:solidFill>
              </a:rPr>
              <a:t>1970: </a:t>
            </a:r>
            <a:r>
              <a:rPr lang="en-IN" sz="2800" b="1" dirty="0" err="1" smtClean="0">
                <a:solidFill>
                  <a:schemeClr val="tx1"/>
                </a:solidFill>
              </a:rPr>
              <a:t>Kamaljit</a:t>
            </a:r>
            <a:r>
              <a:rPr lang="en-IN" sz="2800" b="1" dirty="0" smtClean="0">
                <a:solidFill>
                  <a:schemeClr val="tx1"/>
                </a:solidFill>
              </a:rPr>
              <a:t> Sandhu</a:t>
            </a:r>
            <a:r>
              <a:rPr lang="en-IN" sz="2800" dirty="0">
                <a:solidFill>
                  <a:schemeClr val="tx1"/>
                </a:solidFill>
              </a:rPr>
              <a:t> becomes the first Indian woman to win a Gold in the Asian Games</a:t>
            </a:r>
          </a:p>
          <a:p>
            <a:pPr algn="just"/>
            <a:r>
              <a:rPr lang="en-IN" sz="2800" dirty="0">
                <a:solidFill>
                  <a:schemeClr val="tx1"/>
                </a:solidFill>
              </a:rPr>
              <a:t>1972: </a:t>
            </a:r>
            <a:r>
              <a:rPr lang="en-IN" sz="2800" b="1" dirty="0">
                <a:solidFill>
                  <a:schemeClr val="tx1"/>
                </a:solidFill>
              </a:rPr>
              <a:t>Kiran </a:t>
            </a:r>
            <a:r>
              <a:rPr lang="en-IN" sz="2800" b="1" dirty="0" err="1">
                <a:solidFill>
                  <a:schemeClr val="tx1"/>
                </a:solidFill>
              </a:rPr>
              <a:t>Bedi</a:t>
            </a:r>
            <a:r>
              <a:rPr lang="en-IN" sz="2800" dirty="0">
                <a:solidFill>
                  <a:schemeClr val="tx1"/>
                </a:solidFill>
              </a:rPr>
              <a:t> becomes the first female recruit to join the Indian Police Service</a:t>
            </a:r>
          </a:p>
          <a:p>
            <a:pPr algn="just"/>
            <a:endParaRPr lang="en-IN" sz="2400" dirty="0">
              <a:solidFill>
                <a:schemeClr val="tx1"/>
              </a:solidFill>
            </a:endParaRPr>
          </a:p>
        </p:txBody>
      </p:sp>
    </p:spTree>
    <p:extLst>
      <p:ext uri="{BB962C8B-B14F-4D97-AF65-F5344CB8AC3E}">
        <p14:creationId xmlns:p14="http://schemas.microsoft.com/office/powerpoint/2010/main" val="20279419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840915"/>
          </a:xfrm>
        </p:spPr>
        <p:txBody>
          <a:bodyPr>
            <a:noAutofit/>
          </a:bodyPr>
          <a:lstStyle/>
          <a:p>
            <a:pPr algn="just"/>
            <a:r>
              <a:rPr lang="en-IN" sz="2800" dirty="0">
                <a:solidFill>
                  <a:schemeClr val="tx1"/>
                </a:solidFill>
              </a:rPr>
              <a:t>1978: </a:t>
            </a:r>
            <a:r>
              <a:rPr lang="en-IN" sz="2800" b="1" dirty="0">
                <a:solidFill>
                  <a:schemeClr val="tx1"/>
                </a:solidFill>
              </a:rPr>
              <a:t>Sheila Sri Prakash</a:t>
            </a:r>
            <a:r>
              <a:rPr lang="en-IN" sz="2800" dirty="0">
                <a:solidFill>
                  <a:schemeClr val="tx1"/>
                </a:solidFill>
              </a:rPr>
              <a:t> becomes the first female entrepreneur to independently start an architecture firm</a:t>
            </a:r>
          </a:p>
          <a:p>
            <a:pPr algn="just"/>
            <a:r>
              <a:rPr lang="en-IN" sz="2800" dirty="0">
                <a:solidFill>
                  <a:schemeClr val="tx1"/>
                </a:solidFill>
              </a:rPr>
              <a:t>1979: </a:t>
            </a:r>
            <a:r>
              <a:rPr lang="en-IN" sz="2800" b="1" dirty="0">
                <a:solidFill>
                  <a:schemeClr val="tx1"/>
                </a:solidFill>
              </a:rPr>
              <a:t>Mother Teresa </a:t>
            </a:r>
            <a:r>
              <a:rPr lang="en-IN" sz="2800" dirty="0">
                <a:solidFill>
                  <a:schemeClr val="tx1"/>
                </a:solidFill>
              </a:rPr>
              <a:t>wins the Nobel Peace Prize, becoming the first Indian female citizen to do so.</a:t>
            </a:r>
          </a:p>
          <a:p>
            <a:pPr algn="just"/>
            <a:r>
              <a:rPr lang="en-IN" sz="2800" dirty="0">
                <a:solidFill>
                  <a:schemeClr val="tx1"/>
                </a:solidFill>
              </a:rPr>
              <a:t>1984: On 23 May, </a:t>
            </a:r>
            <a:r>
              <a:rPr lang="en-IN" sz="2800" b="1" dirty="0" err="1" smtClean="0">
                <a:solidFill>
                  <a:schemeClr val="tx1"/>
                </a:solidFill>
              </a:rPr>
              <a:t>Bachendri</a:t>
            </a:r>
            <a:r>
              <a:rPr lang="en-IN" sz="2800" b="1" dirty="0" smtClean="0">
                <a:solidFill>
                  <a:schemeClr val="tx1"/>
                </a:solidFill>
              </a:rPr>
              <a:t> Pal</a:t>
            </a:r>
            <a:r>
              <a:rPr lang="en-IN" sz="2800" dirty="0">
                <a:solidFill>
                  <a:schemeClr val="tx1"/>
                </a:solidFill>
              </a:rPr>
              <a:t> became the first Indian woman to climb Mount Everest.</a:t>
            </a:r>
          </a:p>
          <a:p>
            <a:pPr algn="just"/>
            <a:r>
              <a:rPr lang="en-IN" sz="2800" dirty="0">
                <a:solidFill>
                  <a:schemeClr val="tx1"/>
                </a:solidFill>
              </a:rPr>
              <a:t>1986: </a:t>
            </a:r>
            <a:r>
              <a:rPr lang="en-IN" sz="2800" b="1" dirty="0" err="1" smtClean="0">
                <a:solidFill>
                  <a:schemeClr val="tx1"/>
                </a:solidFill>
              </a:rPr>
              <a:t>Surekha</a:t>
            </a:r>
            <a:r>
              <a:rPr lang="en-IN" sz="2800" b="1" dirty="0" smtClean="0">
                <a:solidFill>
                  <a:schemeClr val="tx1"/>
                </a:solidFill>
              </a:rPr>
              <a:t> Yadav</a:t>
            </a:r>
            <a:r>
              <a:rPr lang="en-IN" sz="2800" dirty="0">
                <a:solidFill>
                  <a:schemeClr val="tx1"/>
                </a:solidFill>
              </a:rPr>
              <a:t> became the first Asian woman loco-pilot or railway driver.</a:t>
            </a:r>
          </a:p>
          <a:p>
            <a:pPr algn="just"/>
            <a:endParaRPr lang="en-IN" sz="2400" dirty="0">
              <a:solidFill>
                <a:schemeClr val="tx1"/>
              </a:solidFill>
            </a:endParaRPr>
          </a:p>
        </p:txBody>
      </p:sp>
    </p:spTree>
    <p:extLst>
      <p:ext uri="{BB962C8B-B14F-4D97-AF65-F5344CB8AC3E}">
        <p14:creationId xmlns:p14="http://schemas.microsoft.com/office/powerpoint/2010/main" val="30733314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840915"/>
          </a:xfrm>
        </p:spPr>
        <p:txBody>
          <a:bodyPr>
            <a:noAutofit/>
          </a:bodyPr>
          <a:lstStyle/>
          <a:p>
            <a:pPr algn="just"/>
            <a:r>
              <a:rPr lang="en-IN" sz="2800" dirty="0" smtClean="0">
                <a:solidFill>
                  <a:schemeClr val="tx1"/>
                </a:solidFill>
              </a:rPr>
              <a:t>1989</a:t>
            </a:r>
            <a:r>
              <a:rPr lang="en-IN" sz="2800" dirty="0">
                <a:solidFill>
                  <a:schemeClr val="tx1"/>
                </a:solidFill>
              </a:rPr>
              <a:t>: </a:t>
            </a:r>
            <a:r>
              <a:rPr lang="en-IN" sz="2800" b="1" dirty="0">
                <a:solidFill>
                  <a:schemeClr val="tx1"/>
                </a:solidFill>
              </a:rPr>
              <a:t>Justice M. </a:t>
            </a:r>
            <a:r>
              <a:rPr lang="en-IN" sz="2800" b="1" dirty="0" err="1">
                <a:solidFill>
                  <a:schemeClr val="tx1"/>
                </a:solidFill>
              </a:rPr>
              <a:t>Fathima</a:t>
            </a:r>
            <a:r>
              <a:rPr lang="en-IN" sz="2800" b="1" dirty="0">
                <a:solidFill>
                  <a:schemeClr val="tx1"/>
                </a:solidFill>
              </a:rPr>
              <a:t> </a:t>
            </a:r>
            <a:r>
              <a:rPr lang="en-IN" sz="2800" b="1" dirty="0" err="1">
                <a:solidFill>
                  <a:schemeClr val="tx1"/>
                </a:solidFill>
              </a:rPr>
              <a:t>Beevi</a:t>
            </a:r>
            <a:r>
              <a:rPr lang="en-IN" sz="2800" dirty="0">
                <a:solidFill>
                  <a:schemeClr val="tx1"/>
                </a:solidFill>
              </a:rPr>
              <a:t> becomes the first woman judge of the Supreme Court of India</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1991: </a:t>
            </a:r>
            <a:r>
              <a:rPr lang="en-IN" sz="2800" b="1" dirty="0" err="1" smtClean="0">
                <a:solidFill>
                  <a:schemeClr val="tx1"/>
                </a:solidFill>
              </a:rPr>
              <a:t>Mumtaz</a:t>
            </a:r>
            <a:r>
              <a:rPr lang="en-IN" sz="2800" b="1" dirty="0" smtClean="0">
                <a:solidFill>
                  <a:schemeClr val="tx1"/>
                </a:solidFill>
              </a:rPr>
              <a:t> M. </a:t>
            </a:r>
            <a:r>
              <a:rPr lang="en-IN" sz="2800" b="1" dirty="0" err="1" smtClean="0">
                <a:solidFill>
                  <a:schemeClr val="tx1"/>
                </a:solidFill>
              </a:rPr>
              <a:t>Kazi</a:t>
            </a:r>
            <a:r>
              <a:rPr lang="en-IN" sz="2800" dirty="0">
                <a:solidFill>
                  <a:schemeClr val="tx1"/>
                </a:solidFill>
              </a:rPr>
              <a:t> became the first Asian woman to drive a diesel locomotive in September</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1992: </a:t>
            </a:r>
            <a:r>
              <a:rPr lang="en-IN" sz="2800" b="1" dirty="0">
                <a:solidFill>
                  <a:schemeClr val="tx1"/>
                </a:solidFill>
              </a:rPr>
              <a:t>Asha Sinha</a:t>
            </a:r>
            <a:r>
              <a:rPr lang="en-IN" sz="2800" dirty="0">
                <a:solidFill>
                  <a:schemeClr val="tx1"/>
                </a:solidFill>
              </a:rPr>
              <a:t> becomes the First Woman Commandant in the Paramilitary forces of India when she was appointed Commandant, Central Industrial Security Force in </a:t>
            </a:r>
            <a:r>
              <a:rPr lang="en-IN" sz="2800" dirty="0" err="1" smtClean="0">
                <a:solidFill>
                  <a:schemeClr val="tx1"/>
                </a:solidFill>
              </a:rPr>
              <a:t>Mazagon</a:t>
            </a:r>
            <a:r>
              <a:rPr lang="en-IN" sz="2800" dirty="0" smtClean="0">
                <a:solidFill>
                  <a:schemeClr val="tx1"/>
                </a:solidFill>
              </a:rPr>
              <a:t> Dock Shipbuilders Limited.</a:t>
            </a:r>
            <a:endParaRPr lang="en-IN" sz="2800" dirty="0">
              <a:solidFill>
                <a:schemeClr val="tx1"/>
              </a:solidFill>
            </a:endParaRPr>
          </a:p>
          <a:p>
            <a:pPr algn="just"/>
            <a:endParaRPr lang="en-IN" sz="2400" dirty="0">
              <a:solidFill>
                <a:schemeClr val="tx1"/>
              </a:solidFill>
            </a:endParaRPr>
          </a:p>
        </p:txBody>
      </p:sp>
    </p:spTree>
    <p:extLst>
      <p:ext uri="{BB962C8B-B14F-4D97-AF65-F5344CB8AC3E}">
        <p14:creationId xmlns:p14="http://schemas.microsoft.com/office/powerpoint/2010/main" val="40007080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722928"/>
          </a:xfrm>
        </p:spPr>
        <p:txBody>
          <a:bodyPr>
            <a:noAutofit/>
          </a:bodyPr>
          <a:lstStyle/>
          <a:p>
            <a:pPr algn="just"/>
            <a:r>
              <a:rPr lang="en-IN" sz="2800" dirty="0">
                <a:solidFill>
                  <a:schemeClr val="tx1"/>
                </a:solidFill>
              </a:rPr>
              <a:t>1992: </a:t>
            </a:r>
            <a:r>
              <a:rPr lang="en-IN" sz="2800" b="1" dirty="0" err="1" smtClean="0">
                <a:solidFill>
                  <a:schemeClr val="tx1"/>
                </a:solidFill>
              </a:rPr>
              <a:t>Priya</a:t>
            </a:r>
            <a:r>
              <a:rPr lang="en-IN" sz="2800" b="1" dirty="0" smtClean="0">
                <a:solidFill>
                  <a:schemeClr val="tx1"/>
                </a:solidFill>
              </a:rPr>
              <a:t> </a:t>
            </a:r>
            <a:r>
              <a:rPr lang="en-IN" sz="2800" b="1" dirty="0" err="1" smtClean="0">
                <a:solidFill>
                  <a:schemeClr val="tx1"/>
                </a:solidFill>
              </a:rPr>
              <a:t>Jhingan</a:t>
            </a:r>
            <a:r>
              <a:rPr lang="en-IN" sz="2800" dirty="0">
                <a:solidFill>
                  <a:schemeClr val="tx1"/>
                </a:solidFill>
              </a:rPr>
              <a:t> becomes the first lady cadet to join the Indian Army (later commissioned on 6 March 1993</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1999: On 31 October, </a:t>
            </a:r>
            <a:r>
              <a:rPr lang="en-IN" sz="2800" b="1" dirty="0">
                <a:solidFill>
                  <a:schemeClr val="tx1"/>
                </a:solidFill>
              </a:rPr>
              <a:t>Sonia Gandhi</a:t>
            </a:r>
            <a:r>
              <a:rPr lang="en-IN" sz="2800" dirty="0">
                <a:solidFill>
                  <a:schemeClr val="tx1"/>
                </a:solidFill>
              </a:rPr>
              <a:t> became the first female Leader of the Opposition (India</a:t>
            </a:r>
            <a:r>
              <a:rPr lang="en-IN" sz="2800" dirty="0" smtClean="0">
                <a:solidFill>
                  <a:schemeClr val="tx1"/>
                </a:solidFill>
              </a:rPr>
              <a:t>).The </a:t>
            </a:r>
            <a:r>
              <a:rPr lang="en-IN" sz="2800" dirty="0">
                <a:solidFill>
                  <a:schemeClr val="tx1"/>
                </a:solidFill>
              </a:rPr>
              <a:t>first Indian woman to win an Olympic Medal, </a:t>
            </a:r>
            <a:r>
              <a:rPr lang="en-IN" sz="2800" b="1" dirty="0" err="1" smtClean="0">
                <a:solidFill>
                  <a:schemeClr val="tx1"/>
                </a:solidFill>
              </a:rPr>
              <a:t>Karnam</a:t>
            </a:r>
            <a:r>
              <a:rPr lang="en-IN" sz="2800" b="1" dirty="0" smtClean="0">
                <a:solidFill>
                  <a:schemeClr val="tx1"/>
                </a:solidFill>
              </a:rPr>
              <a:t> </a:t>
            </a:r>
            <a:r>
              <a:rPr lang="en-IN" sz="2800" b="1" dirty="0" err="1" smtClean="0">
                <a:solidFill>
                  <a:schemeClr val="tx1"/>
                </a:solidFill>
              </a:rPr>
              <a:t>Malleswari</a:t>
            </a:r>
            <a:r>
              <a:rPr lang="en-IN" sz="2800" dirty="0" smtClean="0">
                <a:solidFill>
                  <a:schemeClr val="tx1"/>
                </a:solidFill>
              </a:rPr>
              <a:t>, </a:t>
            </a:r>
            <a:r>
              <a:rPr lang="en-IN" sz="2800" dirty="0">
                <a:solidFill>
                  <a:schemeClr val="tx1"/>
                </a:solidFill>
              </a:rPr>
              <a:t>a bronze medal at the Sydney Olympics in the 69 kg weight category in Weightlifting event.</a:t>
            </a:r>
          </a:p>
          <a:p>
            <a:pPr algn="just"/>
            <a:r>
              <a:rPr lang="en-IN" sz="2800" dirty="0">
                <a:solidFill>
                  <a:schemeClr val="tx1"/>
                </a:solidFill>
              </a:rPr>
              <a:t>2007: On 25 July, </a:t>
            </a:r>
            <a:r>
              <a:rPr lang="en-IN" sz="2800" b="1" dirty="0" err="1" smtClean="0">
                <a:solidFill>
                  <a:schemeClr val="tx1"/>
                </a:solidFill>
              </a:rPr>
              <a:t>Pratibha</a:t>
            </a:r>
            <a:r>
              <a:rPr lang="en-IN" sz="2800" b="1" dirty="0" smtClean="0">
                <a:solidFill>
                  <a:schemeClr val="tx1"/>
                </a:solidFill>
              </a:rPr>
              <a:t> </a:t>
            </a:r>
            <a:r>
              <a:rPr lang="en-IN" sz="2800" b="1" dirty="0" err="1" smtClean="0">
                <a:solidFill>
                  <a:schemeClr val="tx1"/>
                </a:solidFill>
              </a:rPr>
              <a:t>Patil</a:t>
            </a:r>
            <a:r>
              <a:rPr lang="en-IN" sz="2800" dirty="0">
                <a:solidFill>
                  <a:schemeClr val="tx1"/>
                </a:solidFill>
              </a:rPr>
              <a:t> became the first female President of India.</a:t>
            </a:r>
          </a:p>
          <a:p>
            <a:pPr algn="just"/>
            <a:endParaRPr lang="en-IN" sz="2400" dirty="0">
              <a:solidFill>
                <a:schemeClr val="tx1"/>
              </a:solidFill>
            </a:endParaRPr>
          </a:p>
        </p:txBody>
      </p:sp>
    </p:spTree>
    <p:extLst>
      <p:ext uri="{BB962C8B-B14F-4D97-AF65-F5344CB8AC3E}">
        <p14:creationId xmlns:p14="http://schemas.microsoft.com/office/powerpoint/2010/main" val="5330685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722928"/>
          </a:xfrm>
        </p:spPr>
        <p:txBody>
          <a:bodyPr>
            <a:noAutofit/>
          </a:bodyPr>
          <a:lstStyle/>
          <a:p>
            <a:pPr algn="just"/>
            <a:r>
              <a:rPr lang="en-IN" sz="3200" dirty="0" smtClean="0">
                <a:solidFill>
                  <a:schemeClr val="tx1"/>
                </a:solidFill>
              </a:rPr>
              <a:t>2009</a:t>
            </a:r>
            <a:r>
              <a:rPr lang="en-IN" sz="3200" dirty="0">
                <a:solidFill>
                  <a:schemeClr val="tx1"/>
                </a:solidFill>
              </a:rPr>
              <a:t>: On 4 June, </a:t>
            </a:r>
            <a:r>
              <a:rPr lang="en-IN" sz="3200" b="1" dirty="0" err="1" smtClean="0">
                <a:solidFill>
                  <a:schemeClr val="tx1"/>
                </a:solidFill>
              </a:rPr>
              <a:t>Meira</a:t>
            </a:r>
            <a:r>
              <a:rPr lang="en-IN" sz="3200" b="1" dirty="0" smtClean="0">
                <a:solidFill>
                  <a:schemeClr val="tx1"/>
                </a:solidFill>
              </a:rPr>
              <a:t> Kumar</a:t>
            </a:r>
            <a:r>
              <a:rPr lang="en-IN" sz="3200" dirty="0">
                <a:solidFill>
                  <a:schemeClr val="tx1"/>
                </a:solidFill>
              </a:rPr>
              <a:t> became the first female Speaker of </a:t>
            </a:r>
            <a:r>
              <a:rPr lang="en-IN" sz="3200" dirty="0" err="1">
                <a:solidFill>
                  <a:schemeClr val="tx1"/>
                </a:solidFill>
              </a:rPr>
              <a:t>Lok</a:t>
            </a:r>
            <a:r>
              <a:rPr lang="en-IN" sz="3200" dirty="0">
                <a:solidFill>
                  <a:schemeClr val="tx1"/>
                </a:solidFill>
              </a:rPr>
              <a:t> Sabha.</a:t>
            </a:r>
          </a:p>
          <a:p>
            <a:pPr algn="just"/>
            <a:r>
              <a:rPr lang="en-IN" sz="3200" dirty="0">
                <a:solidFill>
                  <a:schemeClr val="tx1"/>
                </a:solidFill>
              </a:rPr>
              <a:t>2011: On 20 October, </a:t>
            </a:r>
            <a:r>
              <a:rPr lang="en-IN" sz="3200" b="1" dirty="0">
                <a:solidFill>
                  <a:schemeClr val="tx1"/>
                </a:solidFill>
              </a:rPr>
              <a:t>Priyanka N</a:t>
            </a:r>
            <a:r>
              <a:rPr lang="en-IN" sz="3200" dirty="0">
                <a:solidFill>
                  <a:schemeClr val="tx1"/>
                </a:solidFill>
              </a:rPr>
              <a:t>. drove the inaugural train of the </a:t>
            </a:r>
            <a:r>
              <a:rPr lang="en-IN" sz="3200" dirty="0" err="1" smtClean="0">
                <a:solidFill>
                  <a:schemeClr val="tx1"/>
                </a:solidFill>
              </a:rPr>
              <a:t>Namma</a:t>
            </a:r>
            <a:r>
              <a:rPr lang="en-IN" sz="3200" dirty="0" smtClean="0">
                <a:solidFill>
                  <a:schemeClr val="tx1"/>
                </a:solidFill>
              </a:rPr>
              <a:t> Metro</a:t>
            </a:r>
            <a:r>
              <a:rPr lang="en-IN" sz="3200" dirty="0">
                <a:solidFill>
                  <a:schemeClr val="tx1"/>
                </a:solidFill>
              </a:rPr>
              <a:t> becoming the first female Indian metro pilot</a:t>
            </a:r>
            <a:r>
              <a:rPr lang="en-IN" sz="3200" dirty="0" smtClean="0">
                <a:solidFill>
                  <a:schemeClr val="tx1"/>
                </a:solidFill>
              </a:rPr>
              <a:t>.</a:t>
            </a:r>
            <a:endParaRPr lang="en-IN" sz="3200" dirty="0">
              <a:solidFill>
                <a:schemeClr val="tx1"/>
              </a:solidFill>
            </a:endParaRPr>
          </a:p>
          <a:p>
            <a:pPr algn="just"/>
            <a:r>
              <a:rPr lang="en-IN" sz="3200" dirty="0">
                <a:solidFill>
                  <a:schemeClr val="tx1"/>
                </a:solidFill>
              </a:rPr>
              <a:t>2011</a:t>
            </a:r>
            <a:r>
              <a:rPr lang="en-IN" sz="3200" dirty="0" smtClean="0">
                <a:solidFill>
                  <a:schemeClr val="tx1"/>
                </a:solidFill>
              </a:rPr>
              <a:t>: </a:t>
            </a:r>
            <a:r>
              <a:rPr lang="en-IN" sz="3200" b="1" dirty="0" err="1" smtClean="0">
                <a:solidFill>
                  <a:schemeClr val="tx1"/>
                </a:solidFill>
              </a:rPr>
              <a:t>Mitali</a:t>
            </a:r>
            <a:r>
              <a:rPr lang="en-IN" sz="3200" b="1" dirty="0" smtClean="0">
                <a:solidFill>
                  <a:schemeClr val="tx1"/>
                </a:solidFill>
              </a:rPr>
              <a:t> </a:t>
            </a:r>
            <a:r>
              <a:rPr lang="en-IN" sz="3200" b="1" dirty="0" err="1">
                <a:solidFill>
                  <a:schemeClr val="tx1"/>
                </a:solidFill>
              </a:rPr>
              <a:t>Madhumita</a:t>
            </a:r>
            <a:r>
              <a:rPr lang="en-IN" sz="3200" dirty="0">
                <a:solidFill>
                  <a:schemeClr val="tx1"/>
                </a:solidFill>
              </a:rPr>
              <a:t> made history by becoming the first woman officer to win a </a:t>
            </a:r>
            <a:r>
              <a:rPr lang="en-IN" sz="3200" dirty="0" err="1">
                <a:solidFill>
                  <a:schemeClr val="tx1"/>
                </a:solidFill>
              </a:rPr>
              <a:t>Sena</a:t>
            </a:r>
            <a:r>
              <a:rPr lang="en-IN" sz="3200" dirty="0">
                <a:solidFill>
                  <a:schemeClr val="tx1"/>
                </a:solidFill>
              </a:rPr>
              <a:t> Medal for gallantry.</a:t>
            </a:r>
          </a:p>
          <a:p>
            <a:pPr algn="just"/>
            <a:endParaRPr lang="en-IN" sz="2800" dirty="0">
              <a:solidFill>
                <a:schemeClr val="tx1"/>
              </a:solidFill>
            </a:endParaRPr>
          </a:p>
        </p:txBody>
      </p:sp>
    </p:spTree>
    <p:extLst>
      <p:ext uri="{BB962C8B-B14F-4D97-AF65-F5344CB8AC3E}">
        <p14:creationId xmlns:p14="http://schemas.microsoft.com/office/powerpoint/2010/main" val="1203103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5597999"/>
          </a:xfrm>
        </p:spPr>
        <p:txBody>
          <a:bodyPr>
            <a:noAutofit/>
          </a:bodyPr>
          <a:lstStyle/>
          <a:p>
            <a:pPr algn="just"/>
            <a:r>
              <a:rPr lang="en-IN" sz="2800" dirty="0">
                <a:solidFill>
                  <a:schemeClr val="tx1"/>
                </a:solidFill>
              </a:rPr>
              <a:t>2014: A record 7 female ministers are appointed in the Modi ministry, of whom 6 hold Cabinet rank, the highest number of female Cabinet ministers in any Indian government in history. Prestigious Ministries such as Defence and External Affairs are being held by Women Ministers</a:t>
            </a:r>
            <a:r>
              <a:rPr lang="en-IN" sz="2800" dirty="0" smtClean="0">
                <a:solidFill>
                  <a:schemeClr val="tx1"/>
                </a:solidFill>
              </a:rPr>
              <a:t>.</a:t>
            </a:r>
            <a:endParaRPr lang="en-IN" sz="2800" dirty="0">
              <a:solidFill>
                <a:schemeClr val="tx1"/>
              </a:solidFill>
            </a:endParaRPr>
          </a:p>
          <a:p>
            <a:pPr algn="just"/>
            <a:r>
              <a:rPr lang="en-IN" sz="2800" dirty="0">
                <a:solidFill>
                  <a:schemeClr val="tx1"/>
                </a:solidFill>
              </a:rPr>
              <a:t>2015: </a:t>
            </a:r>
            <a:r>
              <a:rPr lang="en-IN" sz="2800" b="1" dirty="0" err="1">
                <a:solidFill>
                  <a:schemeClr val="tx1"/>
                </a:solidFill>
              </a:rPr>
              <a:t>Sumita</a:t>
            </a:r>
            <a:r>
              <a:rPr lang="en-IN" sz="2800" b="1" dirty="0">
                <a:solidFill>
                  <a:schemeClr val="tx1"/>
                </a:solidFill>
              </a:rPr>
              <a:t> Bose </a:t>
            </a:r>
            <a:r>
              <a:rPr lang="en-IN" sz="2800" dirty="0">
                <a:solidFill>
                  <a:schemeClr val="tx1"/>
                </a:solidFill>
              </a:rPr>
              <a:t>the first author and first woman to write the autism book in India. </a:t>
            </a:r>
          </a:p>
          <a:p>
            <a:pPr algn="just"/>
            <a:r>
              <a:rPr lang="en-IN" sz="2800" dirty="0">
                <a:solidFill>
                  <a:schemeClr val="tx1"/>
                </a:solidFill>
              </a:rPr>
              <a:t>2016: </a:t>
            </a:r>
            <a:r>
              <a:rPr lang="en-IN" sz="2800" b="1" dirty="0">
                <a:solidFill>
                  <a:schemeClr val="tx1"/>
                </a:solidFill>
              </a:rPr>
              <a:t>J. Jayalalithaa</a:t>
            </a:r>
            <a:r>
              <a:rPr lang="en-IN" sz="2800" dirty="0">
                <a:solidFill>
                  <a:schemeClr val="tx1"/>
                </a:solidFill>
              </a:rPr>
              <a:t>, became the first woman chief minister in India to rule the state consecutively 2 times by winning legislative assembly election.</a:t>
            </a:r>
          </a:p>
          <a:p>
            <a:pPr algn="just"/>
            <a:r>
              <a:rPr lang="en-IN" sz="2800" dirty="0">
                <a:solidFill>
                  <a:schemeClr val="tx1"/>
                </a:solidFill>
              </a:rPr>
              <a:t>2016: J. Jayalalithaa, became the first woman chief minister in India to die in office on 5 December 2016.</a:t>
            </a:r>
          </a:p>
          <a:p>
            <a:pPr algn="just"/>
            <a:endParaRPr lang="en-IN" sz="2400" dirty="0">
              <a:solidFill>
                <a:schemeClr val="tx1"/>
              </a:solidFill>
            </a:endParaRPr>
          </a:p>
        </p:txBody>
      </p:sp>
    </p:spTree>
    <p:extLst>
      <p:ext uri="{BB962C8B-B14F-4D97-AF65-F5344CB8AC3E}">
        <p14:creationId xmlns:p14="http://schemas.microsoft.com/office/powerpoint/2010/main" val="23467684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FEMALE REPRESENTATION IN HISTORICAL TRADITIONS OF INDIA</a:t>
            </a:r>
            <a:endParaRPr lang="en-IN" dirty="0"/>
          </a:p>
        </p:txBody>
      </p:sp>
      <p:sp>
        <p:nvSpPr>
          <p:cNvPr id="4" name="Content Placeholder 3"/>
          <p:cNvSpPr>
            <a:spLocks noGrp="1"/>
          </p:cNvSpPr>
          <p:nvPr>
            <p:ph idx="1"/>
          </p:nvPr>
        </p:nvSpPr>
        <p:spPr>
          <a:xfrm>
            <a:off x="1251678" y="1874517"/>
            <a:ext cx="10178322" cy="4821251"/>
          </a:xfrm>
        </p:spPr>
        <p:txBody>
          <a:bodyPr>
            <a:noAutofit/>
          </a:bodyPr>
          <a:lstStyle/>
          <a:p>
            <a:pPr algn="just"/>
            <a:r>
              <a:rPr lang="en-IN" sz="2400" dirty="0" smtClean="0">
                <a:solidFill>
                  <a:schemeClr val="tx1"/>
                </a:solidFill>
              </a:rPr>
              <a:t>2017</a:t>
            </a:r>
            <a:r>
              <a:rPr lang="en-IN" sz="2400" dirty="0">
                <a:solidFill>
                  <a:schemeClr val="tx1"/>
                </a:solidFill>
              </a:rPr>
              <a:t>: On 25 March, </a:t>
            </a:r>
            <a:r>
              <a:rPr lang="en-IN" sz="2400" b="1" dirty="0" err="1">
                <a:solidFill>
                  <a:schemeClr val="tx1"/>
                </a:solidFill>
              </a:rPr>
              <a:t>Tanushree</a:t>
            </a:r>
            <a:r>
              <a:rPr lang="en-IN" sz="2400" b="1" dirty="0">
                <a:solidFill>
                  <a:schemeClr val="tx1"/>
                </a:solidFill>
              </a:rPr>
              <a:t> </a:t>
            </a:r>
            <a:r>
              <a:rPr lang="en-IN" sz="2400" b="1" dirty="0" err="1">
                <a:solidFill>
                  <a:schemeClr val="tx1"/>
                </a:solidFill>
              </a:rPr>
              <a:t>Pareek</a:t>
            </a:r>
            <a:r>
              <a:rPr lang="en-IN" sz="2400" b="1" dirty="0">
                <a:solidFill>
                  <a:schemeClr val="tx1"/>
                </a:solidFill>
              </a:rPr>
              <a:t> </a:t>
            </a:r>
            <a:r>
              <a:rPr lang="en-IN" sz="2400" dirty="0">
                <a:solidFill>
                  <a:schemeClr val="tx1"/>
                </a:solidFill>
              </a:rPr>
              <a:t>became the first female combat officer commissioned by the Border Security Force</a:t>
            </a:r>
            <a:r>
              <a:rPr lang="en-IN" sz="2400" dirty="0" smtClean="0">
                <a:solidFill>
                  <a:schemeClr val="tx1"/>
                </a:solidFill>
              </a:rPr>
              <a:t>.</a:t>
            </a:r>
            <a:endParaRPr lang="en-IN" sz="2400" dirty="0">
              <a:solidFill>
                <a:schemeClr val="tx1"/>
              </a:solidFill>
            </a:endParaRPr>
          </a:p>
          <a:p>
            <a:pPr algn="just"/>
            <a:r>
              <a:rPr lang="en-IN" sz="2400" dirty="0">
                <a:solidFill>
                  <a:schemeClr val="tx1"/>
                </a:solidFill>
              </a:rPr>
              <a:t>2018: </a:t>
            </a:r>
            <a:r>
              <a:rPr lang="en-IN" sz="2400" dirty="0" smtClean="0">
                <a:solidFill>
                  <a:schemeClr val="tx1"/>
                </a:solidFill>
              </a:rPr>
              <a:t> </a:t>
            </a:r>
            <a:r>
              <a:rPr lang="en-IN" sz="2400" b="1" dirty="0" err="1" smtClean="0">
                <a:solidFill>
                  <a:schemeClr val="tx1"/>
                </a:solidFill>
              </a:rPr>
              <a:t>Archana</a:t>
            </a:r>
            <a:r>
              <a:rPr lang="en-IN" sz="2400" b="1" dirty="0" smtClean="0">
                <a:solidFill>
                  <a:schemeClr val="tx1"/>
                </a:solidFill>
              </a:rPr>
              <a:t> </a:t>
            </a:r>
            <a:r>
              <a:rPr lang="en-IN" sz="2400" b="1" dirty="0" err="1" smtClean="0">
                <a:solidFill>
                  <a:schemeClr val="tx1"/>
                </a:solidFill>
              </a:rPr>
              <a:t>Ramsundaram</a:t>
            </a:r>
            <a:r>
              <a:rPr lang="en-IN" sz="2400" dirty="0">
                <a:solidFill>
                  <a:schemeClr val="tx1"/>
                </a:solidFill>
              </a:rPr>
              <a:t> of 1980 Batch became the first Woman to become the Director General of Police of a Paramilitary Force as DG, </a:t>
            </a:r>
            <a:r>
              <a:rPr lang="en-IN" sz="2400" dirty="0" err="1" smtClean="0">
                <a:solidFill>
                  <a:schemeClr val="tx1"/>
                </a:solidFill>
              </a:rPr>
              <a:t>Sashastra</a:t>
            </a:r>
            <a:r>
              <a:rPr lang="en-IN" sz="2400" dirty="0" smtClean="0">
                <a:solidFill>
                  <a:schemeClr val="tx1"/>
                </a:solidFill>
              </a:rPr>
              <a:t> </a:t>
            </a:r>
            <a:r>
              <a:rPr lang="en-IN" sz="2400" dirty="0" err="1" smtClean="0">
                <a:solidFill>
                  <a:schemeClr val="tx1"/>
                </a:solidFill>
              </a:rPr>
              <a:t>Seema</a:t>
            </a:r>
            <a:r>
              <a:rPr lang="en-IN" sz="2400" dirty="0" smtClean="0">
                <a:solidFill>
                  <a:schemeClr val="tx1"/>
                </a:solidFill>
              </a:rPr>
              <a:t> Bal.</a:t>
            </a:r>
            <a:endParaRPr lang="en-IN" sz="2400" dirty="0">
              <a:solidFill>
                <a:schemeClr val="tx1"/>
              </a:solidFill>
            </a:endParaRPr>
          </a:p>
          <a:p>
            <a:pPr algn="just"/>
            <a:r>
              <a:rPr lang="en-IN" sz="2400" dirty="0">
                <a:solidFill>
                  <a:schemeClr val="tx1"/>
                </a:solidFill>
              </a:rPr>
              <a:t>2018: In February, 24 year old Flying Officer </a:t>
            </a:r>
            <a:r>
              <a:rPr lang="en-IN" sz="2400" b="1" dirty="0" err="1">
                <a:solidFill>
                  <a:schemeClr val="tx1"/>
                </a:solidFill>
              </a:rPr>
              <a:t>Avani</a:t>
            </a:r>
            <a:r>
              <a:rPr lang="en-IN" sz="2400" b="1" dirty="0">
                <a:solidFill>
                  <a:schemeClr val="tx1"/>
                </a:solidFill>
              </a:rPr>
              <a:t> </a:t>
            </a:r>
            <a:r>
              <a:rPr lang="en-IN" sz="2400" b="1" dirty="0" err="1">
                <a:solidFill>
                  <a:schemeClr val="tx1"/>
                </a:solidFill>
              </a:rPr>
              <a:t>Chaturvedi</a:t>
            </a:r>
            <a:r>
              <a:rPr lang="en-IN" sz="2400" b="1" dirty="0">
                <a:solidFill>
                  <a:schemeClr val="tx1"/>
                </a:solidFill>
              </a:rPr>
              <a:t> </a:t>
            </a:r>
            <a:r>
              <a:rPr lang="en-IN" sz="2400" dirty="0">
                <a:solidFill>
                  <a:schemeClr val="tx1"/>
                </a:solidFill>
              </a:rPr>
              <a:t>of the Indian Air Force became the first Indian female fighter pilot to fly solo. She flew a MiG-21 Bison, a jet aircraft with the highest recorded landing and take-off speed in the world</a:t>
            </a:r>
            <a:r>
              <a:rPr lang="en-IN" sz="2400" dirty="0" smtClean="0">
                <a:solidFill>
                  <a:schemeClr val="tx1"/>
                </a:solidFill>
              </a:rPr>
              <a:t>.</a:t>
            </a:r>
            <a:endParaRPr lang="en-IN" sz="2400" dirty="0">
              <a:solidFill>
                <a:schemeClr val="tx1"/>
              </a:solidFill>
            </a:endParaRPr>
          </a:p>
          <a:p>
            <a:pPr algn="just"/>
            <a:r>
              <a:rPr lang="en-IN" sz="2400" dirty="0">
                <a:solidFill>
                  <a:schemeClr val="tx1"/>
                </a:solidFill>
              </a:rPr>
              <a:t>2019: On 2 December 2019, sub-lieutenant </a:t>
            </a:r>
            <a:r>
              <a:rPr lang="en-IN" sz="2400" b="1" dirty="0" err="1">
                <a:solidFill>
                  <a:schemeClr val="tx1"/>
                </a:solidFill>
              </a:rPr>
              <a:t>Shivangi</a:t>
            </a:r>
            <a:r>
              <a:rPr lang="en-IN" sz="2400" dirty="0">
                <a:solidFill>
                  <a:schemeClr val="tx1"/>
                </a:solidFill>
              </a:rPr>
              <a:t> became the first woman pilot in the Indian Navy</a:t>
            </a:r>
          </a:p>
          <a:p>
            <a:pPr algn="just"/>
            <a:endParaRPr lang="en-IN" dirty="0">
              <a:solidFill>
                <a:schemeClr val="tx1"/>
              </a:solidFill>
            </a:endParaRPr>
          </a:p>
        </p:txBody>
      </p:sp>
    </p:spTree>
    <p:extLst>
      <p:ext uri="{BB962C8B-B14F-4D97-AF65-F5344CB8AC3E}">
        <p14:creationId xmlns:p14="http://schemas.microsoft.com/office/powerpoint/2010/main" val="38453099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CHALLENGES FACED BY THE FEMALE IN INDIA</a:t>
            </a:r>
            <a:endParaRPr lang="en-IN" dirty="0"/>
          </a:p>
        </p:txBody>
      </p:sp>
      <p:sp>
        <p:nvSpPr>
          <p:cNvPr id="4" name="Content Placeholder 3"/>
          <p:cNvSpPr>
            <a:spLocks noGrp="1"/>
          </p:cNvSpPr>
          <p:nvPr>
            <p:ph idx="1"/>
          </p:nvPr>
        </p:nvSpPr>
        <p:spPr>
          <a:xfrm>
            <a:off x="1251678" y="1874517"/>
            <a:ext cx="10178322" cy="4850748"/>
          </a:xfrm>
        </p:spPr>
        <p:txBody>
          <a:bodyPr>
            <a:noAutofit/>
          </a:bodyPr>
          <a:lstStyle/>
          <a:p>
            <a:r>
              <a:rPr lang="en-IN" sz="2800" dirty="0">
                <a:solidFill>
                  <a:schemeClr val="tx1"/>
                </a:solidFill>
              </a:rPr>
              <a:t>Women in India face many socio-cultural, economical and political challenges. These </a:t>
            </a:r>
            <a:r>
              <a:rPr lang="en-IN" sz="2800" dirty="0" smtClean="0">
                <a:solidFill>
                  <a:schemeClr val="tx1"/>
                </a:solidFill>
              </a:rPr>
              <a:t>challenges are described as under: </a:t>
            </a:r>
          </a:p>
          <a:p>
            <a:r>
              <a:rPr lang="en-IN" sz="2800" b="1" dirty="0">
                <a:solidFill>
                  <a:schemeClr val="tx1"/>
                </a:solidFill>
              </a:rPr>
              <a:t>Challenge against </a:t>
            </a:r>
            <a:r>
              <a:rPr lang="en-IN" sz="2800" b="1" dirty="0" smtClean="0">
                <a:solidFill>
                  <a:schemeClr val="tx1"/>
                </a:solidFill>
              </a:rPr>
              <a:t>time</a:t>
            </a:r>
            <a:endParaRPr lang="en-IN" sz="2800" dirty="0">
              <a:solidFill>
                <a:schemeClr val="tx1"/>
              </a:solidFill>
            </a:endParaRPr>
          </a:p>
          <a:p>
            <a:pPr lvl="1" algn="just"/>
            <a:r>
              <a:rPr lang="en-IN" sz="2400" dirty="0">
                <a:solidFill>
                  <a:schemeClr val="tx1"/>
                </a:solidFill>
              </a:rPr>
              <a:t>Timely maternal </a:t>
            </a:r>
            <a:r>
              <a:rPr lang="en-IN" sz="2400" dirty="0" smtClean="0">
                <a:solidFill>
                  <a:schemeClr val="tx1"/>
                </a:solidFill>
              </a:rPr>
              <a:t>care.</a:t>
            </a:r>
            <a:endParaRPr lang="en-IN" sz="2400" dirty="0">
              <a:solidFill>
                <a:schemeClr val="tx1"/>
              </a:solidFill>
            </a:endParaRPr>
          </a:p>
          <a:p>
            <a:pPr lvl="1"/>
            <a:r>
              <a:rPr lang="en-IN" sz="2400" dirty="0">
                <a:solidFill>
                  <a:schemeClr val="tx1"/>
                </a:solidFill>
              </a:rPr>
              <a:t>Girl child denied timely interventions in nutrition and </a:t>
            </a:r>
            <a:r>
              <a:rPr lang="en-IN" sz="2400" dirty="0" smtClean="0">
                <a:solidFill>
                  <a:schemeClr val="tx1"/>
                </a:solidFill>
              </a:rPr>
              <a:t>healthcare</a:t>
            </a:r>
            <a:r>
              <a:rPr lang="en-IN" sz="2400" dirty="0">
                <a:solidFill>
                  <a:schemeClr val="tx1"/>
                </a:solidFill>
              </a:rPr>
              <a:t>.</a:t>
            </a:r>
          </a:p>
          <a:p>
            <a:pPr lvl="1"/>
            <a:r>
              <a:rPr lang="en-IN" sz="2400" dirty="0" smtClean="0">
                <a:solidFill>
                  <a:schemeClr val="tx1"/>
                </a:solidFill>
              </a:rPr>
              <a:t>Education denial.</a:t>
            </a:r>
            <a:endParaRPr lang="en-IN" sz="2400" dirty="0">
              <a:solidFill>
                <a:schemeClr val="tx1"/>
              </a:solidFill>
            </a:endParaRPr>
          </a:p>
          <a:p>
            <a:pPr lvl="1"/>
            <a:r>
              <a:rPr lang="en-IN" sz="2400" dirty="0">
                <a:solidFill>
                  <a:schemeClr val="tx1"/>
                </a:solidFill>
              </a:rPr>
              <a:t>Early </a:t>
            </a:r>
            <a:r>
              <a:rPr lang="en-IN" sz="2400" dirty="0" smtClean="0">
                <a:solidFill>
                  <a:schemeClr val="tx1"/>
                </a:solidFill>
              </a:rPr>
              <a:t>marriage</a:t>
            </a:r>
            <a:r>
              <a:rPr lang="en-IN" sz="2400" dirty="0">
                <a:solidFill>
                  <a:schemeClr val="tx1"/>
                </a:solidFill>
              </a:rPr>
              <a:t>.</a:t>
            </a:r>
          </a:p>
          <a:p>
            <a:pPr lvl="1"/>
            <a:r>
              <a:rPr lang="en-IN" sz="2400" dirty="0" smtClean="0">
                <a:solidFill>
                  <a:schemeClr val="tx1"/>
                </a:solidFill>
              </a:rPr>
              <a:t>Morality :  A </a:t>
            </a:r>
            <a:r>
              <a:rPr lang="en-IN" sz="2400" dirty="0">
                <a:solidFill>
                  <a:schemeClr val="tx1"/>
                </a:solidFill>
              </a:rPr>
              <a:t>direct repercussion of challenge against time is the repeated exhortation against women going out at night by the so-called moral guardians of the society.</a:t>
            </a:r>
          </a:p>
          <a:p>
            <a:r>
              <a:rPr lang="en-IN" sz="2800" dirty="0">
                <a:solidFill>
                  <a:schemeClr val="tx1"/>
                </a:solidFill>
              </a:rPr>
              <a:t/>
            </a:r>
            <a:br>
              <a:rPr lang="en-IN" sz="2800" dirty="0">
                <a:solidFill>
                  <a:schemeClr val="tx1"/>
                </a:solidFill>
              </a:rPr>
            </a:br>
            <a:endParaRPr lang="en-IN" sz="2800" dirty="0">
              <a:solidFill>
                <a:schemeClr val="tx1"/>
              </a:solidFill>
            </a:endParaRPr>
          </a:p>
          <a:p>
            <a:endParaRPr lang="en-IN" sz="2400" dirty="0">
              <a:solidFill>
                <a:schemeClr val="tx1"/>
              </a:solidFill>
            </a:endParaRPr>
          </a:p>
        </p:txBody>
      </p:sp>
    </p:spTree>
    <p:extLst>
      <p:ext uri="{BB962C8B-B14F-4D97-AF65-F5344CB8AC3E}">
        <p14:creationId xmlns:p14="http://schemas.microsoft.com/office/powerpoint/2010/main" val="1147034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CHALLENGES FACED BY THE FEMALE IN INDIA</a:t>
            </a:r>
            <a:endParaRPr lang="en-IN" dirty="0"/>
          </a:p>
        </p:txBody>
      </p:sp>
      <p:sp>
        <p:nvSpPr>
          <p:cNvPr id="4" name="Content Placeholder 3"/>
          <p:cNvSpPr>
            <a:spLocks noGrp="1"/>
          </p:cNvSpPr>
          <p:nvPr>
            <p:ph idx="1"/>
          </p:nvPr>
        </p:nvSpPr>
        <p:spPr>
          <a:xfrm>
            <a:off x="1251678" y="1874517"/>
            <a:ext cx="10178322" cy="4850748"/>
          </a:xfrm>
        </p:spPr>
        <p:txBody>
          <a:bodyPr>
            <a:noAutofit/>
          </a:bodyPr>
          <a:lstStyle/>
          <a:p>
            <a:pPr algn="just"/>
            <a:r>
              <a:rPr lang="en-IN" sz="4000" b="1" dirty="0">
                <a:solidFill>
                  <a:schemeClr val="tx1"/>
                </a:solidFill>
              </a:rPr>
              <a:t>Challenge against </a:t>
            </a:r>
            <a:r>
              <a:rPr lang="en-IN" sz="4000" b="1" dirty="0" smtClean="0">
                <a:solidFill>
                  <a:schemeClr val="tx1"/>
                </a:solidFill>
              </a:rPr>
              <a:t>space</a:t>
            </a:r>
          </a:p>
          <a:p>
            <a:pPr lvl="1" algn="just"/>
            <a:r>
              <a:rPr lang="en-IN" sz="3600" dirty="0" smtClean="0">
                <a:solidFill>
                  <a:schemeClr val="tx1"/>
                </a:solidFill>
              </a:rPr>
              <a:t>Pink </a:t>
            </a:r>
            <a:r>
              <a:rPr lang="en-IN" sz="3600" dirty="0">
                <a:solidFill>
                  <a:schemeClr val="tx1"/>
                </a:solidFill>
              </a:rPr>
              <a:t>collarisation of </a:t>
            </a:r>
            <a:r>
              <a:rPr lang="en-IN" sz="3600" dirty="0" smtClean="0">
                <a:solidFill>
                  <a:schemeClr val="tx1"/>
                </a:solidFill>
              </a:rPr>
              <a:t>jobs.</a:t>
            </a:r>
            <a:endParaRPr lang="en-IN" sz="3600" dirty="0">
              <a:solidFill>
                <a:schemeClr val="tx1"/>
              </a:solidFill>
            </a:endParaRPr>
          </a:p>
          <a:p>
            <a:pPr lvl="1" algn="just"/>
            <a:r>
              <a:rPr lang="en-IN" sz="3600" dirty="0">
                <a:solidFill>
                  <a:schemeClr val="tx1"/>
                </a:solidFill>
              </a:rPr>
              <a:t>Glass </a:t>
            </a:r>
            <a:r>
              <a:rPr lang="en-IN" sz="3600" dirty="0" smtClean="0">
                <a:solidFill>
                  <a:schemeClr val="tx1"/>
                </a:solidFill>
              </a:rPr>
              <a:t>ceilings</a:t>
            </a:r>
            <a:r>
              <a:rPr lang="en-IN" sz="3600" dirty="0">
                <a:solidFill>
                  <a:schemeClr val="tx1"/>
                </a:solidFill>
              </a:rPr>
              <a:t>.</a:t>
            </a:r>
          </a:p>
          <a:p>
            <a:pPr lvl="1" algn="just"/>
            <a:r>
              <a:rPr lang="en-IN" sz="3600" smtClean="0">
                <a:solidFill>
                  <a:schemeClr val="tx1"/>
                </a:solidFill>
              </a:rPr>
              <a:t>Harassment </a:t>
            </a:r>
            <a:r>
              <a:rPr lang="en-IN" sz="3600" dirty="0">
                <a:solidFill>
                  <a:schemeClr val="tx1"/>
                </a:solidFill>
              </a:rPr>
              <a:t>at the </a:t>
            </a:r>
            <a:r>
              <a:rPr lang="en-IN" sz="3600" dirty="0" smtClean="0">
                <a:solidFill>
                  <a:schemeClr val="tx1"/>
                </a:solidFill>
              </a:rPr>
              <a:t>workplace</a:t>
            </a:r>
            <a:r>
              <a:rPr lang="en-IN" sz="3600" dirty="0">
                <a:solidFill>
                  <a:schemeClr val="tx1"/>
                </a:solidFill>
              </a:rPr>
              <a:t>.</a:t>
            </a:r>
          </a:p>
          <a:p>
            <a:pPr lvl="1" algn="just"/>
            <a:r>
              <a:rPr lang="en-IN" sz="3600" dirty="0">
                <a:solidFill>
                  <a:schemeClr val="tx1"/>
                </a:solidFill>
              </a:rPr>
              <a:t>Lack of political participation of </a:t>
            </a:r>
            <a:r>
              <a:rPr lang="en-IN" sz="3600" dirty="0" smtClean="0">
                <a:solidFill>
                  <a:schemeClr val="tx1"/>
                </a:solidFill>
              </a:rPr>
              <a:t>women.</a:t>
            </a:r>
            <a:endParaRPr lang="en-IN" sz="3600" dirty="0">
              <a:solidFill>
                <a:schemeClr val="tx1"/>
              </a:solidFill>
            </a:endParaRPr>
          </a:p>
          <a:p>
            <a:pPr marL="0" indent="0" algn="just">
              <a:buNone/>
            </a:pPr>
            <a:r>
              <a:rPr lang="en-IN" sz="4800" dirty="0">
                <a:solidFill>
                  <a:schemeClr val="tx1"/>
                </a:solidFill>
              </a:rPr>
              <a:t/>
            </a:r>
            <a:br>
              <a:rPr lang="en-IN" sz="4800" dirty="0">
                <a:solidFill>
                  <a:schemeClr val="tx1"/>
                </a:solidFill>
              </a:rPr>
            </a:br>
            <a:endParaRPr lang="en-IN" sz="4800" dirty="0">
              <a:solidFill>
                <a:schemeClr val="tx1"/>
              </a:solidFill>
            </a:endParaRPr>
          </a:p>
          <a:p>
            <a:pPr algn="just"/>
            <a:endParaRPr lang="en-IN" sz="4400" dirty="0">
              <a:solidFill>
                <a:schemeClr val="tx1"/>
              </a:solidFill>
            </a:endParaRPr>
          </a:p>
        </p:txBody>
      </p:sp>
    </p:spTree>
    <p:extLst>
      <p:ext uri="{BB962C8B-B14F-4D97-AF65-F5344CB8AC3E}">
        <p14:creationId xmlns:p14="http://schemas.microsoft.com/office/powerpoint/2010/main" val="21707336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OVERCOMING THE CHALLENGES </a:t>
            </a:r>
            <a:endParaRPr lang="en-IN" dirty="0"/>
          </a:p>
        </p:txBody>
      </p:sp>
      <p:sp>
        <p:nvSpPr>
          <p:cNvPr id="4" name="Content Placeholder 3"/>
          <p:cNvSpPr>
            <a:spLocks noGrp="1"/>
          </p:cNvSpPr>
          <p:nvPr>
            <p:ph idx="1"/>
          </p:nvPr>
        </p:nvSpPr>
        <p:spPr>
          <a:xfrm>
            <a:off x="1251678" y="1461562"/>
            <a:ext cx="10178322" cy="4850748"/>
          </a:xfrm>
        </p:spPr>
        <p:txBody>
          <a:bodyPr>
            <a:noAutofit/>
          </a:bodyPr>
          <a:lstStyle/>
          <a:p>
            <a:pPr algn="just"/>
            <a:r>
              <a:rPr lang="en-IN" sz="2800" b="1" i="1" dirty="0">
                <a:solidFill>
                  <a:schemeClr val="tx1"/>
                </a:solidFill>
              </a:rPr>
              <a:t>“India To awaken the people, it is the woman who must be awakened. Once she is on the move, the family moves, the village moves, the nation moves</a:t>
            </a:r>
            <a:r>
              <a:rPr lang="en-IN" sz="2800" b="1" i="1" dirty="0" smtClean="0">
                <a:solidFill>
                  <a:schemeClr val="tx1"/>
                </a:solidFill>
              </a:rPr>
              <a:t>”. Pt. Nehru.</a:t>
            </a:r>
          </a:p>
          <a:p>
            <a:pPr lvl="1" algn="just"/>
            <a:r>
              <a:rPr lang="en-IN" sz="2400" dirty="0" smtClean="0">
                <a:solidFill>
                  <a:schemeClr val="tx1"/>
                </a:solidFill>
              </a:rPr>
              <a:t>Awareness </a:t>
            </a:r>
            <a:r>
              <a:rPr lang="en-IN" sz="2400" dirty="0">
                <a:solidFill>
                  <a:schemeClr val="tx1"/>
                </a:solidFill>
              </a:rPr>
              <a:t>generation and </a:t>
            </a:r>
            <a:r>
              <a:rPr lang="en-IN" sz="2400" dirty="0" smtClean="0">
                <a:solidFill>
                  <a:schemeClr val="tx1"/>
                </a:solidFill>
              </a:rPr>
              <a:t>sensitization</a:t>
            </a:r>
            <a:r>
              <a:rPr lang="en-IN" sz="2400" dirty="0">
                <a:solidFill>
                  <a:schemeClr val="tx1"/>
                </a:solidFill>
              </a:rPr>
              <a:t>.</a:t>
            </a:r>
          </a:p>
          <a:p>
            <a:pPr lvl="1" algn="just"/>
            <a:r>
              <a:rPr lang="en-IN" sz="2400" dirty="0">
                <a:solidFill>
                  <a:schemeClr val="tx1"/>
                </a:solidFill>
              </a:rPr>
              <a:t>Gender-based </a:t>
            </a:r>
            <a:r>
              <a:rPr lang="en-IN" sz="2400" dirty="0" smtClean="0">
                <a:solidFill>
                  <a:schemeClr val="tx1"/>
                </a:solidFill>
              </a:rPr>
              <a:t>legislation</a:t>
            </a:r>
            <a:r>
              <a:rPr lang="en-IN" sz="2400" dirty="0">
                <a:solidFill>
                  <a:schemeClr val="tx1"/>
                </a:solidFill>
              </a:rPr>
              <a:t>.</a:t>
            </a:r>
          </a:p>
          <a:p>
            <a:pPr lvl="1" algn="just"/>
            <a:r>
              <a:rPr lang="en-IN" sz="2400" dirty="0">
                <a:solidFill>
                  <a:schemeClr val="tx1"/>
                </a:solidFill>
              </a:rPr>
              <a:t>Women should be respected at home. </a:t>
            </a:r>
          </a:p>
          <a:p>
            <a:pPr lvl="1" algn="just"/>
            <a:r>
              <a:rPr lang="en-IN" sz="2400" dirty="0">
                <a:solidFill>
                  <a:schemeClr val="tx1"/>
                </a:solidFill>
              </a:rPr>
              <a:t>Developing and resourcing national </a:t>
            </a:r>
            <a:r>
              <a:rPr lang="en-IN" sz="2400" dirty="0" smtClean="0">
                <a:solidFill>
                  <a:schemeClr val="tx1"/>
                </a:solidFill>
              </a:rPr>
              <a:t>plans</a:t>
            </a:r>
            <a:r>
              <a:rPr lang="en-IN" sz="2400" dirty="0">
                <a:solidFill>
                  <a:schemeClr val="tx1"/>
                </a:solidFill>
              </a:rPr>
              <a:t>.</a:t>
            </a:r>
          </a:p>
          <a:p>
            <a:pPr lvl="1" algn="just"/>
            <a:r>
              <a:rPr lang="en-IN" sz="2400" dirty="0">
                <a:solidFill>
                  <a:schemeClr val="tx1"/>
                </a:solidFill>
              </a:rPr>
              <a:t>Gender-based </a:t>
            </a:r>
            <a:r>
              <a:rPr lang="en-IN" sz="2400" dirty="0" smtClean="0">
                <a:solidFill>
                  <a:schemeClr val="tx1"/>
                </a:solidFill>
              </a:rPr>
              <a:t>surveys</a:t>
            </a:r>
            <a:r>
              <a:rPr lang="en-IN" sz="2400" dirty="0">
                <a:solidFill>
                  <a:schemeClr val="tx1"/>
                </a:solidFill>
              </a:rPr>
              <a:t>.</a:t>
            </a:r>
          </a:p>
          <a:p>
            <a:pPr lvl="1" algn="just"/>
            <a:r>
              <a:rPr lang="en-IN" sz="2400" dirty="0">
                <a:solidFill>
                  <a:schemeClr val="tx1"/>
                </a:solidFill>
              </a:rPr>
              <a:t>Technological </a:t>
            </a:r>
            <a:r>
              <a:rPr lang="en-IN" sz="2400" dirty="0" smtClean="0">
                <a:solidFill>
                  <a:schemeClr val="tx1"/>
                </a:solidFill>
              </a:rPr>
              <a:t>interventions</a:t>
            </a:r>
            <a:r>
              <a:rPr lang="en-IN" sz="2400" dirty="0">
                <a:solidFill>
                  <a:schemeClr val="tx1"/>
                </a:solidFill>
              </a:rPr>
              <a:t>.</a:t>
            </a:r>
          </a:p>
          <a:p>
            <a:pPr marL="0" indent="0" algn="just">
              <a:buNone/>
            </a:pPr>
            <a:r>
              <a:rPr lang="en-IN" sz="6000" dirty="0">
                <a:solidFill>
                  <a:schemeClr val="tx1"/>
                </a:solidFill>
              </a:rPr>
              <a:t/>
            </a:r>
            <a:br>
              <a:rPr lang="en-IN" sz="6000" dirty="0">
                <a:solidFill>
                  <a:schemeClr val="tx1"/>
                </a:solidFill>
              </a:rPr>
            </a:br>
            <a:endParaRPr lang="en-IN" sz="6000" dirty="0">
              <a:solidFill>
                <a:schemeClr val="tx1"/>
              </a:solidFill>
            </a:endParaRPr>
          </a:p>
          <a:p>
            <a:pPr algn="just"/>
            <a:endParaRPr lang="en-IN" sz="5400" dirty="0">
              <a:solidFill>
                <a:schemeClr val="tx1"/>
              </a:solidFill>
            </a:endParaRPr>
          </a:p>
        </p:txBody>
      </p:sp>
    </p:spTree>
    <p:extLst>
      <p:ext uri="{BB962C8B-B14F-4D97-AF65-F5344CB8AC3E}">
        <p14:creationId xmlns:p14="http://schemas.microsoft.com/office/powerpoint/2010/main" val="9776664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a:t>
            </a:r>
            <a:endParaRPr lang="en-IN" dirty="0"/>
          </a:p>
        </p:txBody>
      </p:sp>
      <p:sp>
        <p:nvSpPr>
          <p:cNvPr id="4" name="Content Placeholder 3"/>
          <p:cNvSpPr>
            <a:spLocks noGrp="1"/>
          </p:cNvSpPr>
          <p:nvPr>
            <p:ph idx="1"/>
          </p:nvPr>
        </p:nvSpPr>
        <p:spPr>
          <a:xfrm>
            <a:off x="1251678" y="1874517"/>
            <a:ext cx="10178322" cy="4850748"/>
          </a:xfrm>
        </p:spPr>
        <p:txBody>
          <a:bodyPr>
            <a:noAutofit/>
          </a:bodyPr>
          <a:lstStyle/>
          <a:p>
            <a:pPr algn="just"/>
            <a:r>
              <a:rPr lang="en-IN" sz="2800" b="1" dirty="0" smtClean="0">
                <a:solidFill>
                  <a:schemeClr val="tx1"/>
                </a:solidFill>
              </a:rPr>
              <a:t>Forms of modern slavery</a:t>
            </a:r>
            <a:endParaRPr lang="en-IN" sz="2400" dirty="0">
              <a:solidFill>
                <a:schemeClr val="tx1"/>
              </a:solidFill>
            </a:endParaRPr>
          </a:p>
          <a:p>
            <a:pPr lvl="1" algn="just"/>
            <a:r>
              <a:rPr lang="en-IN" sz="2400" dirty="0">
                <a:solidFill>
                  <a:schemeClr val="tx1"/>
                </a:solidFill>
              </a:rPr>
              <a:t>Forced </a:t>
            </a:r>
            <a:r>
              <a:rPr lang="en-IN" sz="2400" dirty="0" err="1">
                <a:solidFill>
                  <a:schemeClr val="tx1"/>
                </a:solidFill>
              </a:rPr>
              <a:t>Labor</a:t>
            </a:r>
            <a:r>
              <a:rPr lang="en-IN" sz="2400" dirty="0">
                <a:solidFill>
                  <a:schemeClr val="tx1"/>
                </a:solidFill>
              </a:rPr>
              <a:t>.</a:t>
            </a:r>
          </a:p>
          <a:p>
            <a:pPr lvl="1" algn="just"/>
            <a:r>
              <a:rPr lang="en-IN" sz="2400" dirty="0">
                <a:solidFill>
                  <a:schemeClr val="tx1"/>
                </a:solidFill>
              </a:rPr>
              <a:t>Bonded </a:t>
            </a:r>
            <a:r>
              <a:rPr lang="en-IN" sz="2400" dirty="0" err="1">
                <a:solidFill>
                  <a:schemeClr val="tx1"/>
                </a:solidFill>
              </a:rPr>
              <a:t>Labor</a:t>
            </a:r>
            <a:r>
              <a:rPr lang="en-IN" sz="2400" dirty="0">
                <a:solidFill>
                  <a:schemeClr val="tx1"/>
                </a:solidFill>
              </a:rPr>
              <a:t> or Debt Bondage.</a:t>
            </a:r>
          </a:p>
          <a:p>
            <a:pPr lvl="1" algn="just"/>
            <a:r>
              <a:rPr lang="en-IN" sz="2400" dirty="0">
                <a:solidFill>
                  <a:schemeClr val="tx1"/>
                </a:solidFill>
              </a:rPr>
              <a:t>Domestic Servitude.</a:t>
            </a:r>
          </a:p>
          <a:p>
            <a:pPr lvl="1" algn="just"/>
            <a:r>
              <a:rPr lang="en-IN" sz="2400" dirty="0">
                <a:solidFill>
                  <a:schemeClr val="tx1"/>
                </a:solidFill>
              </a:rPr>
              <a:t>Forced Child </a:t>
            </a:r>
            <a:r>
              <a:rPr lang="en-IN" sz="2400" dirty="0" err="1">
                <a:solidFill>
                  <a:schemeClr val="tx1"/>
                </a:solidFill>
              </a:rPr>
              <a:t>Labor</a:t>
            </a:r>
            <a:r>
              <a:rPr lang="en-IN" sz="2400" dirty="0">
                <a:solidFill>
                  <a:schemeClr val="tx1"/>
                </a:solidFill>
              </a:rPr>
              <a:t>.</a:t>
            </a:r>
          </a:p>
          <a:p>
            <a:pPr lvl="1" algn="just"/>
            <a:r>
              <a:rPr lang="en-IN" sz="2400" dirty="0">
                <a:solidFill>
                  <a:schemeClr val="tx1"/>
                </a:solidFill>
              </a:rPr>
              <a:t>Unlawful Recruitment and Use of Child Soldiers.</a:t>
            </a:r>
          </a:p>
          <a:p>
            <a:pPr marL="0" indent="0" algn="just">
              <a:buNone/>
            </a:pPr>
            <a:r>
              <a:rPr lang="en-IN" sz="7200" dirty="0">
                <a:solidFill>
                  <a:schemeClr val="tx1"/>
                </a:solidFill>
              </a:rPr>
              <a:t/>
            </a:r>
            <a:br>
              <a:rPr lang="en-IN" sz="7200" dirty="0">
                <a:solidFill>
                  <a:schemeClr val="tx1"/>
                </a:solidFill>
              </a:rPr>
            </a:br>
            <a:endParaRPr lang="en-IN" sz="7200" dirty="0">
              <a:solidFill>
                <a:schemeClr val="tx1"/>
              </a:solidFill>
            </a:endParaRPr>
          </a:p>
          <a:p>
            <a:pPr algn="just"/>
            <a:endParaRPr lang="en-IN" sz="6600" dirty="0">
              <a:solidFill>
                <a:schemeClr val="tx1"/>
              </a:solidFill>
            </a:endParaRPr>
          </a:p>
        </p:txBody>
      </p:sp>
    </p:spTree>
    <p:extLst>
      <p:ext uri="{BB962C8B-B14F-4D97-AF65-F5344CB8AC3E}">
        <p14:creationId xmlns:p14="http://schemas.microsoft.com/office/powerpoint/2010/main" val="28257935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 : FORCED LABOR</a:t>
            </a:r>
            <a:endParaRPr lang="en-IN" dirty="0"/>
          </a:p>
        </p:txBody>
      </p:sp>
      <p:sp>
        <p:nvSpPr>
          <p:cNvPr id="4" name="Content Placeholder 3"/>
          <p:cNvSpPr>
            <a:spLocks noGrp="1"/>
          </p:cNvSpPr>
          <p:nvPr>
            <p:ph idx="1"/>
          </p:nvPr>
        </p:nvSpPr>
        <p:spPr>
          <a:xfrm>
            <a:off x="1251678" y="1353406"/>
            <a:ext cx="10178322" cy="5504593"/>
          </a:xfrm>
        </p:spPr>
        <p:txBody>
          <a:bodyPr>
            <a:noAutofit/>
          </a:bodyPr>
          <a:lstStyle/>
          <a:p>
            <a:pPr algn="just"/>
            <a:r>
              <a:rPr lang="en-IN" sz="2800" dirty="0" err="1">
                <a:solidFill>
                  <a:schemeClr val="tx1"/>
                </a:solidFill>
              </a:rPr>
              <a:t>Labor</a:t>
            </a:r>
            <a:r>
              <a:rPr lang="en-IN" sz="2800" dirty="0">
                <a:solidFill>
                  <a:schemeClr val="tx1"/>
                </a:solidFill>
              </a:rPr>
              <a:t> trafficking is a form of modern-day slavery in which individuals perform </a:t>
            </a:r>
            <a:r>
              <a:rPr lang="en-IN" sz="2800" dirty="0" err="1">
                <a:solidFill>
                  <a:schemeClr val="tx1"/>
                </a:solidFill>
              </a:rPr>
              <a:t>labor</a:t>
            </a:r>
            <a:r>
              <a:rPr lang="en-IN" sz="2800" dirty="0">
                <a:solidFill>
                  <a:schemeClr val="tx1"/>
                </a:solidFill>
              </a:rPr>
              <a:t> or services through the use of force, fraud, or coercion. </a:t>
            </a:r>
          </a:p>
          <a:p>
            <a:pPr algn="just"/>
            <a:r>
              <a:rPr lang="en-IN" sz="2800" dirty="0" err="1" smtClean="0">
                <a:solidFill>
                  <a:schemeClr val="tx1"/>
                </a:solidFill>
              </a:rPr>
              <a:t>Labor</a:t>
            </a:r>
            <a:r>
              <a:rPr lang="en-IN" sz="2800" dirty="0" smtClean="0">
                <a:solidFill>
                  <a:schemeClr val="tx1"/>
                </a:solidFill>
              </a:rPr>
              <a:t> </a:t>
            </a:r>
            <a:r>
              <a:rPr lang="en-IN" sz="2800" dirty="0">
                <a:solidFill>
                  <a:schemeClr val="tx1"/>
                </a:solidFill>
              </a:rPr>
              <a:t>traffickers use violence, threats, lies, and other forms of coercion to force people to work against their will in many industries.</a:t>
            </a:r>
            <a:endParaRPr lang="en-IN" sz="2800" dirty="0" smtClean="0">
              <a:solidFill>
                <a:schemeClr val="tx1"/>
              </a:solidFill>
            </a:endParaRPr>
          </a:p>
          <a:p>
            <a:pPr algn="just"/>
            <a:r>
              <a:rPr lang="en-IN" sz="2800" dirty="0" smtClean="0">
                <a:solidFill>
                  <a:schemeClr val="tx1"/>
                </a:solidFill>
              </a:rPr>
              <a:t>Poverty </a:t>
            </a:r>
            <a:r>
              <a:rPr lang="en-IN" sz="2800" dirty="0">
                <a:solidFill>
                  <a:schemeClr val="tx1"/>
                </a:solidFill>
              </a:rPr>
              <a:t>is one of the main causes of forced labour as well as a lack of labour in the agriculture sectors, decent employment opportunities and discrimination. </a:t>
            </a:r>
            <a:endParaRPr lang="en-IN" sz="2800" dirty="0" smtClean="0">
              <a:solidFill>
                <a:schemeClr val="tx1"/>
              </a:solidFill>
            </a:endParaRPr>
          </a:p>
          <a:p>
            <a:pPr algn="just"/>
            <a:r>
              <a:rPr lang="en-IN" sz="2800" dirty="0" smtClean="0">
                <a:solidFill>
                  <a:schemeClr val="tx1"/>
                </a:solidFill>
              </a:rPr>
              <a:t>It </a:t>
            </a:r>
            <a:r>
              <a:rPr lang="en-IN" sz="2800" dirty="0">
                <a:solidFill>
                  <a:schemeClr val="tx1"/>
                </a:solidFill>
              </a:rPr>
              <a:t>is often well concealed, and in some countries ingrained after years of exploitation</a:t>
            </a:r>
            <a:r>
              <a:rPr lang="en-IN" sz="2800" dirty="0" smtClean="0">
                <a:solidFill>
                  <a:schemeClr val="tx1"/>
                </a:solidFill>
              </a:rPr>
              <a:t>.</a:t>
            </a:r>
          </a:p>
          <a:p>
            <a:pPr algn="just"/>
            <a:endParaRPr lang="en-IN" sz="16600" dirty="0">
              <a:solidFill>
                <a:schemeClr val="tx1"/>
              </a:solidFill>
            </a:endParaRPr>
          </a:p>
        </p:txBody>
      </p:sp>
    </p:spTree>
    <p:extLst>
      <p:ext uri="{BB962C8B-B14F-4D97-AF65-F5344CB8AC3E}">
        <p14:creationId xmlns:p14="http://schemas.microsoft.com/office/powerpoint/2010/main" val="15980608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 : BONDED LABOR</a:t>
            </a:r>
            <a:endParaRPr lang="en-IN" dirty="0"/>
          </a:p>
        </p:txBody>
      </p:sp>
      <p:sp>
        <p:nvSpPr>
          <p:cNvPr id="4" name="Content Placeholder 3"/>
          <p:cNvSpPr>
            <a:spLocks noGrp="1"/>
          </p:cNvSpPr>
          <p:nvPr>
            <p:ph idx="1"/>
          </p:nvPr>
        </p:nvSpPr>
        <p:spPr>
          <a:xfrm>
            <a:off x="1251678" y="1353406"/>
            <a:ext cx="10178322" cy="5504593"/>
          </a:xfrm>
        </p:spPr>
        <p:txBody>
          <a:bodyPr>
            <a:noAutofit/>
          </a:bodyPr>
          <a:lstStyle/>
          <a:p>
            <a:pPr algn="just"/>
            <a:r>
              <a:rPr lang="en-IN" sz="2800" dirty="0">
                <a:solidFill>
                  <a:schemeClr val="tx1"/>
                </a:solidFill>
              </a:rPr>
              <a:t>Bonded </a:t>
            </a:r>
            <a:r>
              <a:rPr lang="en-IN" sz="2800" dirty="0" err="1">
                <a:solidFill>
                  <a:schemeClr val="tx1"/>
                </a:solidFill>
              </a:rPr>
              <a:t>labor</a:t>
            </a:r>
            <a:r>
              <a:rPr lang="en-IN" sz="2800" dirty="0">
                <a:solidFill>
                  <a:schemeClr val="tx1"/>
                </a:solidFill>
              </a:rPr>
              <a:t>, also known as debt bondage and peonage, happens when people give themselves into slavery as security against a loan or when they inherit a debt from a relative</a:t>
            </a:r>
            <a:r>
              <a:rPr lang="en-IN" sz="2800" dirty="0" smtClean="0">
                <a:solidFill>
                  <a:schemeClr val="tx1"/>
                </a:solidFill>
              </a:rPr>
              <a:t>.</a:t>
            </a:r>
          </a:p>
          <a:p>
            <a:pPr algn="just"/>
            <a:r>
              <a:rPr lang="en-IN" sz="2800" dirty="0">
                <a:solidFill>
                  <a:schemeClr val="tx1"/>
                </a:solidFill>
              </a:rPr>
              <a:t>Bonded labour is most widespread in South Asian countries such as India and Pakistan. Often entire families have to work to pay off the debt taken by one of its members. Sometimes, the debt can be passed down the generations and children can be held in debt bondage because of a loan their parents had taken decades ago.</a:t>
            </a:r>
            <a:endParaRPr lang="en-IN" sz="23900" dirty="0">
              <a:solidFill>
                <a:schemeClr val="tx1"/>
              </a:solidFill>
            </a:endParaRPr>
          </a:p>
        </p:txBody>
      </p:sp>
    </p:spTree>
    <p:extLst>
      <p:ext uri="{BB962C8B-B14F-4D97-AF65-F5344CB8AC3E}">
        <p14:creationId xmlns:p14="http://schemas.microsoft.com/office/powerpoint/2010/main" val="24355910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 : DOMESTIC SERVITUDE</a:t>
            </a:r>
            <a:endParaRPr lang="en-IN" dirty="0"/>
          </a:p>
        </p:txBody>
      </p:sp>
      <p:sp>
        <p:nvSpPr>
          <p:cNvPr id="4" name="Content Placeholder 3"/>
          <p:cNvSpPr>
            <a:spLocks noGrp="1"/>
          </p:cNvSpPr>
          <p:nvPr>
            <p:ph idx="1"/>
          </p:nvPr>
        </p:nvSpPr>
        <p:spPr>
          <a:xfrm>
            <a:off x="1399162" y="1874517"/>
            <a:ext cx="10178322" cy="5504593"/>
          </a:xfrm>
        </p:spPr>
        <p:txBody>
          <a:bodyPr>
            <a:noAutofit/>
          </a:bodyPr>
          <a:lstStyle/>
          <a:p>
            <a:pPr algn="just"/>
            <a:r>
              <a:rPr lang="en-IN" sz="2800" dirty="0">
                <a:solidFill>
                  <a:schemeClr val="tx1"/>
                </a:solidFill>
              </a:rPr>
              <a:t>Domestic servitude is the seemingly normal practice of live-in help that is used as cover for the exploitation and control of someone, usually from another country. It is a form of forced </a:t>
            </a:r>
            <a:r>
              <a:rPr lang="en-IN" sz="2800" dirty="0" err="1">
                <a:solidFill>
                  <a:schemeClr val="tx1"/>
                </a:solidFill>
              </a:rPr>
              <a:t>labor</a:t>
            </a:r>
            <a:r>
              <a:rPr lang="en-IN" sz="2800" dirty="0">
                <a:solidFill>
                  <a:schemeClr val="tx1"/>
                </a:solidFill>
              </a:rPr>
              <a:t>, but it also warrants its own category of slavery because of the unique contexts and challenges it presents</a:t>
            </a:r>
            <a:r>
              <a:rPr lang="en-IN" sz="2800" dirty="0" smtClean="0">
                <a:solidFill>
                  <a:schemeClr val="tx1"/>
                </a:solidFill>
              </a:rPr>
              <a:t>.</a:t>
            </a:r>
          </a:p>
          <a:p>
            <a:pPr algn="just"/>
            <a:r>
              <a:rPr lang="en-IN" sz="2800" dirty="0">
                <a:solidFill>
                  <a:schemeClr val="tx1"/>
                </a:solidFill>
              </a:rPr>
              <a:t>A house slave was a slave who worked, and often lived, in the house of the slave-owner, performing domestic </a:t>
            </a:r>
            <a:r>
              <a:rPr lang="en-IN" sz="2800" dirty="0" err="1">
                <a:solidFill>
                  <a:schemeClr val="tx1"/>
                </a:solidFill>
              </a:rPr>
              <a:t>labor</a:t>
            </a:r>
            <a:r>
              <a:rPr lang="en-IN" sz="2800" dirty="0">
                <a:solidFill>
                  <a:schemeClr val="tx1"/>
                </a:solidFill>
              </a:rPr>
              <a:t>. House slaves had many duties such as cooking, cleaning, serving meals, and caring for children</a:t>
            </a:r>
            <a:r>
              <a:rPr lang="en-IN" sz="2800" dirty="0" smtClean="0">
                <a:solidFill>
                  <a:schemeClr val="tx1"/>
                </a:solidFill>
              </a:rPr>
              <a:t>.</a:t>
            </a:r>
          </a:p>
        </p:txBody>
      </p:sp>
    </p:spTree>
    <p:extLst>
      <p:ext uri="{BB962C8B-B14F-4D97-AF65-F5344CB8AC3E}">
        <p14:creationId xmlns:p14="http://schemas.microsoft.com/office/powerpoint/2010/main" val="3038360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 : DOMESTIC SERVITUDE</a:t>
            </a:r>
            <a:endParaRPr lang="en-IN" dirty="0"/>
          </a:p>
        </p:txBody>
      </p:sp>
      <p:sp>
        <p:nvSpPr>
          <p:cNvPr id="4" name="Content Placeholder 3"/>
          <p:cNvSpPr>
            <a:spLocks noGrp="1"/>
          </p:cNvSpPr>
          <p:nvPr>
            <p:ph idx="1"/>
          </p:nvPr>
        </p:nvSpPr>
        <p:spPr>
          <a:xfrm>
            <a:off x="1399162" y="1874517"/>
            <a:ext cx="10178322" cy="5504593"/>
          </a:xfrm>
        </p:spPr>
        <p:txBody>
          <a:bodyPr>
            <a:noAutofit/>
          </a:bodyPr>
          <a:lstStyle/>
          <a:p>
            <a:pPr algn="just"/>
            <a:r>
              <a:rPr lang="en-IN" sz="3200" dirty="0" smtClean="0">
                <a:solidFill>
                  <a:schemeClr val="tx1"/>
                </a:solidFill>
              </a:rPr>
              <a:t>Forced</a:t>
            </a:r>
            <a:r>
              <a:rPr lang="en-IN" sz="3200" dirty="0">
                <a:solidFill>
                  <a:schemeClr val="tx1"/>
                </a:solidFill>
              </a:rPr>
              <a:t> domestic servitude is quite common in Haiti, whereby forced child servants are called </a:t>
            </a:r>
            <a:r>
              <a:rPr lang="en-IN" sz="3200" dirty="0" err="1">
                <a:solidFill>
                  <a:schemeClr val="tx1"/>
                </a:solidFill>
              </a:rPr>
              <a:t>restaveks</a:t>
            </a:r>
            <a:r>
              <a:rPr lang="en-IN" sz="3200" dirty="0">
                <a:solidFill>
                  <a:schemeClr val="tx1"/>
                </a:solidFill>
              </a:rPr>
              <a:t>. </a:t>
            </a:r>
            <a:r>
              <a:rPr lang="en-IN" sz="3200" dirty="0" err="1">
                <a:solidFill>
                  <a:schemeClr val="tx1"/>
                </a:solidFill>
              </a:rPr>
              <a:t>Restavek</a:t>
            </a:r>
            <a:r>
              <a:rPr lang="en-IN" sz="3200" dirty="0">
                <a:solidFill>
                  <a:schemeClr val="tx1"/>
                </a:solidFill>
              </a:rPr>
              <a:t> comes from the French “</a:t>
            </a:r>
            <a:r>
              <a:rPr lang="en-IN" sz="3200" dirty="0" err="1">
                <a:solidFill>
                  <a:schemeClr val="tx1"/>
                </a:solidFill>
              </a:rPr>
              <a:t>rester</a:t>
            </a:r>
            <a:r>
              <a:rPr lang="en-IN" sz="3200" dirty="0">
                <a:solidFill>
                  <a:schemeClr val="tx1"/>
                </a:solidFill>
              </a:rPr>
              <a:t> avec,” which means “one who stays with.” Haitian parents send their children to work and live with other families in exchange for better care and educational opportunities.</a:t>
            </a:r>
          </a:p>
        </p:txBody>
      </p:sp>
    </p:spTree>
    <p:extLst>
      <p:ext uri="{BB962C8B-B14F-4D97-AF65-F5344CB8AC3E}">
        <p14:creationId xmlns:p14="http://schemas.microsoft.com/office/powerpoint/2010/main" val="10766360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 : FORCED CHILD LABOR</a:t>
            </a:r>
            <a:endParaRPr lang="en-IN" dirty="0"/>
          </a:p>
        </p:txBody>
      </p:sp>
      <p:sp>
        <p:nvSpPr>
          <p:cNvPr id="4" name="Content Placeholder 3"/>
          <p:cNvSpPr>
            <a:spLocks noGrp="1"/>
          </p:cNvSpPr>
          <p:nvPr>
            <p:ph idx="1"/>
          </p:nvPr>
        </p:nvSpPr>
        <p:spPr>
          <a:xfrm>
            <a:off x="1399162" y="1874517"/>
            <a:ext cx="10178322" cy="5504593"/>
          </a:xfrm>
        </p:spPr>
        <p:txBody>
          <a:bodyPr>
            <a:noAutofit/>
          </a:bodyPr>
          <a:lstStyle/>
          <a:p>
            <a:pPr algn="just"/>
            <a:r>
              <a:rPr lang="en-IN" sz="2400" dirty="0">
                <a:solidFill>
                  <a:schemeClr val="tx1"/>
                </a:solidFill>
              </a:rPr>
              <a:t>Child labour means that children are forced to work like adults and take part in an economic activity. </a:t>
            </a:r>
            <a:r>
              <a:rPr lang="en-IN" sz="2400" dirty="0" smtClean="0">
                <a:solidFill>
                  <a:schemeClr val="tx1"/>
                </a:solidFill>
              </a:rPr>
              <a:t>When</a:t>
            </a:r>
            <a:r>
              <a:rPr lang="en-IN" sz="2400" dirty="0">
                <a:solidFill>
                  <a:schemeClr val="tx1"/>
                </a:solidFill>
              </a:rPr>
              <a:t> children work like adults, this will deprive them of their childhood: Very often, they cannot attend regular school either. This kind of work is mentally, physically, socially or morally dangerous and harmful</a:t>
            </a:r>
            <a:r>
              <a:rPr lang="en-IN" sz="2400" dirty="0" smtClean="0">
                <a:solidFill>
                  <a:schemeClr val="tx1"/>
                </a:solidFill>
              </a:rPr>
              <a:t>.</a:t>
            </a:r>
          </a:p>
          <a:p>
            <a:pPr algn="just"/>
            <a:r>
              <a:rPr lang="en-IN" sz="2400" dirty="0">
                <a:solidFill>
                  <a:schemeClr val="tx1"/>
                </a:solidFill>
              </a:rPr>
              <a:t>The Constitution of India in the Fundamental Rights and the Directive Principles of State Policy prohibits child labour below the age of 14 years in any factory or mine or castle or engaged in any other hazardous employment (Article 24</a:t>
            </a:r>
            <a:r>
              <a:rPr lang="en-IN" sz="2400" dirty="0" smtClean="0">
                <a:solidFill>
                  <a:schemeClr val="tx1"/>
                </a:solidFill>
              </a:rPr>
              <a:t>).</a:t>
            </a:r>
          </a:p>
          <a:p>
            <a:pPr algn="just"/>
            <a:r>
              <a:rPr lang="en-IN" sz="2400" dirty="0">
                <a:solidFill>
                  <a:schemeClr val="tx1"/>
                </a:solidFill>
              </a:rPr>
              <a:t>According to ILO minimum age convention (C138) of 1973, child labour refers to any work performed by children under the age of 12, non-light work done by children aged 12–14, and hazardous work done by children aged 15–17.</a:t>
            </a:r>
            <a:endParaRPr lang="en-IN" sz="3600" dirty="0">
              <a:solidFill>
                <a:schemeClr val="tx1"/>
              </a:solidFill>
            </a:endParaRPr>
          </a:p>
        </p:txBody>
      </p:sp>
    </p:spTree>
    <p:extLst>
      <p:ext uri="{BB962C8B-B14F-4D97-AF65-F5344CB8AC3E}">
        <p14:creationId xmlns:p14="http://schemas.microsoft.com/office/powerpoint/2010/main" val="19941890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SLAVERY IN INDIA : CHILD SOLDIERS</a:t>
            </a:r>
            <a:endParaRPr lang="en-IN" dirty="0"/>
          </a:p>
        </p:txBody>
      </p:sp>
      <p:sp>
        <p:nvSpPr>
          <p:cNvPr id="4" name="Content Placeholder 3"/>
          <p:cNvSpPr>
            <a:spLocks noGrp="1"/>
          </p:cNvSpPr>
          <p:nvPr>
            <p:ph idx="1"/>
          </p:nvPr>
        </p:nvSpPr>
        <p:spPr>
          <a:xfrm>
            <a:off x="1251678" y="1245253"/>
            <a:ext cx="10178322" cy="5504593"/>
          </a:xfrm>
        </p:spPr>
        <p:txBody>
          <a:bodyPr>
            <a:noAutofit/>
          </a:bodyPr>
          <a:lstStyle/>
          <a:p>
            <a:pPr algn="just"/>
            <a:r>
              <a:rPr lang="en-IN" sz="2800" dirty="0">
                <a:solidFill>
                  <a:schemeClr val="tx1"/>
                </a:solidFill>
              </a:rPr>
              <a:t>Human rights law declares 18 as the minimum legal age for recruitment and use of children in hostilities. Recruiting and using children under the age of 15 as soldiers is prohibited under international humanitarian law – treaty and custom – and is defined as a war crime by the International Criminal Court</a:t>
            </a:r>
            <a:r>
              <a:rPr lang="en-IN" sz="2800" dirty="0" smtClean="0">
                <a:solidFill>
                  <a:schemeClr val="tx1"/>
                </a:solidFill>
              </a:rPr>
              <a:t>.</a:t>
            </a:r>
          </a:p>
          <a:p>
            <a:pPr algn="just"/>
            <a:r>
              <a:rPr lang="en-IN" sz="2800" dirty="0">
                <a:solidFill>
                  <a:schemeClr val="tx1"/>
                </a:solidFill>
              </a:rPr>
              <a:t>Children become soldiers in different ways. Some are forcibly recruited. They may be abducted, threatened or coerced into joining, while others are enticed with money, drugs or in other ways. In many cases, children choose to join as a result of economic or social pressures</a:t>
            </a:r>
            <a:r>
              <a:rPr lang="en-IN" sz="2800" dirty="0" smtClean="0">
                <a:solidFill>
                  <a:schemeClr val="tx1"/>
                </a:solidFill>
              </a:rPr>
              <a:t>.</a:t>
            </a:r>
          </a:p>
          <a:p>
            <a:pPr algn="just"/>
            <a:endParaRPr lang="en-IN" sz="4400" dirty="0">
              <a:solidFill>
                <a:schemeClr val="tx1"/>
              </a:solidFill>
            </a:endParaRPr>
          </a:p>
        </p:txBody>
      </p:sp>
    </p:spTree>
    <p:extLst>
      <p:ext uri="{BB962C8B-B14F-4D97-AF65-F5344CB8AC3E}">
        <p14:creationId xmlns:p14="http://schemas.microsoft.com/office/powerpoint/2010/main" val="407676375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Retrospect</Template>
  <TotalTime>1340</TotalTime>
  <Words>5791</Words>
  <Application>Microsoft Office PowerPoint</Application>
  <PresentationFormat>Widescreen</PresentationFormat>
  <Paragraphs>445</Paragraphs>
  <Slides>88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Arial</vt:lpstr>
      <vt:lpstr>Gill Sans MT</vt:lpstr>
      <vt:lpstr>Impact</vt:lpstr>
      <vt:lpstr>Wingdings</vt:lpstr>
      <vt:lpstr>Badge</vt:lpstr>
      <vt:lpstr> INDIAN TRADITIONS, CULTURe, &amp; SOCIETY</vt:lpstr>
      <vt:lpstr>OUTLINES</vt:lpstr>
      <vt:lpstr>STATE IN ANCIENT INDIA</vt:lpstr>
      <vt:lpstr>STATE IN ANCIENT INDIA : EVOLUTIONARY THEORY</vt:lpstr>
      <vt:lpstr>STATE IN ANCIENT INDIA : EVOLUTIONARY THEORY</vt:lpstr>
      <vt:lpstr>STATE IN ANCIENT INDIA : EVOLUTIONARY THEORY</vt:lpstr>
      <vt:lpstr>STATE IN ANCIENT INDIA : EVOLUTIONARY THEORY</vt:lpstr>
      <vt:lpstr>STATE IN ANCIENT INDIA : FORCE THEORY</vt:lpstr>
      <vt:lpstr>STATE IN ANCIENT INDIA : MYSTICAL ORIGIN THEORY</vt:lpstr>
      <vt:lpstr>STATE IN ANCIENT INDIA : MYSTICAL ORIGIN THEORY</vt:lpstr>
      <vt:lpstr>STATE IN ANCIENT INDIA : MYSTICAL ORIGIN THEORY</vt:lpstr>
      <vt:lpstr>STATE IN ANCIENT INDIA : MYSTICAL ORIGIN THEORY</vt:lpstr>
      <vt:lpstr>STATE IN ANCIENT INDIA : MYSTICAL ORIGIN THEORY</vt:lpstr>
      <vt:lpstr>STATE IN ANCIENT INDIA : MYSTICAL ORIGIN THEORY</vt:lpstr>
      <vt:lpstr>STATE IN ANCIENT INDIA : MYSTICAL ORIGIN THEORY</vt:lpstr>
      <vt:lpstr>STATE IN ANCIENT INDIA : CONTRACT THEORY</vt:lpstr>
      <vt:lpstr>STATE IN ANCIENT INDIA : CONTRACT THEORY</vt:lpstr>
      <vt:lpstr>STATE IN ANCIENT INDIA : CONTRACT THEORY</vt:lpstr>
      <vt:lpstr>STATE IN ANCIENT INDIA : CONTRACT THEORY</vt:lpstr>
      <vt:lpstr>STATE IN ANCIENT INDIA : CONTRACT THEORY</vt:lpstr>
      <vt:lpstr>STAGES OF STATE FORMATION IN ANCIENT INDIA </vt:lpstr>
      <vt:lpstr>STAGES OF STATE FORMATION IN ANCIENT INDIA </vt:lpstr>
      <vt:lpstr>STAGES OF STATE FORMATION IN ANCIENT INDIA </vt:lpstr>
      <vt:lpstr>Seven limbs of a state</vt:lpstr>
      <vt:lpstr>KINGSHIP IN ANCIENT INDIA </vt:lpstr>
      <vt:lpstr>KINGSHIP IN ANCIENT INDIA </vt:lpstr>
      <vt:lpstr>COUNCIL OF MINISTERS IN ANCIENT INDIA </vt:lpstr>
      <vt:lpstr>COUNCIL OF MINISTERS IN ANCIENT INDIA </vt:lpstr>
      <vt:lpstr>ADMINISTRATION IN ANCIENT INDIA </vt:lpstr>
      <vt:lpstr>POLITICAL IDEALS IN ANCIENT INDIA </vt:lpstr>
      <vt:lpstr>POLITICAL IDEALS IN ANCIENT INDIA </vt:lpstr>
      <vt:lpstr>SOCIETY IN ANCIENT INDIA </vt:lpstr>
      <vt:lpstr>SOCIETY IN ANCIENT INDIA : PURUSARTHA </vt:lpstr>
      <vt:lpstr>SOCIETY IN ANCIENT INDIA : PURUSARTHA </vt:lpstr>
      <vt:lpstr>SOCIETY IN ANCIENT INDIA : PURUSARTHA </vt:lpstr>
      <vt:lpstr>SOCIETY IN ANCIENT INDIA : PURUSARTHA </vt:lpstr>
      <vt:lpstr>SOCIETY IN ANCIENT INDIA : PURUSARTHA </vt:lpstr>
      <vt:lpstr>SOCIETY IN ANCIENT INDIA : PURUSARTHA </vt:lpstr>
      <vt:lpstr>SOCIETY IN ANCIENT INDIA : PURUSARTHA </vt:lpstr>
      <vt:lpstr>VARNASHRAM SYSTEM</vt:lpstr>
      <vt:lpstr>ASHRAMA OR THE STAGES OF LIFE</vt:lpstr>
      <vt:lpstr>ASHRAMA OR THE STAGES OF LIFE</vt:lpstr>
      <vt:lpstr>ASHRAMA OR THE STAGES OF LIFE</vt:lpstr>
      <vt:lpstr>ASHRAMA OR THE STAGES OF LIFE</vt:lpstr>
      <vt:lpstr>ASHRAMA OR THE STAGES OF LIFE</vt:lpstr>
      <vt:lpstr>MARRIAGE</vt:lpstr>
      <vt:lpstr>MARRIAGE</vt:lpstr>
      <vt:lpstr>MARRIAGE : PRASHASTA or desirable</vt:lpstr>
      <vt:lpstr>MARRIAGE : PRASHASTA or desirable</vt:lpstr>
      <vt:lpstr>MARRIAGE : APRASHASTA or undesirable</vt:lpstr>
      <vt:lpstr>MARRIAGE : APRASHASTA or undesirable</vt:lpstr>
      <vt:lpstr>VARNA VYAVASTHA : FOUR CLASS CLASSIFICATION</vt:lpstr>
      <vt:lpstr>VARNA VYAVASTHA : FOUR CLASS CLASSIFICATION</vt:lpstr>
      <vt:lpstr>VARNA VYAVASTHA : FOUR CLASS CLASSIFICATION</vt:lpstr>
      <vt:lpstr>VARNA VYAVASTHA : FOUR CLASS CLASSIFICATION</vt:lpstr>
      <vt:lpstr>VARNA VYAVASTHA : FOUR CLASS CLASSIFICATION</vt:lpstr>
      <vt:lpstr>VARNA VYAVASTHA : FOUR CLASS CLASSIFICATION</vt:lpstr>
      <vt:lpstr>VARNA VYAVASTHA : FOUR CLASS CLASSIFICATION</vt:lpstr>
      <vt:lpstr>UNDERSTANDING GENDER AS A SOCIAL CATEGORY</vt:lpstr>
      <vt:lpstr>UNDERSTANDING GENDER AS A SOCIAL CATEGORY</vt:lpstr>
      <vt:lpstr>UNDERSTANDING GENDER AS A SOCIAL CATEGORY</vt:lpstr>
      <vt:lpstr>UNDERSTANDING GENDER AS A SOCIAL CATEGORY</vt:lpstr>
      <vt:lpstr>UNDERSTANDING GENDER AS A SOCIAL CATEGORY</vt:lpstr>
      <vt:lpstr>UNDERSTANDING GENDER AS A SOCIAL CATEGORY</vt:lpstr>
      <vt:lpstr>UNDERSTANDING GENDER AS A SOCIAL CATEGORY</vt:lpstr>
      <vt:lpstr>UNDERSTANDING GENDER AS A SOCIAL CATEGORY</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FEMALE REPRESENTATION IN HISTORICAL TRADITIONS OF INDIA</vt:lpstr>
      <vt:lpstr>CHALLENGES FACED BY THE FEMALE IN INDIA</vt:lpstr>
      <vt:lpstr>CHALLENGES FACED BY THE FEMALE IN INDIA</vt:lpstr>
      <vt:lpstr>OVERCOMING THE CHALLENGES </vt:lpstr>
      <vt:lpstr>SLAVERY IN INDIA</vt:lpstr>
      <vt:lpstr>SLAVERY IN INDIA : FORCED LABOR</vt:lpstr>
      <vt:lpstr>SLAVERY IN INDIA : BONDED LABOR</vt:lpstr>
      <vt:lpstr>SLAVERY IN INDIA : DOMESTIC SERVITUDE</vt:lpstr>
      <vt:lpstr>SLAVERY IN INDIA : DOMESTIC SERVITUDE</vt:lpstr>
      <vt:lpstr>SLAVERY IN INDIA : FORCED CHILD LABOR</vt:lpstr>
      <vt:lpstr>SLAVERY IN INDIA : CHILD SOLDIERS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CONSTITUTION OF INDIA</dc:title>
  <dc:creator>admin</dc:creator>
  <cp:lastModifiedBy>lenovo</cp:lastModifiedBy>
  <cp:revision>424</cp:revision>
  <dcterms:created xsi:type="dcterms:W3CDTF">2020-07-26T07:27:37Z</dcterms:created>
  <dcterms:modified xsi:type="dcterms:W3CDTF">2024-03-14T15:39:38Z</dcterms:modified>
</cp:coreProperties>
</file>